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70" r:id="rId21"/>
    <p:sldId id="271" r:id="rId22"/>
    <p:sldId id="272" r:id="rId23"/>
    <p:sldId id="273" r:id="rId24"/>
    <p:sldId id="278" r:id="rId29"/>
    <p:sldId id="280" r:id="rId31"/>
    <p:sldId id="279" r:id="rId30"/>
    <p:sldId id="274" r:id="rId25"/>
    <p:sldId id="275" r:id="rId26"/>
    <p:sldId id="276" r:id="rId27"/>
    <p:sldId id="277" r:id="rId28"/>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16.xml"/><Relationship Id="rId7" Type="http://schemas.openxmlformats.org/officeDocument/2006/relationships/slide" Target="slides/slide17.xml"/><Relationship Id="rId8" Type="http://schemas.openxmlformats.org/officeDocument/2006/relationships/slide" Target="slides/slide18.xml"/><Relationship Id="rId9" Type="http://schemas.openxmlformats.org/officeDocument/2006/relationships/slide" Target="slides/slide19.xml"/><Relationship Id="rId10" Type="http://schemas.openxmlformats.org/officeDocument/2006/relationships/slide" Target="slides/slide20.xml"/><Relationship Id="rId11" Type="http://schemas.openxmlformats.org/officeDocument/2006/relationships/slide" Target="slides/slide21.xml"/><Relationship Id="rId12" Type="http://schemas.openxmlformats.org/officeDocument/2006/relationships/slide" Target="slides/slide22.xml"/><Relationship Id="rId13" Type="http://schemas.openxmlformats.org/officeDocument/2006/relationships/slide" Target="slides/slide23.xml"/><Relationship Id="rId14" Type="http://schemas.openxmlformats.org/officeDocument/2006/relationships/slide" Target="slides/slide24.xml"/><Relationship Id="rId15" Type="http://schemas.openxmlformats.org/officeDocument/2006/relationships/slide" Target="slides/slide25.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9.xml"/><Relationship Id="rId30" Type="http://schemas.openxmlformats.org/officeDocument/2006/relationships/slide" Target="slides/slide11.xml"/><Relationship Id="rId31"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alpha val="90000"/>
              </a:srgbClr>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XGBoost only</c:v>
                </c:pt>
                <c:pt idx="1">
                  <c:v>LightGBM only</c:v>
                </c:pt>
                <c:pt idx="2">
                  <c:v>ML Ensemble</c:v>
                </c:pt>
                <c:pt idx="3">
                  <c:v>LLM only (sim)</c:v>
                </c:pt>
                <c:pt idx="4">
                  <c:v>Rules only</c:v>
                </c:pt>
                <c:pt idx="5">
                  <c:v>Rules + ML (prod)</c:v>
                </c:pt>
                <c:pt idx="6">
                  <c:v>Rules + LLM</c:v>
                </c:pt>
                <c:pt idx="7">
                  <c:v>Rules + LLM + ML</c:v>
                </c:pt>
              </c:strCache>
            </c:strRef>
          </c:cat>
          <c:val>
            <c:numRef>
              <c:f>Sheet1!$B$2:$B$9</c:f>
              <c:numCache>
                <c:formatCode>General</c:formatCode>
                <c:ptCount val="8"/>
                <c:pt idx="0">
                  <c:v>79.2</c:v>
                </c:pt>
                <c:pt idx="1">
                  <c:v>73.7</c:v>
                </c:pt>
                <c:pt idx="2">
                  <c:v>75.3</c:v>
                </c:pt>
                <c:pt idx="3">
                  <c:v>94.2</c:v>
                </c:pt>
                <c:pt idx="4">
                  <c:v>89.8</c:v>
                </c:pt>
                <c:pt idx="5">
                  <c:v>88.5</c:v>
                </c:pt>
                <c:pt idx="6">
                  <c:v>90.8</c:v>
                </c:pt>
                <c:pt idx="7">
                  <c:v>91.8</c:v>
                </c:pt>
              </c:numCache>
            </c:numRef>
          </c:val>
          <c:extLst>
            <c:ext xmlns:c16="http://schemas.microsoft.com/office/drawing/2014/chart" uri="{C3380CC4-5D6E-409C-BE32-E72D297353CC}">
              <c16:uniqueId val="{00000000-3C5D-4944-9133-B1E108AD35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A2E"/>
                </a:solidFill>
                <a:latin typeface="Arial"/>
              </a:defRPr>
            </a:pPr>
            <a:r>
              <a:rPr lang="en-US" sz="1400" b="0" i="0" u="none" strike="noStrike">
                <a:solidFill>
                  <a:srgbClr val="1A1A2E"/>
                </a:solidFill>
                <a:latin typeface="Arial"/>
              </a:rPr>
              <a:t>Accuracy: LLM vs ML</a:t>
            </a:r>
          </a:p>
        </c:rich>
      </c:tx>
      <c:overlay val="0"/>
    </c:title>
    <c:autoTitleDeleted val="0"/>
    <c:plotArea>
      <c:layout/>
      <c:barChart>
        <c:barDir val="col"/>
        <c:grouping val="clustered"/>
        <c:varyColors val="0"/>
        <c:ser>
          <c:idx val="0"/>
          <c:order val="0"/>
          <c:tx>
            <c:strRef>
              <c:f>Sheet1!$B$1</c:f>
              <c:strCache>
                <c:ptCount val="1"/>
                <c:pt idx="0">
                  <c:v>LLM</c:v>
                </c:pt>
              </c:strCache>
            </c:strRef>
          </c:tx>
          <c:spPr>
            <a:solidFill>
              <a:srgbClr val="6C89B8"/>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Sheet1!$B$2:$B$3</c:f>
              <c:numCache>
                <c:formatCode>General</c:formatCode>
                <c:ptCount val="2"/>
                <c:pt idx="0">
                  <c:v>94.2</c:v>
                </c:pt>
                <c:pt idx="1">
                  <c:v>93.8</c:v>
                </c:pt>
              </c:numCache>
            </c:numRef>
          </c:val>
          <c:extLst>
            <c:ext xmlns:c16="http://schemas.microsoft.com/office/drawing/2014/chart" uri="{C3380CC4-5D6E-409C-BE32-E72D297353CC}">
              <c16:uniqueId val="{00000000-591B-40D2-821C-F6DEF424102A}"/>
            </c:ext>
          </c:extLst>
        </c:ser>
        <c:ser>
          <c:idx val="1"/>
          <c:order val="1"/>
          <c:tx>
            <c:strRef>
              <c:f>Sheet1!$C$1</c:f>
              <c:strCache>
                <c:ptCount val="1"/>
                <c:pt idx="0">
                  <c:v>ML Ensemble</c:v>
                </c:pt>
              </c:strCache>
            </c:strRef>
          </c:tx>
          <c:spPr>
            <a:solidFill>
              <a:srgbClr val="3D5A80"/>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Sheet1!$C$2:$C$3</c:f>
              <c:numCache>
                <c:formatCode>General</c:formatCode>
                <c:ptCount val="2"/>
                <c:pt idx="0">
                  <c:v>75.3</c:v>
                </c:pt>
                <c:pt idx="1">
                  <c:v>31.7</c:v>
                </c:pt>
              </c:numCache>
            </c:numRef>
          </c:val>
          <c:extLst>
            <c:ext xmlns:c16="http://schemas.microsoft.com/office/drawing/2014/chart" uri="{C3380CC4-5D6E-409C-BE32-E72D297353CC}">
              <c16:uniqueId val="{00000001-591B-40D2-821C-F6DEF42410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D6DD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solidFill>
            <a:effectLst/>
          </c:spPr>
          <c:invertIfNegative val="0"/>
          <c:dLbls>
            <c:numFmt formatCode="0.0&quot;%&quot;"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Landscape Services</c:v>
                </c:pt>
                <c:pt idx="1">
                  <c:v>Storage Services</c:v>
                </c:pt>
                <c:pt idx="2">
                  <c:v>Food/Beverage</c:v>
                </c:pt>
                <c:pt idx="3">
                  <c:v>Vendor Engineering</c:v>
                </c:pt>
                <c:pt idx="4">
                  <c:v>Safety Equipment</c:v>
                </c:pt>
                <c:pt idx="5">
                  <c:v>Security Service</c:v>
                </c:pt>
                <c:pt idx="6">
                  <c:v>Data Processing</c:v>
                </c:pt>
                <c:pt idx="7">
                  <c:v>ERTU</c:v>
                </c:pt>
                <c:pt idx="8">
                  <c:v>Capital Lease</c:v>
                </c:pt>
                <c:pt idx="9">
                  <c:v>Freight - Common Carrier</c:v>
                </c:pt>
                <c:pt idx="10">
                  <c:v>Network Equipment</c:v>
                </c:pt>
                <c:pt idx="11">
                  <c:v>Operating Lease</c:v>
                </c:pt>
                <c:pt idx="12">
                  <c:v>Research and Development</c:v>
                </c:pt>
                <c:pt idx="13">
                  <c:v>Permits</c:v>
                </c:pt>
                <c:pt idx="14">
                  <c:v>Contract plant labor</c:v>
                </c:pt>
              </c:strCache>
            </c:strRef>
          </c:cat>
          <c:val>
            <c:numRef>
              <c:f>Sheet1!$B$2:$B$16</c:f>
              <c:numCache>
                <c:formatCode>General</c:formatCode>
                <c:ptCount val="15"/>
                <c:pt idx="0">
                  <c:v>100</c:v>
                </c:pt>
                <c:pt idx="1">
                  <c:v>98.3</c:v>
                </c:pt>
                <c:pt idx="2">
                  <c:v>97.9</c:v>
                </c:pt>
                <c:pt idx="3">
                  <c:v>97.6</c:v>
                </c:pt>
                <c:pt idx="4">
                  <c:v>97.1</c:v>
                </c:pt>
                <c:pt idx="5">
                  <c:v>97</c:v>
                </c:pt>
                <c:pt idx="6">
                  <c:v>96.9</c:v>
                </c:pt>
                <c:pt idx="7">
                  <c:v>96.2</c:v>
                </c:pt>
                <c:pt idx="8">
                  <c:v>96</c:v>
                </c:pt>
                <c:pt idx="9">
                  <c:v>92.8</c:v>
                </c:pt>
                <c:pt idx="10">
                  <c:v>92.3</c:v>
                </c:pt>
                <c:pt idx="11">
                  <c:v>89.4</c:v>
                </c:pt>
                <c:pt idx="12">
                  <c:v>74</c:v>
                </c:pt>
                <c:pt idx="13">
                  <c:v>60.5</c:v>
                </c:pt>
                <c:pt idx="14">
                  <c:v>54.2</c:v>
                </c:pt>
              </c:numCache>
            </c:numRef>
          </c:val>
          <c:extLst>
            <c:ext xmlns:c16="http://schemas.microsoft.com/office/drawing/2014/chart" uri="{C3380CC4-5D6E-409C-BE32-E72D297353CC}">
              <c16:uniqueId val="{00000000-BE49-4F40-9431-012E4D1725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Top misrouting pairs (true → predicted, % of true class)</a:t>
            </a:r>
          </a:p>
        </c:rich>
      </c:tx>
      <c:overlay val="0"/>
    </c:title>
    <c:autoTitleDeleted val="0"/>
    <c:plotArea>
      <c:layout/>
      <c:barChart>
        <c:barDir val="bar"/>
        <c:grouping val="clustered"/>
        <c:varyColors val="0"/>
        <c:ser>
          <c:idx val="0"/>
          <c:order val="0"/>
          <c:tx>
            <c:strRef>
              <c:f>Sheet1!$B$1</c:f>
              <c:strCache>
                <c:ptCount val="1"/>
                <c:pt idx="0">
                  <c:v>% of true class misrouted</c:v>
                </c:pt>
              </c:strCache>
            </c:strRef>
          </c:tx>
          <c:spPr>
            <a:solidFill>
              <a:srgbClr val="C0433F">
                <a:alpha val="80000"/>
              </a:srgbClr>
            </a:solidFill>
            <a:effectLst/>
          </c:spPr>
          <c:invertIfNegative val="0"/>
          <c:dLbls>
            <c:numFmt formatCode="0.0&quot;%&quot;"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ERTU → Network Equipment</c:v>
                </c:pt>
                <c:pt idx="1">
                  <c:v>Contract plant labor → Network Equipment</c:v>
                </c:pt>
                <c:pt idx="2">
                  <c:v>Data Processing → Contract plant lab</c:v>
                </c:pt>
                <c:pt idx="3">
                  <c:v>Data Processing → Food/Beverage</c:v>
                </c:pt>
                <c:pt idx="4">
                  <c:v>Miscellaneous Material → Contract plant lab</c:v>
                </c:pt>
                <c:pt idx="5">
                  <c:v>Tools and Testing Equi → Food/Beverage</c:v>
                </c:pt>
                <c:pt idx="6">
                  <c:v>Security Service → Contract plant lab</c:v>
                </c:pt>
                <c:pt idx="7">
                  <c:v>Landscape Services → Contract plant lab</c:v>
                </c:pt>
              </c:strCache>
            </c:strRef>
          </c:cat>
          <c:val>
            <c:numRef>
              <c:f>Sheet1!$B$2:$B$9</c:f>
              <c:numCache>
                <c:formatCode>General</c:formatCode>
                <c:ptCount val="8"/>
                <c:pt idx="0">
                  <c:v>1.43</c:v>
                </c:pt>
                <c:pt idx="1">
                  <c:v>2.23</c:v>
                </c:pt>
                <c:pt idx="2">
                  <c:v>2.27</c:v>
                </c:pt>
                <c:pt idx="3">
                  <c:v>11.08</c:v>
                </c:pt>
                <c:pt idx="4">
                  <c:v>26.32</c:v>
                </c:pt>
                <c:pt idx="5">
                  <c:v>45.95</c:v>
                </c:pt>
                <c:pt idx="6">
                  <c:v>30.11</c:v>
                </c:pt>
                <c:pt idx="7">
                  <c:v>60.98</c:v>
                </c:pt>
              </c:numCache>
            </c:numRef>
          </c:val>
          <c:extLst>
            <c:ext xmlns:c16="http://schemas.microsoft.com/office/drawing/2014/chart" uri="{C3380CC4-5D6E-409C-BE32-E72D297353CC}">
              <c16:uniqueId val="{00000000-4C21-43A3-8542-5C52569CB9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Top 10 predictive words</a:t>
            </a:r>
          </a:p>
        </c:rich>
      </c:tx>
      <c:overlay val="0"/>
    </c:title>
    <c:autoTitleDeleted val="0"/>
    <c:plotArea>
      <c:layout/>
      <c:barChart>
        <c:barDir val="bar"/>
        <c:grouping val="clustered"/>
        <c:varyColors val="0"/>
        <c:ser>
          <c:idx val="0"/>
          <c:order val="0"/>
          <c:tx>
            <c:strRef>
              <c:f>Sheet1!$B$1</c:f>
              <c:strCache>
                <c:ptCount val="1"/>
                <c:pt idx="0">
                  <c:v>Feature importance</c:v>
                </c:pt>
              </c:strCache>
            </c:strRef>
          </c:tx>
          <c:spPr>
            <a:solidFill>
              <a:srgbClr val="3D5A80"/>
            </a:solidFill>
            <a:effectLst/>
          </c:spPr>
          <c:invertIfNegative val="0"/>
          <c:dLbls>
            <c:numFmt formatCode="0.00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gloves</c:v>
                </c:pt>
                <c:pt idx="1">
                  <c:v>landscape</c:v>
                </c:pt>
                <c:pt idx="2">
                  <c:v>engineering</c:v>
                </c:pt>
                <c:pt idx="3">
                  <c:v>charges</c:v>
                </c:pt>
                <c:pt idx="4">
                  <c:v>milestone</c:v>
                </c:pt>
                <c:pt idx="5">
                  <c:v>hat helmet</c:v>
                </c:pt>
                <c:pt idx="6">
                  <c:v>network engineering</c:v>
                </c:pt>
                <c:pt idx="7">
                  <c:v>transceiver</c:v>
                </c:pt>
                <c:pt idx="8">
                  <c:v>lawn</c:v>
                </c:pt>
                <c:pt idx="9">
                  <c:v>shipping</c:v>
                </c:pt>
              </c:strCache>
            </c:strRef>
          </c:cat>
          <c:val>
            <c:numRef>
              <c:f>Sheet1!$B$2:$B$11</c:f>
              <c:numCache>
                <c:formatCode>General</c:formatCode>
                <c:ptCount val="10"/>
                <c:pt idx="0">
                  <c:v>1.44E-2</c:v>
                </c:pt>
                <c:pt idx="1">
                  <c:v>2.3E-2</c:v>
                </c:pt>
                <c:pt idx="2">
                  <c:v>2.4899999999999999E-2</c:v>
                </c:pt>
                <c:pt idx="3">
                  <c:v>4.0300000000000002E-2</c:v>
                </c:pt>
                <c:pt idx="4">
                  <c:v>4.8500000000000001E-2</c:v>
                </c:pt>
                <c:pt idx="5">
                  <c:v>5.3900000000000003E-2</c:v>
                </c:pt>
                <c:pt idx="6">
                  <c:v>5.8799999999999998E-2</c:v>
                </c:pt>
                <c:pt idx="7">
                  <c:v>6.13E-2</c:v>
                </c:pt>
                <c:pt idx="8">
                  <c:v>6.6000000000000003E-2</c:v>
                </c:pt>
                <c:pt idx="9">
                  <c:v>7.6200000000000004E-2</c:v>
                </c:pt>
              </c:numCache>
            </c:numRef>
          </c:val>
          <c:extLst>
            <c:ext xmlns:c16="http://schemas.microsoft.com/office/drawing/2014/chart" uri="{C3380CC4-5D6E-409C-BE32-E72D297353CC}">
              <c16:uniqueId val="{00000000-5387-403D-8AB0-4686B334F1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XGBoost total importance</a:t>
            </a:r>
          </a:p>
        </c:rich>
      </c:tx>
      <c:overlay val="0"/>
    </c:title>
    <c:autoTitleDeleted val="0"/>
    <c:plotArea>
      <c:layout/>
      <c:doughnutChart>
        <c:varyColors val="1"/>
        <c:ser>
          <c:idx val="0"/>
          <c:order val="0"/>
          <c:tx>
            <c:strRef>
              <c:f>Sheet1!$B$1</c:f>
              <c:strCache>
                <c:ptCount val="1"/>
                <c:pt idx="0">
                  <c:v>Feature Group Contribution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B9BA-43AB-A39B-3285C4B9432E}"/>
              </c:ext>
            </c:extLst>
          </c:dPt>
          <c:dPt>
            <c:idx val="1"/>
            <c:bubble3D val="0"/>
            <c:spPr>
              <a:solidFill>
                <a:srgbClr val="E9A63A"/>
              </a:solidFill>
              <a:effectLst/>
            </c:spPr>
            <c:extLst>
              <c:ext xmlns:c16="http://schemas.microsoft.com/office/drawing/2014/chart" uri="{C3380CC4-5D6E-409C-BE32-E72D297353CC}">
                <c16:uniqueId val="{00000003-B9BA-43AB-A39B-3285C4B9432E}"/>
              </c:ext>
            </c:extLst>
          </c:dPt>
          <c:dLbls>
            <c:dLbl>
              <c:idx val="0"/>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9BA-43AB-A39B-3285C4B9432E}"/>
                </c:ext>
              </c:extLst>
            </c:dLbl>
            <c:dLbl>
              <c:idx val="1"/>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A-43AB-A39B-3285C4B9432E}"/>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TF-IDF Text</c:v>
                </c:pt>
                <c:pt idx="1">
                  <c:v>Structured (CAT+Vendor+Amt)</c:v>
                </c:pt>
              </c:strCache>
            </c:strRef>
          </c:cat>
          <c:val>
            <c:numRef>
              <c:f>Sheet1!$B$2:$B$3</c:f>
              <c:numCache>
                <c:formatCode>General</c:formatCode>
                <c:ptCount val="2"/>
                <c:pt idx="0">
                  <c:v>98</c:v>
                </c:pt>
                <c:pt idx="1">
                  <c:v>2</c:v>
                </c:pt>
              </c:numCache>
            </c:numRef>
          </c:val>
          <c:extLst>
            <c:ext xmlns:c16="http://schemas.microsoft.com/office/drawing/2014/chart" uri="{C3380CC4-5D6E-409C-BE32-E72D297353CC}">
              <c16:uniqueId val="{00000004-B9BA-43AB-A39B-3285C4B9432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Runtime per pipeline stage (seconds)</a:t>
            </a:r>
          </a:p>
        </c:rich>
      </c:tx>
      <c:overlay val="0"/>
    </c:title>
    <c:autoTitleDeleted val="0"/>
    <c:plotArea>
      <c:layout/>
      <c:barChart>
        <c:barDir val="bar"/>
        <c:grouping val="clustered"/>
        <c:varyColors val="0"/>
        <c:ser>
          <c:idx val="0"/>
          <c:order val="0"/>
          <c:tx>
            <c:strRef>
              <c:f>Sheet1!$B$1</c:f>
              <c:strCache>
                <c:ptCount val="1"/>
                <c:pt idx="0">
                  <c:v>Runtime (seconds)</c:v>
                </c:pt>
              </c:strCache>
            </c:strRef>
          </c:tx>
          <c:spPr>
            <a:solidFill>
              <a:srgbClr val="3D5A80"/>
            </a:solidFill>
            <a:effectLst/>
          </c:spPr>
          <c:invertIfNegative val="0"/>
          <c:dLbls>
            <c:numFmt formatCode="0.0"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ML Scoring</c:v>
                </c:pt>
                <c:pt idx="1">
                  <c:v>LLM Inference</c:v>
                </c:pt>
                <c:pt idx="2">
                  <c:v>Model Training</c:v>
                </c:pt>
                <c:pt idx="3">
                  <c:v>Feature Engineering</c:v>
                </c:pt>
                <c:pt idx="4">
                  <c:v>Report Building</c:v>
                </c:pt>
                <c:pt idx="5">
                  <c:v>Rules Engine</c:v>
                </c:pt>
              </c:strCache>
            </c:strRef>
          </c:cat>
          <c:val>
            <c:numRef>
              <c:f>Sheet1!$B$2:$B$7</c:f>
              <c:numCache>
                <c:formatCode>General</c:formatCode>
                <c:ptCount val="6"/>
                <c:pt idx="0">
                  <c:v>72</c:v>
                </c:pt>
                <c:pt idx="1">
                  <c:v>288</c:v>
                </c:pt>
                <c:pt idx="2">
                  <c:v>189</c:v>
                </c:pt>
                <c:pt idx="3">
                  <c:v>18</c:v>
                </c:pt>
                <c:pt idx="4">
                  <c:v>39</c:v>
                </c:pt>
                <c:pt idx="5">
                  <c:v>1.2</c:v>
                </c:pt>
              </c:numCache>
            </c:numRef>
          </c:val>
          <c:extLst>
            <c:ext xmlns:c16="http://schemas.microsoft.com/office/drawing/2014/chart" uri="{C3380CC4-5D6E-409C-BE32-E72D297353CC}">
              <c16:uniqueId val="{00000000-A727-4CEA-BD89-80F56B1132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16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Opening slide. Set the context: this is an evaluation of the ATIMS classification pipeline that combines a rules engine, an XGBoost+LightGBM ensemble, and an LLM component (LangGraph agent with RAG). Analysis conducted over the trailing 24 months of historical ATIMS invoice data — roughly 240,000 labeled records against analyst-approved ACCOUNT_CODE ground truth.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Pipeline accuracy 91.75% with 99% coverage — only 1% of invoices need a human. The +62 pp LLM lift on no-rule cases is the key finding. The 820-token prompt captures a compact but rich context: task specification, 5 retrieved similar labeled invoices, and the query invoice itself — see slide 13 for the breakdown.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as an analyst-time problem. Before ATIMS, analysts touch 100% of invoices — including the routine ones that a well-trained model can handle. After ATIMS, analysts only see the 1.1% of invoices the pipeline can't confidently classify. That's an ~89× reduction in per-invoice analyst intervention. Same team, much larger throughput ceiling.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deliberately layered by precision and effort. Rules first — most certain, catches 75% of invoices. ML for the routine remainder. LLM for the genuinely ambiguous cases where structured features tie. Anything still low-confidence goes to a human. This design means we only invoke the heavier LLM stage on the invoices that actually need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in three parts. First: the data — 24 months of historical ATIMS invoices with analyst-approved labels. Second: we tested 8 different pipeline configurations to understand which components add value. Third: we reported on a comprehensive set of metrics, not just headline accuracy. The eval notebook (04_evaluate.py) is parameterized to run against any labeled dataset by widget.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across all 8 pipeline configurations. Current production (Rules + ML) sits at 88.5%. The three-way ensemble (Rules + LLM + ML) hits 91.75% — that's the 3.2 percentage point lift the LLM buys us. LLM standalone hits 94.2% but we keep rules in the loop for audit trail and deterministic behavior.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finding in the eval. On all rows, LLM edges out ML by 19 percentage points. But the story is on the no-rule rows — where structured features are noisy and only descriptions carry a clean signal — LLM is 62 percentage points more accurate than ML. This is the case for the LLM component: when rules can't decide and ML struggles, the LLM+RAG stack still gets it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how the three-way ensemble actually decides. Rules run first for audit trail. Then, on no-rule rows, we look at whether ML and LLM agree — if they do, that's a strong signal, we use it. If they disagree, we trust the LLM only if it's very confident. Everything else goes to human review. The result is measurable: coverage jumps from 81% to 99%, and accuracy on covered rows goes from 88.5% to 91.75%. That's a strictly better operating 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Cluster-level accuracy tells us where the pipeline earns its keep and where it needs help. The strong clusters have distinctive keyword signals — landscape, engineering, storage — that the model picks up cleanly. The struggle clusters — leases, contract labor, permits — share structured feature codes with other clusters, so the model can't disambiguate from EXTC or MIC alone. These are exactly the clusters where LLM+RAG or GTE-Large embeddings on descriptions would help most.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the pipeline errors concentrate. 61% of true Landscape Services rows get labeled as Contract plant labor. 30% of Security Service. Same pattern across several categories. Contract plant labor is an over-predicted sink — it shares MIC=COEOTHER with many other categories, so structured features can't disambiguate. But the descriptions differ: 'lawn maintenance' vs 'crew hours' vs 'security patrols'. This is exactly the +62 pp LLM lift showing up at the confusion-pair level.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 do we still need the rules engine now that the ML model works? The head-to-head shows 99.92% agreement between rules and ML on the same records. The ML has learned everything the rules encode. Rules stay because they're auditable and deterministic — analysts need an explainable trail. The ~18K both-wrong rows are the interesting ones — that's where LLM+RAG adds the +62 pp lift shown earlier.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tells us where to invest engineering effort. In XGBoost, TF-IDF words carry 98% of the predictive weight — the text of the invoice description is the signal. LightGBM leans more on structured features (76%). The recommendation: swap TF-IDF for GTE-Large embeddings (which are already in your RAG stack) and expect meaningful accuracy gains, especially on the struggle clusters from slide 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what actually goes to the LLM per invoice. The bulk of the tokens live in the RAG context — 5 retrieved labeled invoices, roughly 450 tokens. The system prompt is compact. Query invoice is small. Output is small. Total is around 820 tokens per call. The retrieval depth is the main knob if we want to reduce context — dropping to 3 examples saves about 180 tokens per call with some accuracy tradeoff. That's a knob worth measuring.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About 10 minutes to rescore the entire 24-month window end-to-end. Training dominates runtime but only reruns monthly. Daily inference throughput is ~400 records/sec. Scales to 1M invoices in under 45 minutes on the same hardware. LLM latency is the real bottleneck once we scale — but that's fixable with async batching and only affects the no-rule subset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The whole of Phase 3 is one Databricks workflow of nine chained notebook tasks. Each task reads the previous task's Delta stage table and writes its own, so the order is load-bearing and any task can be re-run in isolation against what came before it. Four setup steps run once — the input load, the rules table, the thresholds table, and the taxability matrix. The matrix loader is a .sql file, not a notebook, so it runs from a SQL editor rather than the job.</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Everything that a tax analyst would want to change lives in a table, not in code. The rules table holds all 147 migrated rules with priorities and effective dates, so a classification change is an UPDATE. The config table holds every threshold. The taxability matrix is the flattened client mapping — their workbook resolves taxability through cluster, then vertex category, then a TAC grid, then a state column. We collapse that chain once, at load time, into one row per cluster and jurisdiction, which is what lets Task 3.3 be a single join.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Task 3.1 is the cheap, auditable tier. Five rule types are evaluated against every line at once and the lowest-priority match wins, so precedence is data, not code order. On the real January export, 2,903 of 7,233 lines were decided here — most of them by keyword rules. The remainder falls through to a Vector Search lookup over the rules knowledge base, and only what scores below 0.75 goes on to the classifier. That ordering is what keeps the LLM bill proportional to the hard cases.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Task 3.2 only ever sees the lines nothing cheaper could decide. Two sub-models run independently: XGBoost on the Phase 2 embedding, and the LLM zero-shot on the description. Agreement between two models that see different features is a much stronger signal than either one's own confidence, so agreement is what the decision rule keys on, and only a genuine disagreement buys a second LLM call. The important operational detail is the deduplication — the same description repeats hundreds of times a month, so we classify distinct keys and join back.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This is the task the client's requirement was really about. Because the matrix was flattened at load time, determination is one left join on cluster and state. Whether it hits or misses, the row survives — a miss just leaves taxability NULL. The tax_source column is the part worth dwelling on: it names the reason, so the review queue splits into work the client owns, work we own, and lines that are simply out of scope because the jurisdiction is foreign. 3.3b is pure conditional logic on top, deciding whether an accrued use tax has to be reversed.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3.4 writes the justification a tax auditor would need. The important design decision is the short-circuit: a line with no taxability gets no write-up, because a fluent explanation of a determination we never made is the most dangerous output this pipeline could produce. Priced lines get a templated justification for free, and only the lines that genuinely need a narrative spend an LLM call. 3.5 then scores every line against six checks computed over the whole month, and turns that into the review priority analysts actually work.</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3.6 gives the model's own uncertain rows a second pass, with the QA anomalies fed back into the prompt as the new signal. Rule-matched rows are deliberately never re-classified — if a deterministic rule produced something QA dislikes, the fix is to the rule, not to the row. 3.7 projects the canonical output schema and writes it partitioned by month, so history survives. 3.8 makes the month reproducible: one MLflow run, one registered model version, and a hash of the exact rule snapshot that produced the numbers.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It helps to see one line rather than the aggregate. This is a real row from the January export. A keyword rule catches it in 3.1, so the classifier never runs. The matrix join in 3.3 resolves DC for that cluster as taxable. 3.4 writes a templated justification with no LLM call, QA finds nothing, and it lands in the output as a LOW-priority, audit-ready row. That is the happy path, and it is the path the overwhelming majority of lines take — which is exactly why the expensive tiers stay affordable.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Databricks serves a large catalogue, so the first job is narrowing it honestly. Task 3.2 asks for one short label out of sixty, from a two-line description — that is a cheap task, and the incumbent 70B model may well be more than it needs. So the field spans the range deliberately: the cost floor at 8B, two open-weight OpenAI models built for batch, a high-throughput MoE, two fast frontier-family models, and one quality ceiling. Three categories are excluded for concrete technical reasons, not preference — image models are not callable from ai_query, reasoning-only models pay a thinking tax on a one-word answer, and Sonnet 5 rejects sampling parameters ai_query sends.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The honest answer to "which model is best" is that nobody knows until it runs on this data. Public benchmarks measure reasoning and coding; this task is short-text classification into a fixed vocabulary, and the ranking does not transfer. So the bake-off runs every candidate through the identical Task 3.2 prompt on the identical rows. Two splits, because there is no labelled ground truth for this month: agreement with the rules engine on lines it already decided, and usable-output rate on the lines that actually reach the LLM. The notebook writes a leaderboard table and a per-row detail table. One warning worth repeating out loud — where a model disagrees with a rule it is sometimes the rule that is wrong, so a tax analyst should skim the disagreements before anyone treats the top of the leaderboard as the answer.</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t>The direct answer to why Llama 3.3 70B stays. These are published benchmark numbers, not measurements on our invoices, so read them as evidence about which model to expect more from — not as a result. The argument is about which benchmark matches the job. Task 3.2 asks the model to return one exact category name and nothing else, so what matters is instruction and format compliance. IFEval is the closest public proxy for that, and Llama 3.3 scores 92.1 on it — ahead of the five-times-larger 405B model. GPT-OSS does win on MMLU, GPQA and competition math, but those measure graduate physics, general knowledge and maths, none of which this pipeline exercises. And both GPT-OSS models are reasoning models that always produce chain of thought, which on a one-word answer is spend with no return — so if we do test them, we test at low reasoning effort. Bottom line: the published evidence supports the incumbent, GPT-OSS 20B stays on the list as the cheap challenger, and only our own valid-label and priceable rates should change the decision.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5.xml"/><Relationship Id="rId4" Type="http://schemas.openxmlformats.org/officeDocument/2006/relationships/chart" Target="../charts/char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B"/>
        </a:solidFill>
        <a:effectLst/>
      </p:bgPr>
    </p:bg>
    <p:spTree>
      <p:nvGrpSpPr>
        <p:cNvPr id="1" name=""/>
        <p:cNvGrpSpPr/>
        <p:nvPr/>
      </p:nvGrpSpPr>
      <p:grpSpPr>
        <a:xfrm>
          <a:off x="0" y="0"/>
          <a:ext cx="0" cy="0"/>
          <a:chOff x="0" y="0"/>
          <a:chExt cx="0" cy="0"/>
        </a:xfrm>
      </p:grpSpPr>
      <p:sp>
        <p:nvSpPr>
          <p:cNvPr id="2" name="Shape 0"/>
          <p:cNvSpPr/>
          <p:nvPr/>
        </p:nvSpPr>
        <p:spPr>
          <a:xfrm>
            <a:off x="9601200" y="-1828800"/>
            <a:ext cx="5486400" cy="5486400"/>
          </a:xfrm>
          <a:prstGeom prst="ellipse">
            <a:avLst/>
          </a:prstGeom>
          <a:solidFill>
            <a:srgbClr val="1E2761">
              <a:alpha val="70000"/>
            </a:srgbClr>
          </a:solidFill>
          <a:ln w="12700">
            <a:solidFill>
              <a:srgbClr val="1E2761"/>
            </a:solidFill>
            <a:prstDash val="solid"/>
          </a:ln>
        </p:spPr>
        <p:txBody>
          <a:bodyPr/>
          <a:lstStyle/>
          <a:p>
            <a:endParaRPr lang="en-US"/>
          </a:p>
        </p:txBody>
      </p:sp>
      <p:sp>
        <p:nvSpPr>
          <p:cNvPr id="3" name="Shape 1"/>
          <p:cNvSpPr/>
          <p:nvPr/>
        </p:nvSpPr>
        <p:spPr>
          <a:xfrm>
            <a:off x="-1371600" y="4572000"/>
            <a:ext cx="4114800" cy="4114800"/>
          </a:xfrm>
          <a:prstGeom prst="ellipse">
            <a:avLst/>
          </a:prstGeom>
          <a:solidFill>
            <a:srgbClr val="3D5A80">
              <a:alpha val="60000"/>
            </a:srgbClr>
          </a:solidFill>
          <a:ln w="12700">
            <a:solidFill>
              <a:srgbClr val="3D5A80"/>
            </a:solidFill>
            <a:prstDash val="solid"/>
          </a:ln>
        </p:spPr>
        <p:txBody>
          <a:bodyPr/>
          <a:lstStyle/>
          <a:p>
            <a:endParaRPr lang="en-US"/>
          </a:p>
        </p:txBody>
      </p:sp>
      <p:sp>
        <p:nvSpPr>
          <p:cNvPr id="4" name="Text 2"/>
          <p:cNvSpPr/>
          <p:nvPr/>
        </p:nvSpPr>
        <p:spPr>
          <a:xfrm>
            <a:off x="731520" y="1554480"/>
            <a:ext cx="10972800" cy="45720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ATIMS</a:t>
            </a:r>
            <a:endParaRPr lang="en-US" sz="1800" dirty="0"/>
          </a:p>
        </p:txBody>
      </p:sp>
      <p:sp>
        <p:nvSpPr>
          <p:cNvPr id="5" name="Text 3"/>
          <p:cNvSpPr/>
          <p:nvPr/>
        </p:nvSpPr>
        <p:spPr>
          <a:xfrm>
            <a:off x="731520" y="2103120"/>
            <a:ext cx="109728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AP Invoice Tax Classification</a:t>
            </a:r>
            <a:endParaRPr lang="en-US" sz="4600" dirty="0"/>
          </a:p>
        </p:txBody>
      </p:sp>
      <p:sp>
        <p:nvSpPr>
          <p:cNvPr id="6" name="Text 4"/>
          <p:cNvSpPr/>
          <p:nvPr/>
        </p:nvSpPr>
        <p:spPr>
          <a:xfrm>
            <a:off x="731520" y="3108960"/>
            <a:ext cx="10972800" cy="54864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Pipeline Evaluation Report</a:t>
            </a:r>
            <a:endParaRPr lang="en-US" sz="2600" dirty="0"/>
          </a:p>
        </p:txBody>
      </p:sp>
      <p:sp>
        <p:nvSpPr>
          <p:cNvPr id="7" name="Shape 5"/>
          <p:cNvSpPr/>
          <p:nvPr/>
        </p:nvSpPr>
        <p:spPr>
          <a:xfrm>
            <a:off x="731520" y="3931920"/>
            <a:ext cx="2286000" cy="0"/>
          </a:xfrm>
          <a:prstGeom prst="line">
            <a:avLst/>
          </a:prstGeom>
          <a:noFill/>
          <a:ln w="25400">
            <a:solidFill>
              <a:srgbClr val="CADCFC"/>
            </a:solidFill>
            <a:prstDash val="solid"/>
          </a:ln>
        </p:spPr>
        <p:txBody>
          <a:bodyPr/>
          <a:lstStyle/>
          <a:p>
            <a:endParaRPr lang="en-US"/>
          </a:p>
        </p:txBody>
      </p:sp>
      <p:sp>
        <p:nvSpPr>
          <p:cNvPr id="8" name="Text 6"/>
          <p:cNvSpPr/>
          <p:nvPr/>
        </p:nvSpPr>
        <p:spPr>
          <a:xfrm>
            <a:off x="731520" y="4114800"/>
            <a:ext cx="1097280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Shashank </a:t>
            </a:r>
            <a:r>
              <a:rPr lang="en-US" sz="1400" dirty="0" err="1">
                <a:solidFill>
                  <a:srgbClr val="CADCFC"/>
                </a:solidFill>
                <a:latin typeface="Calibri" pitchFamily="34" charset="0"/>
                <a:ea typeface="Calibri" pitchFamily="34" charset="-122"/>
                <a:cs typeface="Calibri" pitchFamily="34" charset="-120"/>
              </a:rPr>
              <a:t>Vadyala</a:t>
            </a:r>
            <a:r>
              <a:rPr lang="en-US" sz="1400" dirty="0">
                <a:solidFill>
                  <a:srgbClr val="CADCFC"/>
                </a:solidFill>
                <a:latin typeface="Calibri" pitchFamily="34" charset="0"/>
                <a:ea typeface="Calibri" pitchFamily="34" charset="-122"/>
                <a:cs typeface="Calibri" pitchFamily="34" charset="-120"/>
              </a:rPr>
              <a:t>  ·</a:t>
            </a:r>
            <a:endParaRPr lang="en-US" sz="1400" dirty="0"/>
          </a:p>
        </p:txBody>
      </p:sp>
      <p:sp>
        <p:nvSpPr>
          <p:cNvPr id="9" name="Text 7"/>
          <p:cNvSpPr/>
          <p:nvPr/>
        </p:nvSpPr>
        <p:spPr>
          <a:xfrm>
            <a:off x="731520" y="4480560"/>
            <a:ext cx="10972800" cy="320040"/>
          </a:xfrm>
          <a:prstGeom prst="rect">
            <a:avLst/>
          </a:prstGeom>
          <a:noFill/>
          <a:ln/>
        </p:spPr>
        <p:txBody>
          <a:bodyPr wrap="square" lIns="0" tIns="0" rIns="0" bIns="0" rtlCol="0" anchor="ctr"/>
          <a:lstStyle/>
          <a:p>
            <a:pPr marL="0" indent="0">
              <a:buNone/>
            </a:pPr>
            <a:endParaRPr lang="en-US" sz="1200" dirty="0"/>
          </a:p>
        </p:txBody>
      </p:sp>
      <p:sp>
        <p:nvSpPr>
          <p:cNvPr id="10" name="Text 8"/>
          <p:cNvSpPr/>
          <p:nvPr/>
        </p:nvSpPr>
        <p:spPr>
          <a:xfrm>
            <a:off x="731520" y="6035040"/>
            <a:ext cx="10972800" cy="32004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Evaluation over the trailing 24 months of historical ATIMS invoices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numbers that tell the story</a:t>
            </a:r>
            <a:endParaRPr lang="en-US" sz="1400" dirty="0"/>
          </a:p>
        </p:txBody>
      </p:sp>
      <p:sp>
        <p:nvSpPr>
          <p:cNvPr id="4" name="Shape 2"/>
          <p:cNvSpPr/>
          <p:nvPr/>
        </p:nvSpPr>
        <p:spPr>
          <a:xfrm>
            <a:off x="45720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5" name="Text 3"/>
          <p:cNvSpPr/>
          <p:nvPr/>
        </p:nvSpPr>
        <p:spPr>
          <a:xfrm>
            <a:off x="594360" y="1828800"/>
            <a:ext cx="5120640" cy="902513"/>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91.75%</a:t>
            </a:r>
            <a:endParaRPr lang="en-US" sz="4800" dirty="0"/>
          </a:p>
        </p:txBody>
      </p:sp>
      <p:sp>
        <p:nvSpPr>
          <p:cNvPr id="6" name="Text 4"/>
          <p:cNvSpPr/>
          <p:nvPr/>
        </p:nvSpPr>
        <p:spPr>
          <a:xfrm>
            <a:off x="59436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Pipeline Accuracy with LLM</a:t>
            </a:r>
            <a:endParaRPr lang="en-US" sz="1300" dirty="0"/>
          </a:p>
        </p:txBody>
      </p:sp>
      <p:sp>
        <p:nvSpPr>
          <p:cNvPr id="7" name="Text 5"/>
          <p:cNvSpPr/>
          <p:nvPr/>
        </p:nvSpPr>
        <p:spPr>
          <a:xfrm>
            <a:off x="59436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Rules + LLM + ML three-way ensemble</a:t>
            </a:r>
            <a:endParaRPr lang="en-US" sz="1000" dirty="0"/>
          </a:p>
        </p:txBody>
      </p:sp>
      <p:sp>
        <p:nvSpPr>
          <p:cNvPr id="8" name="Shape 6"/>
          <p:cNvSpPr/>
          <p:nvPr/>
        </p:nvSpPr>
        <p:spPr>
          <a:xfrm>
            <a:off x="612648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9" name="Text 7"/>
          <p:cNvSpPr/>
          <p:nvPr/>
        </p:nvSpPr>
        <p:spPr>
          <a:xfrm>
            <a:off x="6263640" y="1828800"/>
            <a:ext cx="5120640" cy="902513"/>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98.9%</a:t>
            </a:r>
            <a:endParaRPr lang="en-US" sz="4800" dirty="0"/>
          </a:p>
        </p:txBody>
      </p:sp>
      <p:sp>
        <p:nvSpPr>
          <p:cNvPr id="10" name="Text 8"/>
          <p:cNvSpPr/>
          <p:nvPr/>
        </p:nvSpPr>
        <p:spPr>
          <a:xfrm>
            <a:off x="626364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Auto-Classify Coverage</a:t>
            </a:r>
            <a:endParaRPr lang="en-US" sz="1300" dirty="0"/>
          </a:p>
        </p:txBody>
      </p:sp>
      <p:sp>
        <p:nvSpPr>
          <p:cNvPr id="11" name="Text 9"/>
          <p:cNvSpPr/>
          <p:nvPr/>
        </p:nvSpPr>
        <p:spPr>
          <a:xfrm>
            <a:off x="626364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Only 1.1% flagged for human review</a:t>
            </a:r>
            <a:endParaRPr lang="en-US" sz="1000" dirty="0"/>
          </a:p>
        </p:txBody>
      </p:sp>
      <p:sp>
        <p:nvSpPr>
          <p:cNvPr id="12" name="Shape 10"/>
          <p:cNvSpPr/>
          <p:nvPr/>
        </p:nvSpPr>
        <p:spPr>
          <a:xfrm>
            <a:off x="45720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3" name="Text 11"/>
          <p:cNvSpPr/>
          <p:nvPr/>
        </p:nvSpPr>
        <p:spPr>
          <a:xfrm>
            <a:off x="594360" y="4251960"/>
            <a:ext cx="5120640" cy="902513"/>
          </a:xfrm>
          <a:prstGeom prst="rect">
            <a:avLst/>
          </a:prstGeom>
          <a:noFill/>
          <a:ln/>
        </p:spPr>
        <p:txBody>
          <a:bodyPr wrap="square" lIns="0" tIns="0" rIns="0" bIns="0" rtlCol="0" anchor="ctr"/>
          <a:lstStyle/>
          <a:p>
            <a:pPr marL="0" indent="0" algn="ctr">
              <a:buNone/>
            </a:pPr>
            <a:r>
              <a:rPr lang="en-US" sz="4800" b="1" dirty="0">
                <a:solidFill>
                  <a:srgbClr val="E9A63A"/>
                </a:solidFill>
                <a:latin typeface="Cambria" pitchFamily="34" charset="0"/>
                <a:ea typeface="Cambria" pitchFamily="34" charset="-122"/>
                <a:cs typeface="Cambria" pitchFamily="34" charset="-120"/>
              </a:rPr>
              <a:t>+62 pp</a:t>
            </a:r>
            <a:endParaRPr lang="en-US" sz="4800" dirty="0"/>
          </a:p>
        </p:txBody>
      </p:sp>
      <p:sp>
        <p:nvSpPr>
          <p:cNvPr id="14" name="Text 12"/>
          <p:cNvSpPr/>
          <p:nvPr/>
        </p:nvSpPr>
        <p:spPr>
          <a:xfrm>
            <a:off x="59436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LLM Lift on Ambiguous Cases</a:t>
            </a:r>
            <a:endParaRPr lang="en-US" sz="1300" dirty="0"/>
          </a:p>
        </p:txBody>
      </p:sp>
      <p:sp>
        <p:nvSpPr>
          <p:cNvPr id="15" name="Text 13"/>
          <p:cNvSpPr/>
          <p:nvPr/>
        </p:nvSpPr>
        <p:spPr>
          <a:xfrm>
            <a:off x="59436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vs. ML on the same no-rule rows</a:t>
            </a:r>
            <a:endParaRPr lang="en-US" sz="1000" dirty="0"/>
          </a:p>
        </p:txBody>
      </p:sp>
      <p:sp>
        <p:nvSpPr>
          <p:cNvPr id="16" name="Shape 14"/>
          <p:cNvSpPr/>
          <p:nvPr/>
        </p:nvSpPr>
        <p:spPr>
          <a:xfrm>
            <a:off x="612648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7" name="Text 15"/>
          <p:cNvSpPr/>
          <p:nvPr/>
        </p:nvSpPr>
        <p:spPr>
          <a:xfrm>
            <a:off x="6263640" y="4251960"/>
            <a:ext cx="5120640" cy="902513"/>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~820</a:t>
            </a:r>
            <a:endParaRPr lang="en-US" sz="4800" dirty="0"/>
          </a:p>
        </p:txBody>
      </p:sp>
      <p:sp>
        <p:nvSpPr>
          <p:cNvPr id="18" name="Text 16"/>
          <p:cNvSpPr/>
          <p:nvPr/>
        </p:nvSpPr>
        <p:spPr>
          <a:xfrm>
            <a:off x="626364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Tokens per LLM Call</a:t>
            </a:r>
            <a:endParaRPr lang="en-US" sz="1300" dirty="0"/>
          </a:p>
        </p:txBody>
      </p:sp>
      <p:sp>
        <p:nvSpPr>
          <p:cNvPr id="19" name="Text 17"/>
          <p:cNvSpPr/>
          <p:nvPr/>
        </p:nvSpPr>
        <p:spPr>
          <a:xfrm>
            <a:off x="626364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Claude Haiku 4.5 · 5-example RAG prompt</a:t>
            </a:r>
            <a:endParaRPr lang="en-US" sz="1000" dirty="0"/>
          </a:p>
        </p:txBody>
      </p:sp>
      <p:sp>
        <p:nvSpPr>
          <p:cNvPr id="20" name="Text 18"/>
          <p:cNvSpPr/>
          <p:nvPr/>
        </p:nvSpPr>
        <p:spPr>
          <a:xfrm>
            <a:off x="457200" y="6080760"/>
            <a:ext cx="11247120" cy="365760"/>
          </a:xfrm>
          <a:prstGeom prst="rect">
            <a:avLst/>
          </a:prstGeom>
          <a:noFill/>
          <a:ln/>
        </p:spPr>
        <p:txBody>
          <a:bodyPr wrap="square" lIns="0" tIns="0" rIns="0" bIns="0" rtlCol="0" anchor="ctr"/>
          <a:lstStyle/>
          <a:p>
            <a:pPr marL="0" indent="0" algn="ctr">
              <a:buNone/>
            </a:pPr>
            <a:r>
              <a:rPr lang="en-US" sz="1300" b="1" i="1" dirty="0">
                <a:solidFill>
                  <a:srgbClr val="1A1A2E"/>
                </a:solidFill>
                <a:latin typeface="Calibri" pitchFamily="34" charset="0"/>
                <a:ea typeface="Calibri" pitchFamily="34" charset="-122"/>
                <a:cs typeface="Calibri" pitchFamily="34" charset="-120"/>
              </a:rPr>
              <a:t>Bottom line: pipeline hits 91.75% at 99% coverage. The LLM component drives the gains — on the invoices where rules can't decide, LLM is 62 points more accurate than ML.</a:t>
            </a:r>
            <a:endParaRPr lang="en-US" sz="1300" dirty="0"/>
          </a:p>
        </p:txBody>
      </p:sp>
      <p:sp>
        <p:nvSpPr>
          <p:cNvPr id="21" name="Text 1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2" name="Text 20"/>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Problem We're Solving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Analyst time on routine tax tagging is a scaling bottleneck</a:t>
            </a:r>
            <a:endParaRPr lang="en-US" sz="1400" dirty="0"/>
          </a:p>
        </p:txBody>
      </p:sp>
      <p:sp>
        <p:nvSpPr>
          <p:cNvPr id="4" name="Text 2"/>
          <p:cNvSpPr/>
          <p:nvPr/>
        </p:nvSpPr>
        <p:spPr>
          <a:xfrm>
            <a:off x="457200" y="1508760"/>
            <a:ext cx="6217920" cy="4114800"/>
          </a:xfrm>
          <a:prstGeom prst="rect">
            <a:avLst/>
          </a:prstGeom>
          <a:noFill/>
          <a:ln/>
        </p:spPr>
        <p:txBody>
          <a:bodyPr wrap="square" lIns="0" tIns="0" rIns="0" bIns="0" rtlCol="0" anchor="t"/>
          <a:lstStyle/>
          <a:p>
            <a:pPr marL="0" indent="0">
              <a:buNone/>
            </a:pPr>
            <a:r>
              <a:rPr lang="en-US" sz="1500" b="1" dirty="0">
                <a:solidFill>
                  <a:srgbClr val="1A1A2E"/>
                </a:solidFill>
                <a:latin typeface="Calibri" pitchFamily="34" charset="0"/>
                <a:ea typeface="Calibri" pitchFamily="34" charset="-122"/>
                <a:cs typeface="Calibri" pitchFamily="34" charset="-120"/>
              </a:rPr>
              <a:t>Every AP invoice needs a tax classification.
</a:t>
            </a:r>
            <a:r>
              <a:rPr lang="en-US" sz="1300" dirty="0">
                <a:solidFill>
                  <a:srgbClr val="1A1A2E"/>
                </a:solidFill>
                <a:latin typeface="Calibri" pitchFamily="34" charset="0"/>
                <a:ea typeface="Calibri" pitchFamily="34" charset="-122"/>
                <a:cs typeface="Calibri" pitchFamily="34" charset="-120"/>
              </a:rPr>
              <a:t>Analysts historically review each one line by line — reading the description, matching against the vendor, deciding the account code, tagging the tax bucket. It's precise, valuable work — but at AT&amp;T's invoice volume it consumes an enormous share of the AP team's throughput.
The pipeline shifts the analyst's role from routine tagging to exception handling:</a:t>
            </a:r>
            <a:endParaRPr lang="en-US" sz="1500" dirty="0"/>
          </a:p>
        </p:txBody>
      </p:sp>
      <p:sp>
        <p:nvSpPr>
          <p:cNvPr id="5" name="Shape 3"/>
          <p:cNvSpPr/>
          <p:nvPr/>
        </p:nvSpPr>
        <p:spPr>
          <a:xfrm>
            <a:off x="7040880" y="1554480"/>
            <a:ext cx="4754880" cy="3931920"/>
          </a:xfrm>
          <a:prstGeom prst="roundRect">
            <a:avLst>
              <a:gd name="adj" fmla="val 2326"/>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7223760" y="1783080"/>
            <a:ext cx="4389120" cy="3657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Analyst review load</a:t>
            </a:r>
            <a:endParaRPr lang="en-US" sz="1300" dirty="0"/>
          </a:p>
        </p:txBody>
      </p:sp>
      <p:sp>
        <p:nvSpPr>
          <p:cNvPr id="7" name="Text 5"/>
          <p:cNvSpPr/>
          <p:nvPr/>
        </p:nvSpPr>
        <p:spPr>
          <a:xfrm>
            <a:off x="7223760" y="219456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Before ATIMS</a:t>
            </a:r>
            <a:endParaRPr lang="en-US" sz="1100" dirty="0"/>
          </a:p>
        </p:txBody>
      </p:sp>
      <p:sp>
        <p:nvSpPr>
          <p:cNvPr id="8" name="Text 6"/>
          <p:cNvSpPr/>
          <p:nvPr/>
        </p:nvSpPr>
        <p:spPr>
          <a:xfrm>
            <a:off x="7223760" y="2468880"/>
            <a:ext cx="4389120" cy="86868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100%</a:t>
            </a:r>
            <a:endParaRPr lang="en-US" sz="6000" dirty="0"/>
          </a:p>
        </p:txBody>
      </p:sp>
      <p:sp>
        <p:nvSpPr>
          <p:cNvPr id="9" name="Text 7"/>
          <p:cNvSpPr/>
          <p:nvPr/>
        </p:nvSpPr>
        <p:spPr>
          <a:xfrm>
            <a:off x="7223760" y="329184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of invoices reviewed manually</a:t>
            </a:r>
            <a:endParaRPr lang="en-US" sz="1000" dirty="0"/>
          </a:p>
        </p:txBody>
      </p:sp>
      <p:sp>
        <p:nvSpPr>
          <p:cNvPr id="10" name="Shape 8"/>
          <p:cNvSpPr/>
          <p:nvPr/>
        </p:nvSpPr>
        <p:spPr>
          <a:xfrm>
            <a:off x="7680960" y="3703320"/>
            <a:ext cx="3474720" cy="0"/>
          </a:xfrm>
          <a:prstGeom prst="line">
            <a:avLst/>
          </a:prstGeom>
          <a:noFill/>
          <a:ln w="9525">
            <a:solidFill>
              <a:srgbClr val="CADCFC"/>
            </a:solidFill>
            <a:prstDash val="solid"/>
          </a:ln>
        </p:spPr>
        <p:txBody>
          <a:bodyPr/>
          <a:lstStyle/>
          <a:p>
            <a:endParaRPr lang="en-US"/>
          </a:p>
        </p:txBody>
      </p:sp>
      <p:sp>
        <p:nvSpPr>
          <p:cNvPr id="11" name="Text 9"/>
          <p:cNvSpPr/>
          <p:nvPr/>
        </p:nvSpPr>
        <p:spPr>
          <a:xfrm>
            <a:off x="7223760" y="384048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With ATIMS pipeline</a:t>
            </a:r>
            <a:endParaRPr lang="en-US" sz="1100" dirty="0"/>
          </a:p>
        </p:txBody>
      </p:sp>
      <p:sp>
        <p:nvSpPr>
          <p:cNvPr id="12" name="Text 10"/>
          <p:cNvSpPr/>
          <p:nvPr/>
        </p:nvSpPr>
        <p:spPr>
          <a:xfrm>
            <a:off x="7223760" y="4114800"/>
            <a:ext cx="4389120" cy="868680"/>
          </a:xfrm>
          <a:prstGeom prst="rect">
            <a:avLst/>
          </a:prstGeom>
          <a:noFill/>
          <a:ln/>
        </p:spPr>
        <p:txBody>
          <a:bodyPr wrap="square" lIns="0" tIns="0" rIns="0" bIns="0" rtlCol="0" anchor="ctr"/>
          <a:lstStyle/>
          <a:p>
            <a:pPr marL="0" indent="0" algn="ctr">
              <a:buNone/>
            </a:pPr>
            <a:r>
              <a:rPr lang="en-US" sz="6000" b="1" dirty="0">
                <a:solidFill>
                  <a:srgbClr val="CADCFC"/>
                </a:solidFill>
                <a:latin typeface="Cambria" pitchFamily="34" charset="0"/>
                <a:ea typeface="Cambria" pitchFamily="34" charset="-122"/>
                <a:cs typeface="Cambria" pitchFamily="34" charset="-120"/>
              </a:rPr>
              <a:t>1.1%</a:t>
            </a:r>
            <a:endParaRPr lang="en-US" sz="6000" dirty="0"/>
          </a:p>
        </p:txBody>
      </p:sp>
      <p:sp>
        <p:nvSpPr>
          <p:cNvPr id="13" name="Text 11"/>
          <p:cNvSpPr/>
          <p:nvPr/>
        </p:nvSpPr>
        <p:spPr>
          <a:xfrm>
            <a:off x="7223760" y="493776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routed to analysts for the tough cases</a:t>
            </a:r>
            <a:endParaRPr lang="en-US" sz="1000" dirty="0"/>
          </a:p>
        </p:txBody>
      </p:sp>
      <p:sp>
        <p:nvSpPr>
          <p:cNvPr id="14" name="Text 12"/>
          <p:cNvSpPr/>
          <p:nvPr/>
        </p:nvSpPr>
        <p:spPr>
          <a:xfrm>
            <a:off x="7223760" y="5212080"/>
            <a:ext cx="43891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~89× reduction in analyst intervention</a:t>
            </a:r>
            <a:endParaRPr lang="en-US" sz="1100" dirty="0"/>
          </a:p>
        </p:txBody>
      </p:sp>
      <p:sp>
        <p:nvSpPr>
          <p:cNvPr id="15" name="Text 13"/>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The analyst team goes from tagging every invoice to reviewing only the ambiguous ones — the same team can now cover many multiples of the current invoice volume.</a:t>
            </a:r>
            <a:endParaRPr lang="en-US" sz="110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7"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 /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Pipeline Architecture</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decision stages, ordered by precision</a:t>
            </a:r>
            <a:endParaRPr lang="en-US" sz="1400" dirty="0"/>
          </a:p>
        </p:txBody>
      </p:sp>
      <p:sp>
        <p:nvSpPr>
          <p:cNvPr id="4" name="Shape 2"/>
          <p:cNvSpPr/>
          <p:nvPr/>
        </p:nvSpPr>
        <p:spPr>
          <a:xfrm>
            <a:off x="45720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1348740" y="1965960"/>
            <a:ext cx="731520" cy="7315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134874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59436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Rules Engine</a:t>
            </a:r>
            <a:endParaRPr lang="en-US" sz="1500" dirty="0"/>
          </a:p>
        </p:txBody>
      </p:sp>
      <p:sp>
        <p:nvSpPr>
          <p:cNvPr id="8" name="Text 6"/>
          <p:cNvSpPr/>
          <p:nvPr/>
        </p:nvSpPr>
        <p:spPr>
          <a:xfrm>
            <a:off x="64008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Deterministic keyword, vendor, EXTC/MIC and Parker-Volpe rules</a:t>
            </a:r>
            <a:endParaRPr lang="en-US" sz="1100" dirty="0"/>
          </a:p>
        </p:txBody>
      </p:sp>
      <p:sp>
        <p:nvSpPr>
          <p:cNvPr id="9" name="Text 7"/>
          <p:cNvSpPr/>
          <p:nvPr/>
        </p:nvSpPr>
        <p:spPr>
          <a:xfrm>
            <a:off x="594360" y="4251960"/>
            <a:ext cx="224028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75.0% of invoices</a:t>
            </a:r>
            <a:endParaRPr lang="en-US" sz="1100" dirty="0"/>
          </a:p>
        </p:txBody>
      </p:sp>
      <p:sp>
        <p:nvSpPr>
          <p:cNvPr id="10" name="Text 8"/>
          <p:cNvSpPr/>
          <p:nvPr/>
        </p:nvSpPr>
        <p:spPr>
          <a:xfrm>
            <a:off x="59436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High precision</a:t>
            </a:r>
            <a:endParaRPr lang="en-US" sz="1000" dirty="0"/>
          </a:p>
        </p:txBody>
      </p:sp>
      <p:sp>
        <p:nvSpPr>
          <p:cNvPr id="11" name="Shape 9"/>
          <p:cNvSpPr/>
          <p:nvPr/>
        </p:nvSpPr>
        <p:spPr>
          <a:xfrm>
            <a:off x="324612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2" name="Shape 10"/>
          <p:cNvSpPr/>
          <p:nvPr/>
        </p:nvSpPr>
        <p:spPr>
          <a:xfrm>
            <a:off x="4137660" y="1965960"/>
            <a:ext cx="731520" cy="731520"/>
          </a:xfrm>
          <a:prstGeom prst="ellipse">
            <a:avLst/>
          </a:prstGeom>
          <a:solidFill>
            <a:srgbClr val="3D5A80"/>
          </a:solidFill>
          <a:ln w="12700">
            <a:solidFill>
              <a:srgbClr val="3D5A80"/>
            </a:solidFill>
            <a:prstDash val="solid"/>
          </a:ln>
        </p:spPr>
        <p:txBody>
          <a:bodyPr/>
          <a:lstStyle/>
          <a:p>
            <a:endParaRPr lang="en-US"/>
          </a:p>
        </p:txBody>
      </p:sp>
      <p:sp>
        <p:nvSpPr>
          <p:cNvPr id="13" name="Text 11"/>
          <p:cNvSpPr/>
          <p:nvPr/>
        </p:nvSpPr>
        <p:spPr>
          <a:xfrm>
            <a:off x="413766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Text 12"/>
          <p:cNvSpPr/>
          <p:nvPr/>
        </p:nvSpPr>
        <p:spPr>
          <a:xfrm>
            <a:off x="338328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ML Ensemble</a:t>
            </a:r>
            <a:endParaRPr lang="en-US" sz="1500" dirty="0"/>
          </a:p>
        </p:txBody>
      </p:sp>
      <p:sp>
        <p:nvSpPr>
          <p:cNvPr id="15" name="Text 13"/>
          <p:cNvSpPr/>
          <p:nvPr/>
        </p:nvSpPr>
        <p:spPr>
          <a:xfrm>
            <a:off x="342900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XGBoost + LightGBM on TF-IDF text + structured features</a:t>
            </a:r>
            <a:endParaRPr lang="en-US" sz="1100" dirty="0"/>
          </a:p>
        </p:txBody>
      </p:sp>
      <p:sp>
        <p:nvSpPr>
          <p:cNvPr id="16" name="Text 14"/>
          <p:cNvSpPr/>
          <p:nvPr/>
        </p:nvSpPr>
        <p:spPr>
          <a:xfrm>
            <a:off x="3383280" y="4251960"/>
            <a:ext cx="2240280" cy="274320"/>
          </a:xfrm>
          <a:prstGeom prst="rect">
            <a:avLst/>
          </a:prstGeom>
          <a:noFill/>
          <a:ln/>
        </p:spPr>
        <p:txBody>
          <a:bodyPr wrap="square" lIns="0" tIns="0" rIns="0" bIns="0" rtlCol="0" anchor="ctr"/>
          <a:lstStyle/>
          <a:p>
            <a:pPr marL="0" indent="0" algn="ctr">
              <a:buNone/>
            </a:pPr>
            <a:r>
              <a:rPr lang="en-US" sz="1100" b="1" dirty="0">
                <a:solidFill>
                  <a:srgbClr val="3D5A80"/>
                </a:solidFill>
                <a:latin typeface="Calibri" pitchFamily="34" charset="0"/>
                <a:ea typeface="Calibri" pitchFamily="34" charset="-122"/>
                <a:cs typeface="Calibri" pitchFamily="34" charset="-120"/>
              </a:rPr>
              <a:t>5.8% of invoices</a:t>
            </a:r>
            <a:endParaRPr lang="en-US" sz="1100" dirty="0"/>
          </a:p>
        </p:txBody>
      </p:sp>
      <p:sp>
        <p:nvSpPr>
          <p:cNvPr id="17" name="Text 15"/>
          <p:cNvSpPr/>
          <p:nvPr/>
        </p:nvSpPr>
        <p:spPr>
          <a:xfrm>
            <a:off x="338328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Threshold-gated</a:t>
            </a:r>
            <a:endParaRPr lang="en-US" sz="1000" dirty="0"/>
          </a:p>
        </p:txBody>
      </p:sp>
      <p:sp>
        <p:nvSpPr>
          <p:cNvPr id="18" name="Shape 16"/>
          <p:cNvSpPr/>
          <p:nvPr/>
        </p:nvSpPr>
        <p:spPr>
          <a:xfrm>
            <a:off x="603504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9" name="Shape 17"/>
          <p:cNvSpPr/>
          <p:nvPr/>
        </p:nvSpPr>
        <p:spPr>
          <a:xfrm>
            <a:off x="6926580" y="1965960"/>
            <a:ext cx="731520" cy="731520"/>
          </a:xfrm>
          <a:prstGeom prst="ellipse">
            <a:avLst/>
          </a:prstGeom>
          <a:solidFill>
            <a:srgbClr val="6C89B8"/>
          </a:solidFill>
          <a:ln w="12700">
            <a:solidFill>
              <a:srgbClr val="6C89B8"/>
            </a:solidFill>
            <a:prstDash val="solid"/>
          </a:ln>
        </p:spPr>
        <p:txBody>
          <a:bodyPr/>
          <a:lstStyle/>
          <a:p>
            <a:endParaRPr lang="en-US"/>
          </a:p>
        </p:txBody>
      </p:sp>
      <p:sp>
        <p:nvSpPr>
          <p:cNvPr id="20" name="Text 18"/>
          <p:cNvSpPr/>
          <p:nvPr/>
        </p:nvSpPr>
        <p:spPr>
          <a:xfrm>
            <a:off x="692658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1" name="Text 19"/>
          <p:cNvSpPr/>
          <p:nvPr/>
        </p:nvSpPr>
        <p:spPr>
          <a:xfrm>
            <a:off x="617220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LLM + RAG</a:t>
            </a:r>
            <a:endParaRPr lang="en-US" sz="1500" dirty="0"/>
          </a:p>
        </p:txBody>
      </p:sp>
      <p:sp>
        <p:nvSpPr>
          <p:cNvPr id="22" name="Text 20"/>
          <p:cNvSpPr/>
          <p:nvPr/>
        </p:nvSpPr>
        <p:spPr>
          <a:xfrm>
            <a:off x="621792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LangGraph agent with GTE-Large retrieval over labeled corpus</a:t>
            </a:r>
            <a:endParaRPr lang="en-US" sz="1100" dirty="0"/>
          </a:p>
        </p:txBody>
      </p:sp>
      <p:sp>
        <p:nvSpPr>
          <p:cNvPr id="23" name="Text 21"/>
          <p:cNvSpPr/>
          <p:nvPr/>
        </p:nvSpPr>
        <p:spPr>
          <a:xfrm>
            <a:off x="6172200" y="4251960"/>
            <a:ext cx="2240280" cy="274320"/>
          </a:xfrm>
          <a:prstGeom prst="rect">
            <a:avLst/>
          </a:prstGeom>
          <a:noFill/>
          <a:ln/>
        </p:spPr>
        <p:txBody>
          <a:bodyPr wrap="square" lIns="0" tIns="0" rIns="0" bIns="0" rtlCol="0" anchor="ctr"/>
          <a:lstStyle/>
          <a:p>
            <a:pPr marL="0" indent="0" algn="ctr">
              <a:buNone/>
            </a:pPr>
            <a:r>
              <a:rPr lang="en-US" sz="1100" b="1" dirty="0">
                <a:solidFill>
                  <a:srgbClr val="6C89B8"/>
                </a:solidFill>
                <a:latin typeface="Calibri" pitchFamily="34" charset="0"/>
                <a:ea typeface="Calibri" pitchFamily="34" charset="-122"/>
                <a:cs typeface="Calibri" pitchFamily="34" charset="-120"/>
              </a:rPr>
              <a:t>Ambiguous cases</a:t>
            </a:r>
            <a:endParaRPr lang="en-US" sz="1100" dirty="0"/>
          </a:p>
        </p:txBody>
      </p:sp>
      <p:sp>
        <p:nvSpPr>
          <p:cNvPr id="24" name="Text 22"/>
          <p:cNvSpPr/>
          <p:nvPr/>
        </p:nvSpPr>
        <p:spPr>
          <a:xfrm>
            <a:off x="617220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+62 pp lift</a:t>
            </a:r>
            <a:endParaRPr lang="en-US" sz="1000" dirty="0"/>
          </a:p>
        </p:txBody>
      </p:sp>
      <p:sp>
        <p:nvSpPr>
          <p:cNvPr id="25" name="Shape 23"/>
          <p:cNvSpPr/>
          <p:nvPr/>
        </p:nvSpPr>
        <p:spPr>
          <a:xfrm>
            <a:off x="882396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26" name="Shape 24"/>
          <p:cNvSpPr/>
          <p:nvPr/>
        </p:nvSpPr>
        <p:spPr>
          <a:xfrm>
            <a:off x="9715500" y="1965960"/>
            <a:ext cx="731520" cy="731520"/>
          </a:xfrm>
          <a:prstGeom prst="ellipse">
            <a:avLst/>
          </a:prstGeom>
          <a:solidFill>
            <a:srgbClr val="5A6472"/>
          </a:solidFill>
          <a:ln w="12700">
            <a:solidFill>
              <a:srgbClr val="5A6472"/>
            </a:solidFill>
            <a:prstDash val="solid"/>
          </a:ln>
        </p:spPr>
        <p:txBody>
          <a:bodyPr/>
          <a:lstStyle/>
          <a:p>
            <a:endParaRPr lang="en-US"/>
          </a:p>
        </p:txBody>
      </p:sp>
      <p:sp>
        <p:nvSpPr>
          <p:cNvPr id="27" name="Text 25"/>
          <p:cNvSpPr/>
          <p:nvPr/>
        </p:nvSpPr>
        <p:spPr>
          <a:xfrm>
            <a:off x="971550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8" name="Text 26"/>
          <p:cNvSpPr/>
          <p:nvPr/>
        </p:nvSpPr>
        <p:spPr>
          <a:xfrm>
            <a:off x="896112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Human Review</a:t>
            </a:r>
            <a:endParaRPr lang="en-US" sz="1500" dirty="0"/>
          </a:p>
        </p:txBody>
      </p:sp>
      <p:sp>
        <p:nvSpPr>
          <p:cNvPr id="29" name="Text 27"/>
          <p:cNvSpPr/>
          <p:nvPr/>
        </p:nvSpPr>
        <p:spPr>
          <a:xfrm>
            <a:off x="900684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Fallback for low-confidence predictions</a:t>
            </a:r>
            <a:endParaRPr lang="en-US" sz="1100" dirty="0"/>
          </a:p>
        </p:txBody>
      </p:sp>
      <p:sp>
        <p:nvSpPr>
          <p:cNvPr id="30" name="Text 28"/>
          <p:cNvSpPr/>
          <p:nvPr/>
        </p:nvSpPr>
        <p:spPr>
          <a:xfrm>
            <a:off x="8961120" y="4251960"/>
            <a:ext cx="2240280" cy="274320"/>
          </a:xfrm>
          <a:prstGeom prst="rect">
            <a:avLst/>
          </a:prstGeom>
          <a:noFill/>
          <a:ln/>
        </p:spPr>
        <p:txBody>
          <a:bodyPr wrap="square" lIns="0" tIns="0" rIns="0" bIns="0" rtlCol="0" anchor="ctr"/>
          <a:lstStyle/>
          <a:p>
            <a:pPr marL="0" indent="0" algn="ctr">
              <a:buNone/>
            </a:pPr>
            <a:r>
              <a:rPr lang="en-US" sz="1100" b="1" dirty="0">
                <a:solidFill>
                  <a:srgbClr val="5A6472"/>
                </a:solidFill>
                <a:latin typeface="Calibri" pitchFamily="34" charset="0"/>
                <a:ea typeface="Calibri" pitchFamily="34" charset="-122"/>
                <a:cs typeface="Calibri" pitchFamily="34" charset="-120"/>
              </a:rPr>
              <a:t>1.1% of invoices</a:t>
            </a:r>
            <a:endParaRPr lang="en-US" sz="1100" dirty="0"/>
          </a:p>
        </p:txBody>
      </p:sp>
      <p:sp>
        <p:nvSpPr>
          <p:cNvPr id="31" name="Text 29"/>
          <p:cNvSpPr/>
          <p:nvPr/>
        </p:nvSpPr>
        <p:spPr>
          <a:xfrm>
            <a:off x="896112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Analyst decides</a:t>
            </a:r>
            <a:endParaRPr lang="en-US" sz="1000" dirty="0"/>
          </a:p>
        </p:txBody>
      </p:sp>
      <p:sp>
        <p:nvSpPr>
          <p:cNvPr id="32" name="Shape 30"/>
          <p:cNvSpPr/>
          <p:nvPr/>
        </p:nvSpPr>
        <p:spPr>
          <a:xfrm>
            <a:off x="295351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3" name="Shape 31"/>
          <p:cNvSpPr/>
          <p:nvPr/>
        </p:nvSpPr>
        <p:spPr>
          <a:xfrm>
            <a:off x="574243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4" name="Shape 32"/>
          <p:cNvSpPr/>
          <p:nvPr/>
        </p:nvSpPr>
        <p:spPr>
          <a:xfrm>
            <a:off x="853135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5" name="Text 33"/>
          <p:cNvSpPr/>
          <p:nvPr/>
        </p:nvSpPr>
        <p:spPr>
          <a:xfrm>
            <a:off x="457200" y="5212080"/>
            <a:ext cx="11247120" cy="822960"/>
          </a:xfrm>
          <a:prstGeom prst="rect">
            <a:avLst/>
          </a:prstGeom>
          <a:noFill/>
          <a:ln/>
        </p:spPr>
        <p:txBody>
          <a:bodyPr wrap="square" lIns="0" tIns="0" rIns="0" bIns="0" rtlCol="0" anchor="ctr"/>
          <a:lstStyle/>
          <a:p>
            <a:pPr marL="0" indent="0" algn="ctr">
              <a:buNone/>
            </a:pPr>
            <a:r>
              <a:rPr lang="en-US" sz="1300" i="1" dirty="0">
                <a:solidFill>
                  <a:srgbClr val="1A1A2E"/>
                </a:solidFill>
                <a:latin typeface="Calibri" pitchFamily="34" charset="0"/>
                <a:ea typeface="Calibri" pitchFamily="34" charset="-122"/>
                <a:cs typeface="Calibri" pitchFamily="34" charset="-120"/>
              </a:rPr>
              <a:t>Each stage handles what the next-tier stage cannot. Confidence thresholds gate escalation — a low-confidence LLM answer routes to human review, not to a wrong tag.</a:t>
            </a:r>
            <a:endParaRPr lang="en-US" sz="1300" dirty="0"/>
          </a:p>
        </p:txBody>
      </p:sp>
      <p:sp>
        <p:nvSpPr>
          <p:cNvPr id="36" name="Text 3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7" name="Text 3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The Pipeline, End to End</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One Databricks workflow · nine chained tasks · a Delta stage table between every one</a:t>
            </a:r>
          </a:p>
        </p:txBody>
      </p:sp>
      <p:sp>
        <p:nvSpPr>
          <p:cNvPr id="4" name="Rounded Rectangle 3"/>
          <p:cNvSpPr/>
          <p:nvPr/>
        </p:nvSpPr>
        <p:spPr>
          <a:xfrm>
            <a:off x="457200" y="1389888"/>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58368" y="15819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3.1</a:t>
            </a:r>
          </a:p>
        </p:txBody>
      </p:sp>
      <p:sp>
        <p:nvSpPr>
          <p:cNvPr id="6" name="TextBox 5"/>
          <p:cNvSpPr txBox="1"/>
          <p:nvPr/>
        </p:nvSpPr>
        <p:spPr>
          <a:xfrm>
            <a:off x="1170432" y="1609344"/>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Rules Expert</a:t>
            </a:r>
          </a:p>
        </p:txBody>
      </p:sp>
      <p:sp>
        <p:nvSpPr>
          <p:cNvPr id="7" name="TextBox 6"/>
          <p:cNvSpPr txBox="1"/>
          <p:nvPr/>
        </p:nvSpPr>
        <p:spPr>
          <a:xfrm>
            <a:off x="658368" y="2048256"/>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Deterministic rules, then Vector Search retrieval on whatever is left.</a:t>
            </a:r>
          </a:p>
        </p:txBody>
      </p:sp>
      <p:sp>
        <p:nvSpPr>
          <p:cNvPr id="8" name="TextBox 7"/>
          <p:cNvSpPr txBox="1"/>
          <p:nvPr/>
        </p:nvSpPr>
        <p:spPr>
          <a:xfrm>
            <a:off x="658368" y="2432304"/>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t31_rules_matched · t31_rag_matched · t31_unmatched</a:t>
            </a:r>
          </a:p>
        </p:txBody>
      </p:sp>
      <p:sp>
        <p:nvSpPr>
          <p:cNvPr id="9" name="Rounded Rectangle 8"/>
          <p:cNvSpPr/>
          <p:nvPr/>
        </p:nvSpPr>
        <p:spPr>
          <a:xfrm>
            <a:off x="4325112" y="1389888"/>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26280" y="15819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3.2</a:t>
            </a:r>
          </a:p>
        </p:txBody>
      </p:sp>
      <p:sp>
        <p:nvSpPr>
          <p:cNvPr id="11" name="TextBox 10"/>
          <p:cNvSpPr txBox="1"/>
          <p:nvPr/>
        </p:nvSpPr>
        <p:spPr>
          <a:xfrm>
            <a:off x="5038344" y="1609344"/>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Classifier</a:t>
            </a:r>
          </a:p>
        </p:txBody>
      </p:sp>
      <p:sp>
        <p:nvSpPr>
          <p:cNvPr id="12" name="TextBox 11"/>
          <p:cNvSpPr txBox="1"/>
          <p:nvPr/>
        </p:nvSpPr>
        <p:spPr>
          <a:xfrm>
            <a:off x="4526280" y="2048256"/>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XGBoost + LLM ensemble on the rows no rule and no retrieval could decide.</a:t>
            </a:r>
          </a:p>
        </p:txBody>
      </p:sp>
      <p:sp>
        <p:nvSpPr>
          <p:cNvPr id="13" name="TextBox 12"/>
          <p:cNvSpPr txBox="1"/>
          <p:nvPr/>
        </p:nvSpPr>
        <p:spPr>
          <a:xfrm>
            <a:off x="4526280" y="2432304"/>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t32_classified</a:t>
            </a:r>
          </a:p>
        </p:txBody>
      </p:sp>
      <p:sp>
        <p:nvSpPr>
          <p:cNvPr id="14" name="Rounded Rectangle 13"/>
          <p:cNvSpPr/>
          <p:nvPr/>
        </p:nvSpPr>
        <p:spPr>
          <a:xfrm>
            <a:off x="8193024" y="1389888"/>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94192" y="15819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3.3</a:t>
            </a:r>
          </a:p>
        </p:txBody>
      </p:sp>
      <p:sp>
        <p:nvSpPr>
          <p:cNvPr id="16" name="TextBox 15"/>
          <p:cNvSpPr txBox="1"/>
          <p:nvPr/>
        </p:nvSpPr>
        <p:spPr>
          <a:xfrm>
            <a:off x="8906256" y="1609344"/>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Tax Lookup</a:t>
            </a:r>
          </a:p>
        </p:txBody>
      </p:sp>
      <p:sp>
        <p:nvSpPr>
          <p:cNvPr id="17" name="TextBox 16"/>
          <p:cNvSpPr txBox="1"/>
          <p:nvPr/>
        </p:nvSpPr>
        <p:spPr>
          <a:xfrm>
            <a:off x="8394192" y="2048256"/>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One join on (cluster, state) against the flattened taxability matrix.</a:t>
            </a:r>
          </a:p>
        </p:txBody>
      </p:sp>
      <p:sp>
        <p:nvSpPr>
          <p:cNvPr id="18" name="TextBox 17"/>
          <p:cNvSpPr txBox="1"/>
          <p:nvPr/>
        </p:nvSpPr>
        <p:spPr>
          <a:xfrm>
            <a:off x="8394192" y="2432304"/>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t33_tax_lookup</a:t>
            </a:r>
          </a:p>
        </p:txBody>
      </p:sp>
      <p:sp>
        <p:nvSpPr>
          <p:cNvPr id="19" name="Rounded Rectangle 18"/>
          <p:cNvSpPr/>
          <p:nvPr/>
        </p:nvSpPr>
        <p:spPr>
          <a:xfrm>
            <a:off x="457200" y="2843784"/>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58368" y="3035808"/>
            <a:ext cx="402336" cy="402336"/>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3.3b</a:t>
            </a:r>
          </a:p>
        </p:txBody>
      </p:sp>
      <p:sp>
        <p:nvSpPr>
          <p:cNvPr id="21" name="TextBox 20"/>
          <p:cNvSpPr txBox="1"/>
          <p:nvPr/>
        </p:nvSpPr>
        <p:spPr>
          <a:xfrm>
            <a:off x="1170432" y="3063239"/>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Use Tax</a:t>
            </a:r>
          </a:p>
        </p:txBody>
      </p:sp>
      <p:sp>
        <p:nvSpPr>
          <p:cNvPr id="22" name="TextBox 21"/>
          <p:cNvSpPr txBox="1"/>
          <p:nvPr/>
        </p:nvSpPr>
        <p:spPr>
          <a:xfrm>
            <a:off x="658368" y="3502152"/>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Whether an accrued use tax must be reversed, from taxability + amount.</a:t>
            </a:r>
          </a:p>
        </p:txBody>
      </p:sp>
      <p:sp>
        <p:nvSpPr>
          <p:cNvPr id="23" name="TextBox 22"/>
          <p:cNvSpPr txBox="1"/>
          <p:nvPr/>
        </p:nvSpPr>
        <p:spPr>
          <a:xfrm>
            <a:off x="658368" y="3886200"/>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t33b_use_tax</a:t>
            </a:r>
          </a:p>
        </p:txBody>
      </p:sp>
      <p:sp>
        <p:nvSpPr>
          <p:cNvPr id="24" name="Rounded Rectangle 23"/>
          <p:cNvSpPr/>
          <p:nvPr/>
        </p:nvSpPr>
        <p:spPr>
          <a:xfrm>
            <a:off x="4325112" y="2843784"/>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26280" y="3035808"/>
            <a:ext cx="402336" cy="402336"/>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3.4</a:t>
            </a:r>
          </a:p>
        </p:txBody>
      </p:sp>
      <p:sp>
        <p:nvSpPr>
          <p:cNvPr id="26" name="TextBox 25"/>
          <p:cNvSpPr txBox="1"/>
          <p:nvPr/>
        </p:nvSpPr>
        <p:spPr>
          <a:xfrm>
            <a:off x="5038344" y="3063239"/>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Tax Writer</a:t>
            </a:r>
          </a:p>
        </p:txBody>
      </p:sp>
      <p:sp>
        <p:nvSpPr>
          <p:cNvPr id="27" name="TextBox 26"/>
          <p:cNvSpPr txBox="1"/>
          <p:nvPr/>
        </p:nvSpPr>
        <p:spPr>
          <a:xfrm>
            <a:off x="4526280" y="3502152"/>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Audit narrative per line — templated by default, LLM when it matters.</a:t>
            </a:r>
          </a:p>
        </p:txBody>
      </p:sp>
      <p:sp>
        <p:nvSpPr>
          <p:cNvPr id="28" name="TextBox 27"/>
          <p:cNvSpPr txBox="1"/>
          <p:nvPr/>
        </p:nvSpPr>
        <p:spPr>
          <a:xfrm>
            <a:off x="4526280" y="3886200"/>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t34_tax_writer</a:t>
            </a:r>
          </a:p>
        </p:txBody>
      </p:sp>
      <p:sp>
        <p:nvSpPr>
          <p:cNvPr id="29" name="Rounded Rectangle 28"/>
          <p:cNvSpPr/>
          <p:nvPr/>
        </p:nvSpPr>
        <p:spPr>
          <a:xfrm>
            <a:off x="8193024" y="2843784"/>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394192" y="3035808"/>
            <a:ext cx="402336" cy="402336"/>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3.5</a:t>
            </a:r>
          </a:p>
        </p:txBody>
      </p:sp>
      <p:sp>
        <p:nvSpPr>
          <p:cNvPr id="31" name="TextBox 30"/>
          <p:cNvSpPr txBox="1"/>
          <p:nvPr/>
        </p:nvSpPr>
        <p:spPr>
          <a:xfrm>
            <a:off x="8906256" y="3063239"/>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QA</a:t>
            </a:r>
          </a:p>
        </p:txBody>
      </p:sp>
      <p:sp>
        <p:nvSpPr>
          <p:cNvPr id="32" name="TextBox 31"/>
          <p:cNvSpPr txBox="1"/>
          <p:nvPr/>
        </p:nvSpPr>
        <p:spPr>
          <a:xfrm>
            <a:off x="8394192" y="3502152"/>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Six statistical and consistency checks over the whole month.</a:t>
            </a:r>
          </a:p>
        </p:txBody>
      </p:sp>
      <p:sp>
        <p:nvSpPr>
          <p:cNvPr id="33" name="TextBox 32"/>
          <p:cNvSpPr txBox="1"/>
          <p:nvPr/>
        </p:nvSpPr>
        <p:spPr>
          <a:xfrm>
            <a:off x="8394192" y="3886200"/>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t35_qa</a:t>
            </a:r>
          </a:p>
        </p:txBody>
      </p:sp>
      <p:sp>
        <p:nvSpPr>
          <p:cNvPr id="34" name="Rounded Rectangle 33"/>
          <p:cNvSpPr/>
          <p:nvPr/>
        </p:nvSpPr>
        <p:spPr>
          <a:xfrm>
            <a:off x="457200" y="4297679"/>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58368" y="4489703"/>
            <a:ext cx="402336" cy="402336"/>
          </a:xfrm>
          <a:prstGeom prst="ellipse">
            <a:avLst/>
          </a:prstGeom>
          <a:solidFill>
            <a:srgbClr val="6C89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3.6</a:t>
            </a:r>
          </a:p>
        </p:txBody>
      </p:sp>
      <p:sp>
        <p:nvSpPr>
          <p:cNvPr id="36" name="TextBox 35"/>
          <p:cNvSpPr txBox="1"/>
          <p:nvPr/>
        </p:nvSpPr>
        <p:spPr>
          <a:xfrm>
            <a:off x="1170432" y="4517136"/>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Reroute</a:t>
            </a:r>
          </a:p>
        </p:txBody>
      </p:sp>
      <p:sp>
        <p:nvSpPr>
          <p:cNvPr id="37" name="TextBox 36"/>
          <p:cNvSpPr txBox="1"/>
          <p:nvPr/>
        </p:nvSpPr>
        <p:spPr>
          <a:xfrm>
            <a:off x="658368" y="4956047"/>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Re-classify QA-flagged ML rows with the anomalies fed back in.</a:t>
            </a:r>
          </a:p>
        </p:txBody>
      </p:sp>
      <p:sp>
        <p:nvSpPr>
          <p:cNvPr id="38" name="TextBox 37"/>
          <p:cNvSpPr txBox="1"/>
          <p:nvPr/>
        </p:nvSpPr>
        <p:spPr>
          <a:xfrm>
            <a:off x="658368" y="5340095"/>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t36_reroute</a:t>
            </a:r>
          </a:p>
        </p:txBody>
      </p:sp>
      <p:sp>
        <p:nvSpPr>
          <p:cNvPr id="39" name="Rounded Rectangle 38"/>
          <p:cNvSpPr/>
          <p:nvPr/>
        </p:nvSpPr>
        <p:spPr>
          <a:xfrm>
            <a:off x="4325112" y="4297679"/>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4526280" y="4489703"/>
            <a:ext cx="402336" cy="402336"/>
          </a:xfrm>
          <a:prstGeom prst="ellipse">
            <a:avLst/>
          </a:prstGeom>
          <a:solidFill>
            <a:srgbClr val="6C89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3.7</a:t>
            </a:r>
          </a:p>
        </p:txBody>
      </p:sp>
      <p:sp>
        <p:nvSpPr>
          <p:cNvPr id="41" name="TextBox 40"/>
          <p:cNvSpPr txBox="1"/>
          <p:nvPr/>
        </p:nvSpPr>
        <p:spPr>
          <a:xfrm>
            <a:off x="5038344" y="4517136"/>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Write Output</a:t>
            </a:r>
          </a:p>
        </p:txBody>
      </p:sp>
      <p:sp>
        <p:nvSpPr>
          <p:cNvPr id="42" name="TextBox 41"/>
          <p:cNvSpPr txBox="1"/>
          <p:nvPr/>
        </p:nvSpPr>
        <p:spPr>
          <a:xfrm>
            <a:off x="4526280" y="4956047"/>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31-column projection, partitioned write, webhook to the FastAPI backend.</a:t>
            </a:r>
          </a:p>
        </p:txBody>
      </p:sp>
      <p:sp>
        <p:nvSpPr>
          <p:cNvPr id="43" name="TextBox 42"/>
          <p:cNvSpPr txBox="1"/>
          <p:nvPr/>
        </p:nvSpPr>
        <p:spPr>
          <a:xfrm>
            <a:off x="4526280" y="5340095"/>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non_norad_predictions</a:t>
            </a:r>
          </a:p>
        </p:txBody>
      </p:sp>
      <p:sp>
        <p:nvSpPr>
          <p:cNvPr id="44" name="Rounded Rectangle 43"/>
          <p:cNvSpPr/>
          <p:nvPr/>
        </p:nvSpPr>
        <p:spPr>
          <a:xfrm>
            <a:off x="8193024" y="4297679"/>
            <a:ext cx="3685032" cy="129844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394192" y="4489703"/>
            <a:ext cx="402336" cy="402336"/>
          </a:xfrm>
          <a:prstGeom prst="ellipse">
            <a:avLst/>
          </a:prstGeom>
          <a:solidFill>
            <a:srgbClr val="6C89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3.8</a:t>
            </a:r>
          </a:p>
        </p:txBody>
      </p:sp>
      <p:sp>
        <p:nvSpPr>
          <p:cNvPr id="46" name="TextBox 45"/>
          <p:cNvSpPr txBox="1"/>
          <p:nvPr/>
        </p:nvSpPr>
        <p:spPr>
          <a:xfrm>
            <a:off x="8906256" y="4517136"/>
            <a:ext cx="2770632" cy="274320"/>
          </a:xfrm>
          <a:prstGeom prst="rect">
            <a:avLst/>
          </a:prstGeom>
          <a:noFill/>
        </p:spPr>
        <p:txBody>
          <a:bodyPr wrap="square" lIns="0" rIns="0" tIns="0" bIns="0" anchor="t">
            <a:spAutoFit/>
          </a:bodyPr>
          <a:lstStyle/>
          <a:p>
            <a:pPr algn="l">
              <a:spcBef>
                <a:spcPts val="0"/>
              </a:spcBef>
              <a:spcAft>
                <a:spcPts val="0"/>
              </a:spcAft>
            </a:pPr>
            <a:r>
              <a:rPr sz="1400" b="1" i="0">
                <a:solidFill>
                  <a:srgbClr val="1A1A2E"/>
                </a:solidFill>
                <a:latin typeface="Cambria"/>
              </a:rPr>
              <a:t>MLflow</a:t>
            </a:r>
          </a:p>
        </p:txBody>
      </p:sp>
      <p:sp>
        <p:nvSpPr>
          <p:cNvPr id="47" name="TextBox 46"/>
          <p:cNvSpPr txBox="1"/>
          <p:nvPr/>
        </p:nvSpPr>
        <p:spPr>
          <a:xfrm>
            <a:off x="8394192" y="4956047"/>
            <a:ext cx="3282696" cy="402336"/>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5A6472"/>
                </a:solidFill>
                <a:latin typeface="Calibri"/>
              </a:rPr>
              <a:t>One governed run per month: params, metrics, rule-snapshot hash.</a:t>
            </a:r>
          </a:p>
        </p:txBody>
      </p:sp>
      <p:sp>
        <p:nvSpPr>
          <p:cNvPr id="48" name="TextBox 47"/>
          <p:cNvSpPr txBox="1"/>
          <p:nvPr/>
        </p:nvSpPr>
        <p:spPr>
          <a:xfrm>
            <a:off x="8394192" y="5340095"/>
            <a:ext cx="3282696" cy="201168"/>
          </a:xfrm>
          <a:prstGeom prst="rect">
            <a:avLst/>
          </a:prstGeom>
          <a:noFill/>
        </p:spPr>
        <p:txBody>
          <a:bodyPr wrap="square" lIns="0" rIns="0" tIns="0" bIns="0" anchor="t">
            <a:spAutoFit/>
          </a:bodyPr>
          <a:lstStyle/>
          <a:p>
            <a:pPr algn="l">
              <a:spcBef>
                <a:spcPts val="0"/>
              </a:spcBef>
              <a:spcAft>
                <a:spcPts val="0"/>
              </a:spcAft>
            </a:pPr>
            <a:r>
              <a:rPr sz="800" b="0" i="1">
                <a:solidFill>
                  <a:srgbClr val="3D5A80"/>
                </a:solidFill>
                <a:latin typeface="Calibri"/>
              </a:rPr>
              <a:t>→ UC model version</a:t>
            </a:r>
          </a:p>
        </p:txBody>
      </p:sp>
      <p:sp>
        <p:nvSpPr>
          <p:cNvPr id="49" name="Rounded Rectangle 48"/>
          <p:cNvSpPr/>
          <p:nvPr/>
        </p:nvSpPr>
        <p:spPr>
          <a:xfrm>
            <a:off x="457200" y="5815584"/>
            <a:ext cx="11274552" cy="438912"/>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58368" y="5925312"/>
            <a:ext cx="10881360" cy="274320"/>
          </a:xfrm>
          <a:prstGeom prst="rect">
            <a:avLst/>
          </a:prstGeom>
          <a:noFill/>
        </p:spPr>
        <p:txBody>
          <a:bodyPr wrap="square" lIns="0" rIns="0" tIns="0" bIns="0" anchor="t">
            <a:spAutoFit/>
          </a:bodyPr>
          <a:lstStyle/>
          <a:p>
            <a:pPr algn="l">
              <a:spcAft>
                <a:spcPts val="0"/>
              </a:spcAft>
            </a:pPr>
            <a:r>
              <a:rPr sz="1050" b="1" i="0">
                <a:solidFill>
                  <a:srgbClr val="CADCFC"/>
                </a:solidFill>
                <a:latin typeface="Calibri"/>
              </a:rPr>
              <a:t>Run once before the first job:  </a:t>
            </a:r>
            <a:r>
              <a:rPr sz="1050" b="0" i="0">
                <a:solidFill>
                  <a:srgbClr val="FFFFFF"/>
                </a:solidFill>
                <a:latin typeface="Calibri"/>
              </a:rPr>
              <a:t>load_prediction_ready  ·  classification_rules.sql  ·  create_reference_tables  ·  load_taxability_matrix.sql</a:t>
            </a:r>
          </a:p>
        </p:txBody>
      </p:sp>
      <p:sp>
        <p:nvSpPr>
          <p:cNvPr id="51" name="TextBox 50"/>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52" name="TextBox 51"/>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What the Pipeline Reads</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Three governed tables carry the business logic — none of it lives in code</a:t>
            </a:r>
          </a:p>
        </p:txBody>
      </p:sp>
      <p:sp>
        <p:nvSpPr>
          <p:cNvPr id="4" name="Rounded Rectangle 3"/>
          <p:cNvSpPr/>
          <p:nvPr/>
        </p:nvSpPr>
        <p:spPr>
          <a:xfrm>
            <a:off x="457200" y="1417320"/>
            <a:ext cx="6446520" cy="1444752"/>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600200"/>
            <a:ext cx="420624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classification_rules</a:t>
            </a:r>
          </a:p>
        </p:txBody>
      </p:sp>
      <p:sp>
        <p:nvSpPr>
          <p:cNvPr id="6" name="Rounded Rectangle 5"/>
          <p:cNvSpPr/>
          <p:nvPr/>
        </p:nvSpPr>
        <p:spPr>
          <a:xfrm>
            <a:off x="5349240" y="1591056"/>
            <a:ext cx="1298448" cy="283464"/>
          </a:xfrm>
          <a:prstGeom prst="roundRect">
            <a:avLst>
              <a:gd name="adj" fmla="val 30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147 rules</a:t>
            </a:r>
          </a:p>
        </p:txBody>
      </p:sp>
      <p:sp>
        <p:nvSpPr>
          <p:cNvPr id="7" name="TextBox 6"/>
          <p:cNvSpPr txBox="1"/>
          <p:nvPr/>
        </p:nvSpPr>
        <p:spPr>
          <a:xfrm>
            <a:off x="713232" y="1965960"/>
            <a:ext cx="5943600" cy="822960"/>
          </a:xfrm>
          <a:prstGeom prst="rect">
            <a:avLst/>
          </a:prstGeom>
          <a:noFill/>
        </p:spPr>
        <p:txBody>
          <a:bodyPr wrap="square" lIns="0" rIns="0" tIns="0" bIns="0" anchor="t">
            <a:spAutoFit/>
          </a:bodyPr>
          <a:lstStyle/>
          <a:p>
            <a:pPr algn="l">
              <a:lnSpc>
                <a:spcPct val="110000"/>
              </a:lnSpc>
              <a:spcBef>
                <a:spcPts val="0"/>
              </a:spcBef>
              <a:spcAft>
                <a:spcPts val="300"/>
              </a:spcAft>
            </a:pPr>
            <a:r>
              <a:rPr sz="950" b="0" i="0">
                <a:solidFill>
                  <a:srgbClr val="5A6472"/>
                </a:solidFill>
                <a:latin typeface="Calibri"/>
              </a:rPr>
              <a:t>— Five rule types, each with a priority — lowest wins per line</a:t>
            </a:r>
          </a:p>
          <a:p>
            <a:pPr>
              <a:lnSpc>
                <a:spcPct val="110000"/>
              </a:lnSpc>
              <a:spcBef>
                <a:spcPts val="0"/>
              </a:spcBef>
              <a:spcAft>
                <a:spcPts val="300"/>
              </a:spcAft>
            </a:pPr>
            <a:r>
              <a:rPr sz="950" b="0" i="0">
                <a:solidFill>
                  <a:srgbClr val="5A6472"/>
                </a:solidFill>
                <a:latin typeface="Calibri"/>
              </a:rPr>
              <a:t>— active flag and effective-from / effective-to window</a:t>
            </a:r>
          </a:p>
          <a:p>
            <a:pPr>
              <a:lnSpc>
                <a:spcPct val="110000"/>
              </a:lnSpc>
              <a:spcBef>
                <a:spcPts val="0"/>
              </a:spcBef>
              <a:spcAft>
                <a:spcPts val="300"/>
              </a:spcAft>
            </a:pPr>
            <a:r>
              <a:rPr sz="950" b="0" i="0">
                <a:solidFill>
                  <a:srgbClr val="5A6472"/>
                </a:solidFill>
                <a:latin typeface="Calibri"/>
              </a:rPr>
              <a:t>— Edited by INSERT / UPDATE — no code deploy to change a classification</a:t>
            </a:r>
          </a:p>
        </p:txBody>
      </p:sp>
      <p:sp>
        <p:nvSpPr>
          <p:cNvPr id="8" name="Rounded Rectangle 7"/>
          <p:cNvSpPr/>
          <p:nvPr/>
        </p:nvSpPr>
        <p:spPr>
          <a:xfrm>
            <a:off x="457200" y="2990088"/>
            <a:ext cx="6446520" cy="1444752"/>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3172968"/>
            <a:ext cx="420624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pipeline_config</a:t>
            </a:r>
          </a:p>
        </p:txBody>
      </p:sp>
      <p:sp>
        <p:nvSpPr>
          <p:cNvPr id="10" name="Rounded Rectangle 9"/>
          <p:cNvSpPr/>
          <p:nvPr/>
        </p:nvSpPr>
        <p:spPr>
          <a:xfrm>
            <a:off x="5349240" y="3163824"/>
            <a:ext cx="1298448" cy="283464"/>
          </a:xfrm>
          <a:prstGeom prst="roundRect">
            <a:avLst>
              <a:gd name="adj" fmla="val 30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5 thresholds</a:t>
            </a:r>
          </a:p>
        </p:txBody>
      </p:sp>
      <p:sp>
        <p:nvSpPr>
          <p:cNvPr id="11" name="TextBox 10"/>
          <p:cNvSpPr txBox="1"/>
          <p:nvPr/>
        </p:nvSpPr>
        <p:spPr>
          <a:xfrm>
            <a:off x="713232" y="3538728"/>
            <a:ext cx="5943600" cy="822960"/>
          </a:xfrm>
          <a:prstGeom prst="rect">
            <a:avLst/>
          </a:prstGeom>
          <a:noFill/>
        </p:spPr>
        <p:txBody>
          <a:bodyPr wrap="square" lIns="0" rIns="0" tIns="0" bIns="0" anchor="t">
            <a:spAutoFit/>
          </a:bodyPr>
          <a:lstStyle/>
          <a:p>
            <a:pPr algn="l">
              <a:lnSpc>
                <a:spcPct val="110000"/>
              </a:lnSpc>
              <a:spcBef>
                <a:spcPts val="0"/>
              </a:spcBef>
              <a:spcAft>
                <a:spcPts val="300"/>
              </a:spcAft>
            </a:pPr>
            <a:r>
              <a:rPr sz="950" b="0" i="0">
                <a:solidFill>
                  <a:srgbClr val="5A6472"/>
                </a:solidFill>
                <a:latin typeface="Calibri"/>
              </a:rPr>
              <a:t>— agreement_high_conf 0.80 · rag_match_min_score 0.75</a:t>
            </a:r>
          </a:p>
          <a:p>
            <a:pPr>
              <a:lnSpc>
                <a:spcPct val="110000"/>
              </a:lnSpc>
              <a:spcBef>
                <a:spcPts val="0"/>
              </a:spcBef>
              <a:spcAft>
                <a:spcPts val="300"/>
              </a:spcAft>
            </a:pPr>
            <a:r>
              <a:rPr sz="950" b="0" i="0">
                <a:solidFill>
                  <a:srgbClr val="5A6472"/>
                </a:solidFill>
                <a:latin typeface="Calibri"/>
              </a:rPr>
              <a:t>— max_reroute_passes 2 · vs_num_results 1 · amount_z_flag 3.0</a:t>
            </a:r>
          </a:p>
          <a:p>
            <a:pPr>
              <a:lnSpc>
                <a:spcPct val="110000"/>
              </a:lnSpc>
              <a:spcBef>
                <a:spcPts val="0"/>
              </a:spcBef>
              <a:spcAft>
                <a:spcPts val="300"/>
              </a:spcAft>
            </a:pPr>
            <a:r>
              <a:rPr sz="950" b="0" i="0">
                <a:solidFill>
                  <a:srgbClr val="5A6472"/>
                </a:solidFill>
                <a:latin typeface="Calibri"/>
              </a:rPr>
              <a:t>— Read at import by config_notebook, with code defaults as fallback</a:t>
            </a:r>
          </a:p>
        </p:txBody>
      </p:sp>
      <p:sp>
        <p:nvSpPr>
          <p:cNvPr id="12" name="Rounded Rectangle 11"/>
          <p:cNvSpPr/>
          <p:nvPr/>
        </p:nvSpPr>
        <p:spPr>
          <a:xfrm>
            <a:off x="457200" y="4562856"/>
            <a:ext cx="6446520" cy="1444752"/>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4745736"/>
            <a:ext cx="420624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taxability_matrix</a:t>
            </a:r>
          </a:p>
        </p:txBody>
      </p:sp>
      <p:sp>
        <p:nvSpPr>
          <p:cNvPr id="14" name="Rounded Rectangle 13"/>
          <p:cNvSpPr/>
          <p:nvPr/>
        </p:nvSpPr>
        <p:spPr>
          <a:xfrm>
            <a:off x="5349240" y="4736592"/>
            <a:ext cx="1298448" cy="283464"/>
          </a:xfrm>
          <a:prstGeom prst="roundRect">
            <a:avLst>
              <a:gd name="adj" fmla="val 30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3,480 rows</a:t>
            </a:r>
          </a:p>
        </p:txBody>
      </p:sp>
      <p:sp>
        <p:nvSpPr>
          <p:cNvPr id="15" name="TextBox 14"/>
          <p:cNvSpPr txBox="1"/>
          <p:nvPr/>
        </p:nvSpPr>
        <p:spPr>
          <a:xfrm>
            <a:off x="713232" y="5111496"/>
            <a:ext cx="5943600" cy="822960"/>
          </a:xfrm>
          <a:prstGeom prst="rect">
            <a:avLst/>
          </a:prstGeom>
          <a:noFill/>
        </p:spPr>
        <p:txBody>
          <a:bodyPr wrap="square" lIns="0" rIns="0" tIns="0" bIns="0" anchor="t">
            <a:spAutoFit/>
          </a:bodyPr>
          <a:lstStyle/>
          <a:p>
            <a:pPr algn="l">
              <a:lnSpc>
                <a:spcPct val="110000"/>
              </a:lnSpc>
              <a:spcBef>
                <a:spcPts val="0"/>
              </a:spcBef>
              <a:spcAft>
                <a:spcPts val="300"/>
              </a:spcAft>
            </a:pPr>
            <a:r>
              <a:rPr sz="950" b="0" i="0">
                <a:solidFill>
                  <a:srgbClr val="5A6472"/>
                </a:solidFill>
                <a:latin typeface="Calibri"/>
              </a:rPr>
              <a:t>— 60 clusters × 58 jurisdictions, one row per pair</a:t>
            </a:r>
          </a:p>
          <a:p>
            <a:pPr>
              <a:lnSpc>
                <a:spcPct val="110000"/>
              </a:lnSpc>
              <a:spcBef>
                <a:spcPts val="0"/>
              </a:spcBef>
              <a:spcAft>
                <a:spcPts val="300"/>
              </a:spcAft>
            </a:pPr>
            <a:r>
              <a:rPr sz="950" b="0" i="0">
                <a:solidFill>
                  <a:srgbClr val="5A6472"/>
                </a:solidFill>
                <a:latin typeface="Calibri"/>
              </a:rPr>
              <a:t>— flag holds the client's raw mark: T · E · T*</a:t>
            </a:r>
          </a:p>
          <a:p>
            <a:pPr>
              <a:lnSpc>
                <a:spcPct val="110000"/>
              </a:lnSpc>
              <a:spcBef>
                <a:spcPts val="0"/>
              </a:spcBef>
              <a:spcAft>
                <a:spcPts val="300"/>
              </a:spcAft>
            </a:pPr>
            <a:r>
              <a:rPr sz="950" b="0" i="0">
                <a:solidFill>
                  <a:srgbClr val="5A6472"/>
                </a:solidFill>
                <a:latin typeface="Calibri"/>
              </a:rPr>
              <a:t>— taxability resolves to Taxable / Exempt / NULL — NULL is never 'exempt'</a:t>
            </a:r>
          </a:p>
        </p:txBody>
      </p:sp>
      <p:sp>
        <p:nvSpPr>
          <p:cNvPr id="16" name="Rounded Rectangle 15"/>
          <p:cNvSpPr/>
          <p:nvPr/>
        </p:nvSpPr>
        <p:spPr>
          <a:xfrm>
            <a:off x="7178040" y="1417320"/>
            <a:ext cx="4553712" cy="4480560"/>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52360" y="1627632"/>
            <a:ext cx="4023360" cy="292608"/>
          </a:xfrm>
          <a:prstGeom prst="rect">
            <a:avLst/>
          </a:prstGeom>
          <a:noFill/>
        </p:spPr>
        <p:txBody>
          <a:bodyPr wrap="square" lIns="0" rIns="0" tIns="0" bIns="0" anchor="t">
            <a:spAutoFit/>
          </a:bodyPr>
          <a:lstStyle/>
          <a:p>
            <a:pPr algn="l">
              <a:spcBef>
                <a:spcPts val="0"/>
              </a:spcBef>
              <a:spcAft>
                <a:spcPts val="0"/>
              </a:spcAft>
            </a:pPr>
            <a:r>
              <a:rPr sz="1450" b="1" i="0">
                <a:solidFill>
                  <a:srgbClr val="FFFFFF"/>
                </a:solidFill>
                <a:latin typeface="Cambria"/>
              </a:rPr>
              <a:t>How the matrix was flattened</a:t>
            </a:r>
          </a:p>
        </p:txBody>
      </p:sp>
      <p:sp>
        <p:nvSpPr>
          <p:cNvPr id="18" name="Oval 17"/>
          <p:cNvSpPr/>
          <p:nvPr/>
        </p:nvSpPr>
        <p:spPr>
          <a:xfrm>
            <a:off x="7452360" y="2103120"/>
            <a:ext cx="274320" cy="2743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1</a:t>
            </a:r>
          </a:p>
        </p:txBody>
      </p:sp>
      <p:sp>
        <p:nvSpPr>
          <p:cNvPr id="19" name="TextBox 18"/>
          <p:cNvSpPr txBox="1"/>
          <p:nvPr/>
        </p:nvSpPr>
        <p:spPr>
          <a:xfrm>
            <a:off x="7863840" y="2084831"/>
            <a:ext cx="3611880" cy="237744"/>
          </a:xfrm>
          <a:prstGeom prst="rect">
            <a:avLst/>
          </a:prstGeom>
          <a:noFill/>
        </p:spPr>
        <p:txBody>
          <a:bodyPr wrap="square" lIns="0" rIns="0" tIns="0" bIns="0" anchor="t">
            <a:spAutoFit/>
          </a:bodyPr>
          <a:lstStyle/>
          <a:p>
            <a:pPr algn="l">
              <a:spcBef>
                <a:spcPts val="0"/>
              </a:spcBef>
              <a:spcAft>
                <a:spcPts val="0"/>
              </a:spcAft>
            </a:pPr>
            <a:r>
              <a:rPr sz="1200" b="1" i="0">
                <a:solidFill>
                  <a:srgbClr val="FFFFFF"/>
                </a:solidFill>
                <a:latin typeface="Calibri"/>
              </a:rPr>
              <a:t>Cluster Names sheet</a:t>
            </a:r>
          </a:p>
        </p:txBody>
      </p:sp>
      <p:sp>
        <p:nvSpPr>
          <p:cNvPr id="20" name="TextBox 19"/>
          <p:cNvSpPr txBox="1"/>
          <p:nvPr/>
        </p:nvSpPr>
        <p:spPr>
          <a:xfrm>
            <a:off x="7863840" y="2322576"/>
            <a:ext cx="3611880" cy="384048"/>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CADCFC"/>
                </a:solidFill>
                <a:latin typeface="Calibri"/>
              </a:rPr>
              <a:t>70 rows — each cluster carries a Vertex Category</a:t>
            </a:r>
          </a:p>
        </p:txBody>
      </p:sp>
      <p:sp>
        <p:nvSpPr>
          <p:cNvPr id="21" name="Oval 20"/>
          <p:cNvSpPr/>
          <p:nvPr/>
        </p:nvSpPr>
        <p:spPr>
          <a:xfrm>
            <a:off x="7452360" y="2889503"/>
            <a:ext cx="274320" cy="2743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2</a:t>
            </a:r>
          </a:p>
        </p:txBody>
      </p:sp>
      <p:sp>
        <p:nvSpPr>
          <p:cNvPr id="22" name="TextBox 21"/>
          <p:cNvSpPr txBox="1"/>
          <p:nvPr/>
        </p:nvSpPr>
        <p:spPr>
          <a:xfrm>
            <a:off x="7863840" y="2871215"/>
            <a:ext cx="3611880" cy="237744"/>
          </a:xfrm>
          <a:prstGeom prst="rect">
            <a:avLst/>
          </a:prstGeom>
          <a:noFill/>
        </p:spPr>
        <p:txBody>
          <a:bodyPr wrap="square" lIns="0" rIns="0" tIns="0" bIns="0" anchor="t">
            <a:spAutoFit/>
          </a:bodyPr>
          <a:lstStyle/>
          <a:p>
            <a:pPr algn="l">
              <a:spcBef>
                <a:spcPts val="0"/>
              </a:spcBef>
              <a:spcAft>
                <a:spcPts val="0"/>
              </a:spcAft>
            </a:pPr>
            <a:r>
              <a:rPr sz="1200" b="1" i="0">
                <a:solidFill>
                  <a:srgbClr val="FFFFFF"/>
                </a:solidFill>
                <a:latin typeface="Calibri"/>
              </a:rPr>
              <a:t>Vertex Category</a:t>
            </a:r>
          </a:p>
        </p:txBody>
      </p:sp>
      <p:sp>
        <p:nvSpPr>
          <p:cNvPr id="23" name="TextBox 22"/>
          <p:cNvSpPr txBox="1"/>
          <p:nvPr/>
        </p:nvSpPr>
        <p:spPr>
          <a:xfrm>
            <a:off x="7863840" y="3108959"/>
            <a:ext cx="3611880" cy="384048"/>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CADCFC"/>
                </a:solidFill>
                <a:latin typeface="Calibri"/>
              </a:rPr>
              <a:t>the bridge between the two client sheets</a:t>
            </a:r>
          </a:p>
        </p:txBody>
      </p:sp>
      <p:sp>
        <p:nvSpPr>
          <p:cNvPr id="24" name="Oval 23"/>
          <p:cNvSpPr/>
          <p:nvPr/>
        </p:nvSpPr>
        <p:spPr>
          <a:xfrm>
            <a:off x="7452360" y="3675887"/>
            <a:ext cx="274320" cy="2743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3</a:t>
            </a:r>
          </a:p>
        </p:txBody>
      </p:sp>
      <p:sp>
        <p:nvSpPr>
          <p:cNvPr id="25" name="TextBox 24"/>
          <p:cNvSpPr txBox="1"/>
          <p:nvPr/>
        </p:nvSpPr>
        <p:spPr>
          <a:xfrm>
            <a:off x="7863840" y="3657599"/>
            <a:ext cx="3611880" cy="237744"/>
          </a:xfrm>
          <a:prstGeom prst="rect">
            <a:avLst/>
          </a:prstGeom>
          <a:noFill/>
        </p:spPr>
        <p:txBody>
          <a:bodyPr wrap="square" lIns="0" rIns="0" tIns="0" bIns="0" anchor="t">
            <a:spAutoFit/>
          </a:bodyPr>
          <a:lstStyle/>
          <a:p>
            <a:pPr algn="l">
              <a:spcBef>
                <a:spcPts val="0"/>
              </a:spcBef>
              <a:spcAft>
                <a:spcPts val="0"/>
              </a:spcAft>
            </a:pPr>
            <a:r>
              <a:rPr sz="1200" b="1" i="0">
                <a:solidFill>
                  <a:srgbClr val="FFFFFF"/>
                </a:solidFill>
                <a:latin typeface="Calibri"/>
              </a:rPr>
              <a:t>TAC Code Mapping</a:t>
            </a:r>
          </a:p>
        </p:txBody>
      </p:sp>
      <p:sp>
        <p:nvSpPr>
          <p:cNvPr id="26" name="TextBox 25"/>
          <p:cNvSpPr txBox="1"/>
          <p:nvPr/>
        </p:nvSpPr>
        <p:spPr>
          <a:xfrm>
            <a:off x="7863840" y="3895344"/>
            <a:ext cx="3611880" cy="384048"/>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CADCFC"/>
                </a:solidFill>
                <a:latin typeface="Calibri"/>
              </a:rPr>
              <a:t>127 rows × 58 jurisdiction columns of T / E / T*</a:t>
            </a:r>
          </a:p>
        </p:txBody>
      </p:sp>
      <p:sp>
        <p:nvSpPr>
          <p:cNvPr id="27" name="Oval 26"/>
          <p:cNvSpPr/>
          <p:nvPr/>
        </p:nvSpPr>
        <p:spPr>
          <a:xfrm>
            <a:off x="7452360" y="4462271"/>
            <a:ext cx="274320" cy="2743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E2761"/>
                </a:solidFill>
                <a:latin typeface="Calibri"/>
              </a:rPr>
              <a:t>4</a:t>
            </a:r>
          </a:p>
        </p:txBody>
      </p:sp>
      <p:sp>
        <p:nvSpPr>
          <p:cNvPr id="28" name="TextBox 27"/>
          <p:cNvSpPr txBox="1"/>
          <p:nvPr/>
        </p:nvSpPr>
        <p:spPr>
          <a:xfrm>
            <a:off x="7863840" y="4443983"/>
            <a:ext cx="3611880" cy="237744"/>
          </a:xfrm>
          <a:prstGeom prst="rect">
            <a:avLst/>
          </a:prstGeom>
          <a:noFill/>
        </p:spPr>
        <p:txBody>
          <a:bodyPr wrap="square" lIns="0" rIns="0" tIns="0" bIns="0" anchor="t">
            <a:spAutoFit/>
          </a:bodyPr>
          <a:lstStyle/>
          <a:p>
            <a:pPr algn="l">
              <a:spcBef>
                <a:spcPts val="0"/>
              </a:spcBef>
              <a:spcAft>
                <a:spcPts val="0"/>
              </a:spcAft>
            </a:pPr>
            <a:r>
              <a:rPr sz="1200" b="1" i="0">
                <a:solidFill>
                  <a:srgbClr val="FFFFFF"/>
                </a:solidFill>
                <a:latin typeface="Calibri"/>
              </a:rPr>
              <a:t>taxability_matrix</a:t>
            </a:r>
          </a:p>
        </p:txBody>
      </p:sp>
      <p:sp>
        <p:nvSpPr>
          <p:cNvPr id="29" name="TextBox 28"/>
          <p:cNvSpPr txBox="1"/>
          <p:nvPr/>
        </p:nvSpPr>
        <p:spPr>
          <a:xfrm>
            <a:off x="7863840" y="4681727"/>
            <a:ext cx="3611880" cy="384048"/>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CADCFC"/>
                </a:solidFill>
                <a:latin typeface="Calibri"/>
              </a:rPr>
              <a:t>cross-joined and resolved — 60 × 58 = 3,480 rows</a:t>
            </a:r>
          </a:p>
        </p:txBody>
      </p:sp>
      <p:sp>
        <p:nvSpPr>
          <p:cNvPr id="30" name="TextBox 29"/>
          <p:cNvSpPr txBox="1"/>
          <p:nvPr/>
        </p:nvSpPr>
        <p:spPr>
          <a:xfrm>
            <a:off x="7452360" y="5230368"/>
            <a:ext cx="4023360" cy="548640"/>
          </a:xfrm>
          <a:prstGeom prst="rect">
            <a:avLst/>
          </a:prstGeom>
          <a:noFill/>
        </p:spPr>
        <p:txBody>
          <a:bodyPr wrap="square" lIns="0" rIns="0" tIns="0" bIns="0" anchor="t">
            <a:spAutoFit/>
          </a:bodyPr>
          <a:lstStyle/>
          <a:p>
            <a:pPr algn="l">
              <a:lnSpc>
                <a:spcPct val="112000"/>
              </a:lnSpc>
              <a:spcBef>
                <a:spcPts val="0"/>
              </a:spcBef>
              <a:spcAft>
                <a:spcPts val="0"/>
              </a:spcAft>
            </a:pPr>
            <a:r>
              <a:rPr sz="950" b="0" i="1">
                <a:solidFill>
                  <a:srgbClr val="CADCFC"/>
                </a:solidFill>
                <a:latin typeface="Calibri"/>
              </a:rPr>
              <a:t>The client's requirement was that tax determination reduce to a single join on cluster name and state. Flattening the two-hop lookup up front is what makes Task 3.3 one join instead of a chain.</a:t>
            </a:r>
          </a:p>
        </p:txBody>
      </p:sp>
      <p:sp>
        <p:nvSpPr>
          <p:cNvPr id="31" name="TextBox 30"/>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2" name="TextBox 31"/>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Task 3.1 — Rules Expert</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Deterministic rules first, retrieval second, the model only on what is left</a:t>
            </a:r>
          </a:p>
        </p:txBody>
      </p:sp>
      <p:sp>
        <p:nvSpPr>
          <p:cNvPr id="4" name="Rounded Rectangle 3"/>
          <p:cNvSpPr/>
          <p:nvPr/>
        </p:nvSpPr>
        <p:spPr>
          <a:xfrm>
            <a:off x="457200" y="1417320"/>
            <a:ext cx="5806440" cy="3977639"/>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627632"/>
            <a:ext cx="530352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Five rule types, evaluated together</a:t>
            </a:r>
          </a:p>
        </p:txBody>
      </p:sp>
      <p:sp>
        <p:nvSpPr>
          <p:cNvPr id="6" name="TextBox 5"/>
          <p:cNvSpPr txBox="1"/>
          <p:nvPr/>
        </p:nvSpPr>
        <p:spPr>
          <a:xfrm>
            <a:off x="731520" y="2029968"/>
            <a:ext cx="1600200"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exact_match</a:t>
            </a:r>
          </a:p>
        </p:txBody>
      </p:sp>
      <p:sp>
        <p:nvSpPr>
          <p:cNvPr id="7" name="TextBox 6"/>
          <p:cNvSpPr txBox="1"/>
          <p:nvPr/>
        </p:nvSpPr>
        <p:spPr>
          <a:xfrm>
            <a:off x="2395728" y="2029968"/>
            <a:ext cx="365760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extc + mic_cln + account_code, any subset</a:t>
            </a:r>
          </a:p>
        </p:txBody>
      </p:sp>
      <p:sp>
        <p:nvSpPr>
          <p:cNvPr id="8" name="TextBox 7"/>
          <p:cNvSpPr txBox="1"/>
          <p:nvPr/>
        </p:nvSpPr>
        <p:spPr>
          <a:xfrm>
            <a:off x="731520" y="2414016"/>
            <a:ext cx="1600200"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account_range</a:t>
            </a:r>
          </a:p>
        </p:txBody>
      </p:sp>
      <p:sp>
        <p:nvSpPr>
          <p:cNvPr id="9" name="TextBox 8"/>
          <p:cNvSpPr txBox="1"/>
          <p:nvPr/>
        </p:nvSpPr>
        <p:spPr>
          <a:xfrm>
            <a:off x="2395728" y="2414016"/>
            <a:ext cx="365760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account_code within [from, to], optional extc</a:t>
            </a:r>
          </a:p>
        </p:txBody>
      </p:sp>
      <p:sp>
        <p:nvSpPr>
          <p:cNvPr id="10" name="TextBox 9"/>
          <p:cNvSpPr txBox="1"/>
          <p:nvPr/>
        </p:nvSpPr>
        <p:spPr>
          <a:xfrm>
            <a:off x="731520" y="2798064"/>
            <a:ext cx="1600200"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vendor</a:t>
            </a:r>
          </a:p>
        </p:txBody>
      </p:sp>
      <p:sp>
        <p:nvSpPr>
          <p:cNvPr id="11" name="TextBox 10"/>
          <p:cNvSpPr txBox="1"/>
          <p:nvPr/>
        </p:nvSpPr>
        <p:spPr>
          <a:xfrm>
            <a:off x="2395728" y="2798064"/>
            <a:ext cx="365760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vendor_name, case-insensitive</a:t>
            </a:r>
          </a:p>
        </p:txBody>
      </p:sp>
      <p:sp>
        <p:nvSpPr>
          <p:cNvPr id="12" name="TextBox 11"/>
          <p:cNvSpPr txBox="1"/>
          <p:nvPr/>
        </p:nvSpPr>
        <p:spPr>
          <a:xfrm>
            <a:off x="731520" y="3182112"/>
            <a:ext cx="1600200"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keyword</a:t>
            </a:r>
          </a:p>
        </p:txBody>
      </p:sp>
      <p:sp>
        <p:nvSpPr>
          <p:cNvPr id="13" name="TextBox 12"/>
          <p:cNvSpPr txBox="1"/>
          <p:nvPr/>
        </p:nvSpPr>
        <p:spPr>
          <a:xfrm>
            <a:off x="2395728" y="3182112"/>
            <a:ext cx="365760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substring found in final_description</a:t>
            </a:r>
          </a:p>
        </p:txBody>
      </p:sp>
      <p:sp>
        <p:nvSpPr>
          <p:cNvPr id="14" name="TextBox 13"/>
          <p:cNvSpPr txBox="1"/>
          <p:nvPr/>
        </p:nvSpPr>
        <p:spPr>
          <a:xfrm>
            <a:off x="731520" y="3566160"/>
            <a:ext cx="1600200"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expression</a:t>
            </a:r>
          </a:p>
        </p:txBody>
      </p:sp>
      <p:sp>
        <p:nvSpPr>
          <p:cNvPr id="15" name="TextBox 14"/>
          <p:cNvSpPr txBox="1"/>
          <p:nvPr/>
        </p:nvSpPr>
        <p:spPr>
          <a:xfrm>
            <a:off x="2395728" y="3566160"/>
            <a:ext cx="365760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an arbitrary Spark SQL predicate</a:t>
            </a:r>
          </a:p>
        </p:txBody>
      </p:sp>
      <p:sp>
        <p:nvSpPr>
          <p:cNvPr id="16" name="Rectangle 15"/>
          <p:cNvSpPr/>
          <p:nvPr/>
        </p:nvSpPr>
        <p:spPr>
          <a:xfrm>
            <a:off x="731520" y="4041648"/>
            <a:ext cx="5257800" cy="9525"/>
          </a:xfrm>
          <a:prstGeom prst="rect">
            <a:avLst/>
          </a:prstGeom>
          <a:solidFill>
            <a:srgbClr val="D6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24528"/>
            <a:ext cx="5303520" cy="1005840"/>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5A6472"/>
                </a:solidFill>
                <a:latin typeface="Calibri"/>
              </a:rPr>
              <a:t>All candidate matches are collected, then the lowest priority wins per line, tie-broken by rule_id. Only rules that are active and inside their effective-date window are considered.</a:t>
            </a:r>
          </a:p>
          <a:p>
            <a:pPr>
              <a:lnSpc>
                <a:spcPct val="115000"/>
              </a:lnSpc>
              <a:spcBef>
                <a:spcPts val="600"/>
              </a:spcBef>
              <a:spcAft>
                <a:spcPts val="0"/>
              </a:spcAft>
            </a:pPr>
            <a:r>
              <a:rPr sz="1000" b="0" i="1">
                <a:solidFill>
                  <a:srgbClr val="3D5A80"/>
                </a:solidFill>
                <a:latin typeface="Calibri"/>
              </a:rPr>
              <a:t>A bad expression predicate is skipped and logged, never fatal to the batch.</a:t>
            </a:r>
          </a:p>
        </p:txBody>
      </p:sp>
      <p:sp>
        <p:nvSpPr>
          <p:cNvPr id="18" name="Rounded Rectangle 17"/>
          <p:cNvSpPr/>
          <p:nvPr/>
        </p:nvSpPr>
        <p:spPr>
          <a:xfrm>
            <a:off x="6537960" y="1417320"/>
            <a:ext cx="5193792" cy="3977639"/>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12280" y="1627632"/>
            <a:ext cx="4663440" cy="274320"/>
          </a:xfrm>
          <a:prstGeom prst="rect">
            <a:avLst/>
          </a:prstGeom>
          <a:noFill/>
        </p:spPr>
        <p:txBody>
          <a:bodyPr wrap="square" lIns="0" rIns="0" tIns="0" bIns="0" anchor="t">
            <a:spAutoFit/>
          </a:bodyPr>
          <a:lstStyle/>
          <a:p>
            <a:pPr algn="l">
              <a:spcBef>
                <a:spcPts val="0"/>
              </a:spcBef>
              <a:spcAft>
                <a:spcPts val="0"/>
              </a:spcAft>
            </a:pPr>
            <a:r>
              <a:rPr sz="1450" b="1" i="0">
                <a:solidFill>
                  <a:srgbClr val="FFFFFF"/>
                </a:solidFill>
                <a:latin typeface="Cambria"/>
              </a:rPr>
              <a:t>Where the month's lines went</a:t>
            </a:r>
          </a:p>
        </p:txBody>
      </p:sp>
      <p:sp>
        <p:nvSpPr>
          <p:cNvPr id="20" name="TextBox 19"/>
          <p:cNvSpPr txBox="1"/>
          <p:nvPr/>
        </p:nvSpPr>
        <p:spPr>
          <a:xfrm>
            <a:off x="6812280" y="2103120"/>
            <a:ext cx="1371600" cy="365760"/>
          </a:xfrm>
          <a:prstGeom prst="rect">
            <a:avLst/>
          </a:prstGeom>
          <a:noFill/>
        </p:spPr>
        <p:txBody>
          <a:bodyPr wrap="square" lIns="0" rIns="0" tIns="0" bIns="0" anchor="t">
            <a:spAutoFit/>
          </a:bodyPr>
          <a:lstStyle/>
          <a:p>
            <a:pPr algn="l">
              <a:spcBef>
                <a:spcPts val="0"/>
              </a:spcBef>
              <a:spcAft>
                <a:spcPts val="0"/>
              </a:spcAft>
            </a:pPr>
            <a:r>
              <a:rPr sz="2100" b="1" i="0">
                <a:solidFill>
                  <a:srgbClr val="CADCFC"/>
                </a:solidFill>
                <a:latin typeface="Cambria"/>
              </a:rPr>
              <a:t>7,233</a:t>
            </a:r>
          </a:p>
        </p:txBody>
      </p:sp>
      <p:sp>
        <p:nvSpPr>
          <p:cNvPr id="21" name="TextBox 20"/>
          <p:cNvSpPr txBox="1"/>
          <p:nvPr/>
        </p:nvSpPr>
        <p:spPr>
          <a:xfrm>
            <a:off x="8321040" y="2148839"/>
            <a:ext cx="3154680" cy="566928"/>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CADCFC"/>
                </a:solidFill>
                <a:latin typeface="Calibri"/>
              </a:rPr>
              <a:t>invoice lines selected for the accounting month</a:t>
            </a:r>
          </a:p>
        </p:txBody>
      </p:sp>
      <p:sp>
        <p:nvSpPr>
          <p:cNvPr id="22" name="TextBox 21"/>
          <p:cNvSpPr txBox="1"/>
          <p:nvPr/>
        </p:nvSpPr>
        <p:spPr>
          <a:xfrm>
            <a:off x="6812280" y="2852927"/>
            <a:ext cx="1371600" cy="365760"/>
          </a:xfrm>
          <a:prstGeom prst="rect">
            <a:avLst/>
          </a:prstGeom>
          <a:noFill/>
        </p:spPr>
        <p:txBody>
          <a:bodyPr wrap="square" lIns="0" rIns="0" tIns="0" bIns="0" anchor="t">
            <a:spAutoFit/>
          </a:bodyPr>
          <a:lstStyle/>
          <a:p>
            <a:pPr algn="l">
              <a:spcBef>
                <a:spcPts val="0"/>
              </a:spcBef>
              <a:spcAft>
                <a:spcPts val="0"/>
              </a:spcAft>
            </a:pPr>
            <a:r>
              <a:rPr sz="2100" b="1" i="0">
                <a:solidFill>
                  <a:srgbClr val="FFFFFF"/>
                </a:solidFill>
                <a:latin typeface="Cambria"/>
              </a:rPr>
              <a:t>2,903</a:t>
            </a:r>
          </a:p>
        </p:txBody>
      </p:sp>
      <p:sp>
        <p:nvSpPr>
          <p:cNvPr id="23" name="TextBox 22"/>
          <p:cNvSpPr txBox="1"/>
          <p:nvPr/>
        </p:nvSpPr>
        <p:spPr>
          <a:xfrm>
            <a:off x="8321040" y="2898647"/>
            <a:ext cx="3154680" cy="566928"/>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CADCFC"/>
                </a:solidFill>
                <a:latin typeface="Calibri"/>
              </a:rPr>
              <a:t>matched a rule — keyword 1,689 · exact 667 · expression 526 · vendor 21</a:t>
            </a:r>
          </a:p>
        </p:txBody>
      </p:sp>
      <p:sp>
        <p:nvSpPr>
          <p:cNvPr id="24" name="TextBox 23"/>
          <p:cNvSpPr txBox="1"/>
          <p:nvPr/>
        </p:nvSpPr>
        <p:spPr>
          <a:xfrm>
            <a:off x="6812280" y="3602735"/>
            <a:ext cx="1371600" cy="365760"/>
          </a:xfrm>
          <a:prstGeom prst="rect">
            <a:avLst/>
          </a:prstGeom>
          <a:noFill/>
        </p:spPr>
        <p:txBody>
          <a:bodyPr wrap="square" lIns="0" rIns="0" tIns="0" bIns="0" anchor="t">
            <a:spAutoFit/>
          </a:bodyPr>
          <a:lstStyle/>
          <a:p>
            <a:pPr algn="l">
              <a:spcBef>
                <a:spcPts val="0"/>
              </a:spcBef>
              <a:spcAft>
                <a:spcPts val="0"/>
              </a:spcAft>
            </a:pPr>
            <a:r>
              <a:rPr sz="2100" b="1" i="0">
                <a:solidFill>
                  <a:srgbClr val="FFFFFF"/>
                </a:solidFill>
                <a:latin typeface="Cambria"/>
              </a:rPr>
              <a:t>4,330</a:t>
            </a:r>
          </a:p>
        </p:txBody>
      </p:sp>
      <p:sp>
        <p:nvSpPr>
          <p:cNvPr id="25" name="TextBox 24"/>
          <p:cNvSpPr txBox="1"/>
          <p:nvPr/>
        </p:nvSpPr>
        <p:spPr>
          <a:xfrm>
            <a:off x="8321040" y="3648455"/>
            <a:ext cx="3154680" cy="566928"/>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CADCFC"/>
                </a:solidFill>
                <a:latin typeface="Calibri"/>
              </a:rPr>
              <a:t>no rule fired → Vector Search over the rules KB</a:t>
            </a:r>
          </a:p>
        </p:txBody>
      </p:sp>
      <p:sp>
        <p:nvSpPr>
          <p:cNvPr id="26" name="TextBox 25"/>
          <p:cNvSpPr txBox="1"/>
          <p:nvPr/>
        </p:nvSpPr>
        <p:spPr>
          <a:xfrm>
            <a:off x="6812280" y="4352544"/>
            <a:ext cx="1371600" cy="365760"/>
          </a:xfrm>
          <a:prstGeom prst="rect">
            <a:avLst/>
          </a:prstGeom>
          <a:noFill/>
        </p:spPr>
        <p:txBody>
          <a:bodyPr wrap="square" lIns="0" rIns="0" tIns="0" bIns="0" anchor="t">
            <a:spAutoFit/>
          </a:bodyPr>
          <a:lstStyle/>
          <a:p>
            <a:pPr algn="l">
              <a:spcBef>
                <a:spcPts val="0"/>
              </a:spcBef>
              <a:spcAft>
                <a:spcPts val="0"/>
              </a:spcAft>
            </a:pPr>
            <a:r>
              <a:rPr sz="2100" b="1" i="0">
                <a:solidFill>
                  <a:srgbClr val="CADCFC"/>
                </a:solidFill>
                <a:latin typeface="Cambria"/>
              </a:rPr>
              <a:t>≥ 0.75</a:t>
            </a:r>
          </a:p>
        </p:txBody>
      </p:sp>
      <p:sp>
        <p:nvSpPr>
          <p:cNvPr id="27" name="TextBox 26"/>
          <p:cNvSpPr txBox="1"/>
          <p:nvPr/>
        </p:nvSpPr>
        <p:spPr>
          <a:xfrm>
            <a:off x="8321040" y="4398264"/>
            <a:ext cx="3154680" cy="566928"/>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CADCFC"/>
                </a:solidFill>
                <a:latin typeface="Calibri"/>
              </a:rPr>
              <a:t>retrieval score needed to accept a RAG match; below it, the line goes to 3.2</a:t>
            </a:r>
          </a:p>
        </p:txBody>
      </p:sp>
      <p:sp>
        <p:nvSpPr>
          <p:cNvPr id="28" name="TextBox 27"/>
          <p:cNvSpPr txBox="1"/>
          <p:nvPr/>
        </p:nvSpPr>
        <p:spPr>
          <a:xfrm>
            <a:off x="6812280" y="5029200"/>
            <a:ext cx="4663440" cy="274320"/>
          </a:xfrm>
          <a:prstGeom prst="rect">
            <a:avLst/>
          </a:prstGeom>
          <a:noFill/>
        </p:spPr>
        <p:txBody>
          <a:bodyPr wrap="square" lIns="0" rIns="0" tIns="0" bIns="0" anchor="t">
            <a:spAutoFit/>
          </a:bodyPr>
          <a:lstStyle/>
          <a:p>
            <a:pPr algn="l">
              <a:spcBef>
                <a:spcPts val="0"/>
              </a:spcBef>
              <a:spcAft>
                <a:spcPts val="0"/>
              </a:spcAft>
            </a:pPr>
            <a:r>
              <a:rPr sz="1100" b="0" i="1">
                <a:solidFill>
                  <a:srgbClr val="CADCFC"/>
                </a:solidFill>
                <a:latin typeface="Calibri"/>
              </a:rPr>
              <a:t>40% of the month never reaches a model at all.</a:t>
            </a:r>
          </a:p>
        </p:txBody>
      </p:sp>
      <p:sp>
        <p:nvSpPr>
          <p:cNvPr id="29" name="TextBox 28"/>
          <p:cNvSpPr txBox="1"/>
          <p:nvPr/>
        </p:nvSpPr>
        <p:spPr>
          <a:xfrm>
            <a:off x="457200" y="6053328"/>
            <a:ext cx="11338560" cy="274320"/>
          </a:xfrm>
          <a:prstGeom prst="rect">
            <a:avLst/>
          </a:prstGeom>
          <a:noFill/>
        </p:spPr>
        <p:txBody>
          <a:bodyPr wrap="square" lIns="0" rIns="0" tIns="0" bIns="0" anchor="t">
            <a:spAutoFit/>
          </a:bodyPr>
          <a:lstStyle/>
          <a:p>
            <a:pPr algn="ctr">
              <a:spcBef>
                <a:spcPts val="0"/>
              </a:spcBef>
              <a:spcAft>
                <a:spcPts val="0"/>
              </a:spcAft>
            </a:pPr>
            <a:r>
              <a:rPr sz="1100" b="0" i="1">
                <a:solidFill>
                  <a:srgbClr val="5A6472"/>
                </a:solidFill>
                <a:latin typeface="Calibri"/>
              </a:rPr>
              <a:t>Counts from a local validation run against the real 7,233-line January export.</a:t>
            </a:r>
          </a:p>
        </p:txBody>
      </p:sp>
      <p:sp>
        <p:nvSpPr>
          <p:cNvPr id="30" name="TextBox 29"/>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1" name="TextBox 30"/>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Task 3.2 — Classifier</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Two independent sub-models, and an agreement rule that decides who to believe</a:t>
            </a:r>
          </a:p>
        </p:txBody>
      </p:sp>
      <p:sp>
        <p:nvSpPr>
          <p:cNvPr id="4" name="Rounded Rectangle 3"/>
          <p:cNvSpPr/>
          <p:nvPr/>
        </p:nvSpPr>
        <p:spPr>
          <a:xfrm>
            <a:off x="457200" y="1417320"/>
            <a:ext cx="5806440" cy="157276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664208"/>
            <a:ext cx="365760" cy="365760"/>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a:t>
            </a:r>
          </a:p>
        </p:txBody>
      </p:sp>
      <p:sp>
        <p:nvSpPr>
          <p:cNvPr id="6" name="TextBox 5"/>
          <p:cNvSpPr txBox="1"/>
          <p:nvPr/>
        </p:nvSpPr>
        <p:spPr>
          <a:xfrm>
            <a:off x="1225296" y="1700784"/>
            <a:ext cx="4480560" cy="256032"/>
          </a:xfrm>
          <a:prstGeom prst="rect">
            <a:avLst/>
          </a:prstGeom>
          <a:noFill/>
        </p:spPr>
        <p:txBody>
          <a:bodyPr wrap="square" lIns="0" rIns="0" tIns="0" bIns="0" anchor="t">
            <a:spAutoFit/>
          </a:bodyPr>
          <a:lstStyle/>
          <a:p>
            <a:pPr algn="l">
              <a:spcBef>
                <a:spcPts val="0"/>
              </a:spcBef>
              <a:spcAft>
                <a:spcPts val="0"/>
              </a:spcAft>
            </a:pPr>
            <a:r>
              <a:rPr sz="1350" b="1" i="0">
                <a:solidFill>
                  <a:srgbClr val="1A1A2E"/>
                </a:solidFill>
                <a:latin typeface="Cambria"/>
              </a:rPr>
              <a:t>XGBoost via Model Serving</a:t>
            </a:r>
          </a:p>
        </p:txBody>
      </p:sp>
      <p:sp>
        <p:nvSpPr>
          <p:cNvPr id="7" name="TextBox 6"/>
          <p:cNvSpPr txBox="1"/>
          <p:nvPr/>
        </p:nvSpPr>
        <p:spPr>
          <a:xfrm>
            <a:off x="731520" y="2148840"/>
            <a:ext cx="5257800" cy="731520"/>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5A6472"/>
                </a:solidFill>
                <a:latin typeface="Calibri"/>
              </a:rPr>
              <a:t>Batch-scored on the 1024-dim GTE embedding, per partition. Numeric predictions are decoded to category names through the Phase 2 label index. Returns a label and a confidence.</a:t>
            </a:r>
          </a:p>
        </p:txBody>
      </p:sp>
      <p:sp>
        <p:nvSpPr>
          <p:cNvPr id="8" name="Rounded Rectangle 7"/>
          <p:cNvSpPr/>
          <p:nvPr/>
        </p:nvSpPr>
        <p:spPr>
          <a:xfrm>
            <a:off x="457200" y="3108960"/>
            <a:ext cx="5806440" cy="157276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3355848"/>
            <a:ext cx="365760" cy="365760"/>
          </a:xfrm>
          <a:prstGeom prst="ellipse">
            <a:avLst/>
          </a:prstGeom>
          <a:solidFill>
            <a:srgbClr val="6C89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B</a:t>
            </a:r>
          </a:p>
        </p:txBody>
      </p:sp>
      <p:sp>
        <p:nvSpPr>
          <p:cNvPr id="10" name="TextBox 9"/>
          <p:cNvSpPr txBox="1"/>
          <p:nvPr/>
        </p:nvSpPr>
        <p:spPr>
          <a:xfrm>
            <a:off x="1225296" y="3392424"/>
            <a:ext cx="4480560" cy="256032"/>
          </a:xfrm>
          <a:prstGeom prst="rect">
            <a:avLst/>
          </a:prstGeom>
          <a:noFill/>
        </p:spPr>
        <p:txBody>
          <a:bodyPr wrap="square" lIns="0" rIns="0" tIns="0" bIns="0" anchor="t">
            <a:spAutoFit/>
          </a:bodyPr>
          <a:lstStyle/>
          <a:p>
            <a:pPr algn="l">
              <a:spcBef>
                <a:spcPts val="0"/>
              </a:spcBef>
              <a:spcAft>
                <a:spcPts val="0"/>
              </a:spcAft>
            </a:pPr>
            <a:r>
              <a:rPr sz="1350" b="1" i="0">
                <a:solidFill>
                  <a:srgbClr val="1A1A2E"/>
                </a:solidFill>
                <a:latin typeface="Cambria"/>
              </a:rPr>
              <a:t>LLM zero-shot via ai_query()</a:t>
            </a:r>
          </a:p>
        </p:txBody>
      </p:sp>
      <p:sp>
        <p:nvSpPr>
          <p:cNvPr id="11" name="TextBox 10"/>
          <p:cNvSpPr txBox="1"/>
          <p:nvPr/>
        </p:nvSpPr>
        <p:spPr>
          <a:xfrm>
            <a:off x="731520" y="3840480"/>
            <a:ext cx="5257800" cy="731520"/>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5A6472"/>
                </a:solidFill>
                <a:latin typeface="Calibri"/>
              </a:rPr>
              <a:t>Picks one label from the full list. ai_classify caps at 20 labels, so ai_query carries the taxonomy in the prompt instead. Returns a label only — no confidence.</a:t>
            </a:r>
          </a:p>
        </p:txBody>
      </p:sp>
      <p:sp>
        <p:nvSpPr>
          <p:cNvPr id="12" name="Rounded Rectangle 11"/>
          <p:cNvSpPr/>
          <p:nvPr/>
        </p:nvSpPr>
        <p:spPr>
          <a:xfrm>
            <a:off x="6537960" y="1417320"/>
            <a:ext cx="5193792" cy="3264408"/>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12280" y="1627632"/>
            <a:ext cx="4663440" cy="274320"/>
          </a:xfrm>
          <a:prstGeom prst="rect">
            <a:avLst/>
          </a:prstGeom>
          <a:noFill/>
        </p:spPr>
        <p:txBody>
          <a:bodyPr wrap="square" lIns="0" rIns="0" tIns="0" bIns="0" anchor="t">
            <a:spAutoFit/>
          </a:bodyPr>
          <a:lstStyle/>
          <a:p>
            <a:pPr algn="l">
              <a:spcBef>
                <a:spcPts val="0"/>
              </a:spcBef>
              <a:spcAft>
                <a:spcPts val="0"/>
              </a:spcAft>
            </a:pPr>
            <a:r>
              <a:rPr sz="1450" b="1" i="0">
                <a:solidFill>
                  <a:srgbClr val="FFFFFF"/>
                </a:solidFill>
                <a:latin typeface="Cambria"/>
              </a:rPr>
              <a:t>The agreement rule</a:t>
            </a:r>
          </a:p>
        </p:txBody>
      </p:sp>
      <p:sp>
        <p:nvSpPr>
          <p:cNvPr id="14" name="TextBox 13"/>
          <p:cNvSpPr txBox="1"/>
          <p:nvPr/>
        </p:nvSpPr>
        <p:spPr>
          <a:xfrm>
            <a:off x="6812280" y="2103120"/>
            <a:ext cx="1600200" cy="237744"/>
          </a:xfrm>
          <a:prstGeom prst="rect">
            <a:avLst/>
          </a:prstGeom>
          <a:noFill/>
        </p:spPr>
        <p:txBody>
          <a:bodyPr wrap="square" lIns="0" rIns="0" tIns="0" bIns="0" anchor="t">
            <a:spAutoFit/>
          </a:bodyPr>
          <a:lstStyle/>
          <a:p>
            <a:pPr algn="l">
              <a:spcBef>
                <a:spcPts val="0"/>
              </a:spcBef>
              <a:spcAft>
                <a:spcPts val="0"/>
              </a:spcAft>
            </a:pPr>
            <a:r>
              <a:rPr sz="1150" b="1" i="0">
                <a:solidFill>
                  <a:srgbClr val="CADCFC"/>
                </a:solidFill>
                <a:latin typeface="Calibri"/>
              </a:rPr>
              <a:t>HIGH</a:t>
            </a:r>
          </a:p>
        </p:txBody>
      </p:sp>
      <p:sp>
        <p:nvSpPr>
          <p:cNvPr id="15" name="TextBox 14"/>
          <p:cNvSpPr txBox="1"/>
          <p:nvPr/>
        </p:nvSpPr>
        <p:spPr>
          <a:xfrm>
            <a:off x="8503920" y="2112263"/>
            <a:ext cx="2971800" cy="457200"/>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FFFFFF"/>
                </a:solidFill>
                <a:latin typeface="Calibri"/>
              </a:rPr>
              <a:t>both agree and XGBoost confidence &gt; 0.80</a:t>
            </a:r>
          </a:p>
        </p:txBody>
      </p:sp>
      <p:sp>
        <p:nvSpPr>
          <p:cNvPr id="16" name="TextBox 15"/>
          <p:cNvSpPr txBox="1"/>
          <p:nvPr/>
        </p:nvSpPr>
        <p:spPr>
          <a:xfrm>
            <a:off x="6812280" y="2724912"/>
            <a:ext cx="1600200" cy="237744"/>
          </a:xfrm>
          <a:prstGeom prst="rect">
            <a:avLst/>
          </a:prstGeom>
          <a:noFill/>
        </p:spPr>
        <p:txBody>
          <a:bodyPr wrap="square" lIns="0" rIns="0" tIns="0" bIns="0" anchor="t">
            <a:spAutoFit/>
          </a:bodyPr>
          <a:lstStyle/>
          <a:p>
            <a:pPr algn="l">
              <a:spcBef>
                <a:spcPts val="0"/>
              </a:spcBef>
              <a:spcAft>
                <a:spcPts val="0"/>
              </a:spcAft>
            </a:pPr>
            <a:r>
              <a:rPr sz="1150" b="1" i="0">
                <a:solidFill>
                  <a:srgbClr val="CADCFC"/>
                </a:solidFill>
                <a:latin typeface="Calibri"/>
              </a:rPr>
              <a:t>MEDIUM</a:t>
            </a:r>
          </a:p>
        </p:txBody>
      </p:sp>
      <p:sp>
        <p:nvSpPr>
          <p:cNvPr id="17" name="TextBox 16"/>
          <p:cNvSpPr txBox="1"/>
          <p:nvPr/>
        </p:nvSpPr>
        <p:spPr>
          <a:xfrm>
            <a:off x="8503920" y="2734056"/>
            <a:ext cx="2971800" cy="457200"/>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FFFFFF"/>
                </a:solidFill>
                <a:latin typeface="Calibri"/>
              </a:rPr>
              <a:t>both agree, lower confidence</a:t>
            </a:r>
          </a:p>
        </p:txBody>
      </p:sp>
      <p:sp>
        <p:nvSpPr>
          <p:cNvPr id="18" name="TextBox 17"/>
          <p:cNvSpPr txBox="1"/>
          <p:nvPr/>
        </p:nvSpPr>
        <p:spPr>
          <a:xfrm>
            <a:off x="6812280" y="3346704"/>
            <a:ext cx="1600200" cy="237744"/>
          </a:xfrm>
          <a:prstGeom prst="rect">
            <a:avLst/>
          </a:prstGeom>
          <a:noFill/>
        </p:spPr>
        <p:txBody>
          <a:bodyPr wrap="square" lIns="0" rIns="0" tIns="0" bIns="0" anchor="t">
            <a:spAutoFit/>
          </a:bodyPr>
          <a:lstStyle/>
          <a:p>
            <a:pPr algn="l">
              <a:spcBef>
                <a:spcPts val="0"/>
              </a:spcBef>
              <a:spcAft>
                <a:spcPts val="0"/>
              </a:spcAft>
            </a:pPr>
            <a:r>
              <a:rPr sz="1150" b="1" i="0">
                <a:solidFill>
                  <a:srgbClr val="CADCFC"/>
                </a:solidFill>
                <a:latin typeface="Calibri"/>
              </a:rPr>
              <a:t>LLM_ONLY</a:t>
            </a:r>
          </a:p>
        </p:txBody>
      </p:sp>
      <p:sp>
        <p:nvSpPr>
          <p:cNvPr id="19" name="TextBox 18"/>
          <p:cNvSpPr txBox="1"/>
          <p:nvPr/>
        </p:nvSpPr>
        <p:spPr>
          <a:xfrm>
            <a:off x="8503920" y="3355848"/>
            <a:ext cx="2971800" cy="457200"/>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FFFFFF"/>
                </a:solidFill>
                <a:latin typeface="Calibri"/>
              </a:rPr>
              <a:t>XGBoost unavailable — the LLM label stands</a:t>
            </a:r>
          </a:p>
        </p:txBody>
      </p:sp>
      <p:sp>
        <p:nvSpPr>
          <p:cNvPr id="20" name="TextBox 19"/>
          <p:cNvSpPr txBox="1"/>
          <p:nvPr/>
        </p:nvSpPr>
        <p:spPr>
          <a:xfrm>
            <a:off x="6812280" y="3968496"/>
            <a:ext cx="1600200" cy="237744"/>
          </a:xfrm>
          <a:prstGeom prst="rect">
            <a:avLst/>
          </a:prstGeom>
          <a:noFill/>
        </p:spPr>
        <p:txBody>
          <a:bodyPr wrap="square" lIns="0" rIns="0" tIns="0" bIns="0" anchor="t">
            <a:spAutoFit/>
          </a:bodyPr>
          <a:lstStyle/>
          <a:p>
            <a:pPr algn="l">
              <a:spcBef>
                <a:spcPts val="0"/>
              </a:spcBef>
              <a:spcAft>
                <a:spcPts val="0"/>
              </a:spcAft>
            </a:pPr>
            <a:r>
              <a:rPr sz="1150" b="1" i="0">
                <a:solidFill>
                  <a:srgbClr val="CADCFC"/>
                </a:solidFill>
                <a:latin typeface="Calibri"/>
              </a:rPr>
              <a:t>RESOLVE</a:t>
            </a:r>
          </a:p>
        </p:txBody>
      </p:sp>
      <p:sp>
        <p:nvSpPr>
          <p:cNvPr id="21" name="TextBox 20"/>
          <p:cNvSpPr txBox="1"/>
          <p:nvPr/>
        </p:nvSpPr>
        <p:spPr>
          <a:xfrm>
            <a:off x="8503920" y="3977639"/>
            <a:ext cx="2971800" cy="457200"/>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FFFFFF"/>
                </a:solidFill>
                <a:latin typeface="Calibri"/>
              </a:rPr>
              <a:t>they disagree — a second LLM call breaks the tie</a:t>
            </a:r>
          </a:p>
        </p:txBody>
      </p:sp>
      <p:sp>
        <p:nvSpPr>
          <p:cNvPr id="22" name="TextBox 21"/>
          <p:cNvSpPr txBox="1"/>
          <p:nvPr/>
        </p:nvSpPr>
        <p:spPr>
          <a:xfrm>
            <a:off x="6812280" y="4279392"/>
            <a:ext cx="4663440" cy="274320"/>
          </a:xfrm>
          <a:prstGeom prst="rect">
            <a:avLst/>
          </a:prstGeom>
          <a:noFill/>
        </p:spPr>
        <p:txBody>
          <a:bodyPr wrap="square" lIns="0" rIns="0" tIns="0" bIns="0" anchor="t">
            <a:spAutoFit/>
          </a:bodyPr>
          <a:lstStyle/>
          <a:p>
            <a:pPr algn="l">
              <a:lnSpc>
                <a:spcPct val="112000"/>
              </a:lnSpc>
              <a:spcBef>
                <a:spcPts val="0"/>
              </a:spcBef>
              <a:spcAft>
                <a:spcPts val="0"/>
              </a:spcAft>
            </a:pPr>
            <a:r>
              <a:rPr sz="950" b="0" i="1">
                <a:solidFill>
                  <a:srgbClr val="CADCFC"/>
                </a:solidFill>
                <a:latin typeface="Calibri"/>
              </a:rPr>
              <a:t>Labels are canonicalised before comparison, so "Repair Services." is not a disagreement.</a:t>
            </a:r>
          </a:p>
        </p:txBody>
      </p:sp>
      <p:sp>
        <p:nvSpPr>
          <p:cNvPr id="23" name="Rounded Rectangle 22"/>
          <p:cNvSpPr/>
          <p:nvPr/>
        </p:nvSpPr>
        <p:spPr>
          <a:xfrm>
            <a:off x="457200" y="4828032"/>
            <a:ext cx="11274552" cy="102412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 y="5029200"/>
            <a:ext cx="2377440" cy="457200"/>
          </a:xfrm>
          <a:prstGeom prst="rect">
            <a:avLst/>
          </a:prstGeom>
          <a:noFill/>
        </p:spPr>
        <p:txBody>
          <a:bodyPr wrap="square" lIns="0" rIns="0" tIns="0" bIns="0" anchor="t">
            <a:spAutoFit/>
          </a:bodyPr>
          <a:lstStyle/>
          <a:p>
            <a:pPr algn="l">
              <a:spcBef>
                <a:spcPts val="0"/>
              </a:spcBef>
              <a:spcAft>
                <a:spcPts val="0"/>
              </a:spcAft>
            </a:pPr>
            <a:r>
              <a:rPr sz="2700" b="1" i="0">
                <a:solidFill>
                  <a:srgbClr val="1E2761"/>
                </a:solidFill>
                <a:latin typeface="Cambria"/>
              </a:rPr>
              <a:t>884</a:t>
            </a:r>
          </a:p>
        </p:txBody>
      </p:sp>
      <p:sp>
        <p:nvSpPr>
          <p:cNvPr id="25" name="TextBox 24"/>
          <p:cNvSpPr txBox="1"/>
          <p:nvPr/>
        </p:nvSpPr>
        <p:spPr>
          <a:xfrm>
            <a:off x="777240" y="5504688"/>
            <a:ext cx="274320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endpoint calls, not 4,330</a:t>
            </a:r>
          </a:p>
        </p:txBody>
      </p:sp>
      <p:sp>
        <p:nvSpPr>
          <p:cNvPr id="26" name="TextBox 25"/>
          <p:cNvSpPr txBox="1"/>
          <p:nvPr/>
        </p:nvSpPr>
        <p:spPr>
          <a:xfrm>
            <a:off x="3931920" y="5074920"/>
            <a:ext cx="7498079" cy="640080"/>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5A6472"/>
                </a:solidFill>
                <a:latin typeface="Calibri"/>
              </a:rPr>
              <a:t>Both sub-models are pure functions of description and vendor, and the feed is extremely repetitive — 7,281 lines carry only 402 distinct descriptions. The task classifies the distinct keys once and joins the answer back, for 20.4% of the calls and identical output.</a:t>
            </a:r>
          </a:p>
        </p:txBody>
      </p:sp>
      <p:sp>
        <p:nvSpPr>
          <p:cNvPr id="27" name="TextBox 26"/>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28" name="TextBox 27"/>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Choosing the Model Behind Task 3.2</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Eight candidates from the Foundation Model APIs, and why each is on the list</a:t>
            </a:r>
          </a:p>
        </p:txBody>
      </p:sp>
      <p:sp>
        <p:nvSpPr>
          <p:cNvPr id="4" name="TextBox 3"/>
          <p:cNvSpPr txBox="1"/>
          <p:nvPr/>
        </p:nvSpPr>
        <p:spPr>
          <a:xfrm>
            <a:off x="475488" y="1389888"/>
            <a:ext cx="393192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ENDPOINT</a:t>
            </a:r>
          </a:p>
        </p:txBody>
      </p:sp>
      <p:sp>
        <p:nvSpPr>
          <p:cNvPr id="5" name="TextBox 4"/>
          <p:cNvSpPr txBox="1"/>
          <p:nvPr/>
        </p:nvSpPr>
        <p:spPr>
          <a:xfrm>
            <a:off x="4526280" y="1389888"/>
            <a:ext cx="288036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WHAT IT IS</a:t>
            </a:r>
          </a:p>
        </p:txBody>
      </p:sp>
      <p:sp>
        <p:nvSpPr>
          <p:cNvPr id="6" name="TextBox 5"/>
          <p:cNvSpPr txBox="1"/>
          <p:nvPr/>
        </p:nvSpPr>
        <p:spPr>
          <a:xfrm>
            <a:off x="7498079" y="1389888"/>
            <a:ext cx="4233672"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WHY IT IS A CANDIDATE</a:t>
            </a:r>
          </a:p>
        </p:txBody>
      </p:sp>
      <p:sp>
        <p:nvSpPr>
          <p:cNvPr id="7" name="Rectangle 6"/>
          <p:cNvSpPr/>
          <p:nvPr/>
        </p:nvSpPr>
        <p:spPr>
          <a:xfrm>
            <a:off x="475488" y="1664208"/>
            <a:ext cx="11256264" cy="9525"/>
          </a:xfrm>
          <a:prstGeom prst="rect">
            <a:avLst/>
          </a:prstGeom>
          <a:solidFill>
            <a:srgbClr val="D6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755648"/>
            <a:ext cx="11439144" cy="475488"/>
          </a:xfrm>
          <a:prstGeom prst="roundRect">
            <a:avLst>
              <a:gd name="adj" fmla="val 12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810512"/>
            <a:ext cx="3931920" cy="237744"/>
          </a:xfrm>
          <a:prstGeom prst="rect">
            <a:avLst/>
          </a:prstGeom>
          <a:noFill/>
        </p:spPr>
        <p:txBody>
          <a:bodyPr wrap="square" lIns="0" rIns="0" tIns="0" bIns="0" anchor="t">
            <a:spAutoFit/>
          </a:bodyPr>
          <a:lstStyle/>
          <a:p>
            <a:pPr algn="l">
              <a:spcBef>
                <a:spcPts val="0"/>
              </a:spcBef>
              <a:spcAft>
                <a:spcPts val="0"/>
              </a:spcAft>
            </a:pPr>
            <a:r>
              <a:rPr sz="950" b="1" i="0">
                <a:solidFill>
                  <a:srgbClr val="1E2761"/>
                </a:solidFill>
                <a:latin typeface="Courier New"/>
              </a:rPr>
              <a:t>databricks-meta-llama-3-3-70b-instruct</a:t>
            </a:r>
          </a:p>
        </p:txBody>
      </p:sp>
      <p:sp>
        <p:nvSpPr>
          <p:cNvPr id="10" name="TextBox 9"/>
          <p:cNvSpPr txBox="1"/>
          <p:nvPr/>
        </p:nvSpPr>
        <p:spPr>
          <a:xfrm>
            <a:off x="4526280" y="1810512"/>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Meta · 70B · 128K</a:t>
            </a:r>
          </a:p>
        </p:txBody>
      </p:sp>
      <p:sp>
        <p:nvSpPr>
          <p:cNvPr id="11" name="TextBox 10"/>
          <p:cNvSpPr txBox="1"/>
          <p:nvPr/>
        </p:nvSpPr>
        <p:spPr>
          <a:xfrm>
            <a:off x="7498079" y="1810512"/>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The incumbent. Everything else is measured against it.</a:t>
            </a:r>
          </a:p>
        </p:txBody>
      </p:sp>
      <p:sp>
        <p:nvSpPr>
          <p:cNvPr id="12" name="TextBox 11"/>
          <p:cNvSpPr txBox="1"/>
          <p:nvPr/>
        </p:nvSpPr>
        <p:spPr>
          <a:xfrm>
            <a:off x="475488" y="2286000"/>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databricks-meta-llama-3-1-8b-instruct</a:t>
            </a:r>
          </a:p>
        </p:txBody>
      </p:sp>
      <p:sp>
        <p:nvSpPr>
          <p:cNvPr id="13" name="TextBox 12"/>
          <p:cNvSpPr txBox="1"/>
          <p:nvPr/>
        </p:nvSpPr>
        <p:spPr>
          <a:xfrm>
            <a:off x="4526280" y="2286000"/>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Meta · 8B · 128K</a:t>
            </a:r>
          </a:p>
        </p:txBody>
      </p:sp>
      <p:sp>
        <p:nvSpPr>
          <p:cNvPr id="14" name="TextBox 13"/>
          <p:cNvSpPr txBox="1"/>
          <p:nvPr/>
        </p:nvSpPr>
        <p:spPr>
          <a:xfrm>
            <a:off x="7498079" y="2286000"/>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The cost floor. If 8B holds up, 70B is overspend on a 60-label task.</a:t>
            </a:r>
          </a:p>
        </p:txBody>
      </p:sp>
      <p:sp>
        <p:nvSpPr>
          <p:cNvPr id="15" name="TextBox 14"/>
          <p:cNvSpPr txBox="1"/>
          <p:nvPr/>
        </p:nvSpPr>
        <p:spPr>
          <a:xfrm>
            <a:off x="475488" y="2761488"/>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databricks-gpt-oss-20b</a:t>
            </a:r>
          </a:p>
        </p:txBody>
      </p:sp>
      <p:sp>
        <p:nvSpPr>
          <p:cNvPr id="16" name="TextBox 15"/>
          <p:cNvSpPr txBox="1"/>
          <p:nvPr/>
        </p:nvSpPr>
        <p:spPr>
          <a:xfrm>
            <a:off x="4526280" y="2761488"/>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OpenAI · open weight</a:t>
            </a:r>
          </a:p>
        </p:txBody>
      </p:sp>
      <p:sp>
        <p:nvSpPr>
          <p:cNvPr id="17" name="TextBox 16"/>
          <p:cNvSpPr txBox="1"/>
          <p:nvPr/>
        </p:nvSpPr>
        <p:spPr>
          <a:xfrm>
            <a:off x="7498079" y="2761488"/>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Built for batch inference and real-time copilots — this workload's shape.</a:t>
            </a:r>
          </a:p>
        </p:txBody>
      </p:sp>
      <p:sp>
        <p:nvSpPr>
          <p:cNvPr id="18" name="TextBox 17"/>
          <p:cNvSpPr txBox="1"/>
          <p:nvPr/>
        </p:nvSpPr>
        <p:spPr>
          <a:xfrm>
            <a:off x="475488" y="3236976"/>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databricks-gpt-oss-120b</a:t>
            </a:r>
          </a:p>
        </p:txBody>
      </p:sp>
      <p:sp>
        <p:nvSpPr>
          <p:cNvPr id="19" name="TextBox 18"/>
          <p:cNvSpPr txBox="1"/>
          <p:nvPr/>
        </p:nvSpPr>
        <p:spPr>
          <a:xfrm>
            <a:off x="4526280" y="3236976"/>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OpenAI · open weight · 128K</a:t>
            </a:r>
          </a:p>
        </p:txBody>
      </p:sp>
      <p:sp>
        <p:nvSpPr>
          <p:cNvPr id="20" name="TextBox 19"/>
          <p:cNvSpPr txBox="1"/>
          <p:nvPr/>
        </p:nvSpPr>
        <p:spPr>
          <a:xfrm>
            <a:off x="7498079" y="3236976"/>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Adjustable reasoning effort, so quality and cost are one dial.</a:t>
            </a:r>
          </a:p>
        </p:txBody>
      </p:sp>
      <p:sp>
        <p:nvSpPr>
          <p:cNvPr id="21" name="TextBox 20"/>
          <p:cNvSpPr txBox="1"/>
          <p:nvPr/>
        </p:nvSpPr>
        <p:spPr>
          <a:xfrm>
            <a:off x="475488" y="3712464"/>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databricks-qwen3-next-80b-a3b-instruct</a:t>
            </a:r>
          </a:p>
        </p:txBody>
      </p:sp>
      <p:sp>
        <p:nvSpPr>
          <p:cNvPr id="22" name="TextBox 21"/>
          <p:cNvSpPr txBox="1"/>
          <p:nvPr/>
        </p:nvSpPr>
        <p:spPr>
          <a:xfrm>
            <a:off x="4526280" y="3712464"/>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Alibaba · MoE · preview</a:t>
            </a:r>
          </a:p>
        </p:txBody>
      </p:sp>
      <p:sp>
        <p:nvSpPr>
          <p:cNvPr id="23" name="TextBox 22"/>
          <p:cNvSpPr txBox="1"/>
          <p:nvPr/>
        </p:nvSpPr>
        <p:spPr>
          <a:xfrm>
            <a:off x="7498079" y="3712464"/>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Documented for deterministic outputs at high throughput — what a label task needs.</a:t>
            </a:r>
          </a:p>
        </p:txBody>
      </p:sp>
      <p:sp>
        <p:nvSpPr>
          <p:cNvPr id="24" name="TextBox 23"/>
          <p:cNvSpPr txBox="1"/>
          <p:nvPr/>
        </p:nvSpPr>
        <p:spPr>
          <a:xfrm>
            <a:off x="475488" y="4187952"/>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databricks-claude-haiku-4-5</a:t>
            </a:r>
          </a:p>
        </p:txBody>
      </p:sp>
      <p:sp>
        <p:nvSpPr>
          <p:cNvPr id="25" name="TextBox 24"/>
          <p:cNvSpPr txBox="1"/>
          <p:nvPr/>
        </p:nvSpPr>
        <p:spPr>
          <a:xfrm>
            <a:off x="4526280" y="4187952"/>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Anthropic · fast tier</a:t>
            </a:r>
          </a:p>
        </p:txBody>
      </p:sp>
      <p:sp>
        <p:nvSpPr>
          <p:cNvPr id="26" name="TextBox 25"/>
          <p:cNvSpPr txBox="1"/>
          <p:nvPr/>
        </p:nvSpPr>
        <p:spPr>
          <a:xfrm>
            <a:off x="7498079" y="4187952"/>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Frontier-family quality at the low-latency price point. Already named in this deck.</a:t>
            </a:r>
          </a:p>
        </p:txBody>
      </p:sp>
      <p:sp>
        <p:nvSpPr>
          <p:cNvPr id="27" name="TextBox 26"/>
          <p:cNvSpPr txBox="1"/>
          <p:nvPr/>
        </p:nvSpPr>
        <p:spPr>
          <a:xfrm>
            <a:off x="475488" y="4663440"/>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databricks-gemini-3-5-flash-lite</a:t>
            </a:r>
          </a:p>
        </p:txBody>
      </p:sp>
      <p:sp>
        <p:nvSpPr>
          <p:cNvPr id="28" name="TextBox 27"/>
          <p:cNvSpPr txBox="1"/>
          <p:nvPr/>
        </p:nvSpPr>
        <p:spPr>
          <a:xfrm>
            <a:off x="4526280" y="4663440"/>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Google · cost tier</a:t>
            </a:r>
          </a:p>
        </p:txBody>
      </p:sp>
      <p:sp>
        <p:nvSpPr>
          <p:cNvPr id="29" name="TextBox 28"/>
          <p:cNvSpPr txBox="1"/>
          <p:nvPr/>
        </p:nvSpPr>
        <p:spPr>
          <a:xfrm>
            <a:off x="7498079" y="4663440"/>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The cheapest high-throughput multimodal option. Global endpoint — needs cross-geo routing.</a:t>
            </a:r>
          </a:p>
        </p:txBody>
      </p:sp>
      <p:sp>
        <p:nvSpPr>
          <p:cNvPr id="30" name="TextBox 29"/>
          <p:cNvSpPr txBox="1"/>
          <p:nvPr/>
        </p:nvSpPr>
        <p:spPr>
          <a:xfrm>
            <a:off x="475488" y="5138927"/>
            <a:ext cx="3931920" cy="237744"/>
          </a:xfrm>
          <a:prstGeom prst="rect">
            <a:avLst/>
          </a:prstGeom>
          <a:noFill/>
        </p:spPr>
        <p:txBody>
          <a:bodyPr wrap="square" lIns="0" rIns="0" tIns="0" bIns="0" anchor="t">
            <a:spAutoFit/>
          </a:bodyPr>
          <a:lstStyle/>
          <a:p>
            <a:pPr algn="l">
              <a:spcBef>
                <a:spcPts val="0"/>
              </a:spcBef>
              <a:spcAft>
                <a:spcPts val="0"/>
              </a:spcAft>
            </a:pPr>
            <a:r>
              <a:rPr sz="950" b="0" i="0">
                <a:solidFill>
                  <a:srgbClr val="1A1A2E"/>
                </a:solidFill>
                <a:latin typeface="Courier New"/>
              </a:rPr>
              <a:t>databricks-claude-sonnet-4-6</a:t>
            </a:r>
          </a:p>
        </p:txBody>
      </p:sp>
      <p:sp>
        <p:nvSpPr>
          <p:cNvPr id="31" name="TextBox 30"/>
          <p:cNvSpPr txBox="1"/>
          <p:nvPr/>
        </p:nvSpPr>
        <p:spPr>
          <a:xfrm>
            <a:off x="4526280" y="5138927"/>
            <a:ext cx="2880360"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Anthropic · hybrid reasoning</a:t>
            </a:r>
          </a:p>
        </p:txBody>
      </p:sp>
      <p:sp>
        <p:nvSpPr>
          <p:cNvPr id="32" name="TextBox 31"/>
          <p:cNvSpPr txBox="1"/>
          <p:nvPr/>
        </p:nvSpPr>
        <p:spPr>
          <a:xfrm>
            <a:off x="7498079" y="5138927"/>
            <a:ext cx="4233672" cy="237744"/>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The quality ceiling. Establishes whether the gap is worth paying for at all.</a:t>
            </a:r>
          </a:p>
        </p:txBody>
      </p:sp>
      <p:sp>
        <p:nvSpPr>
          <p:cNvPr id="33" name="Rounded Rectangle 32"/>
          <p:cNvSpPr/>
          <p:nvPr/>
        </p:nvSpPr>
        <p:spPr>
          <a:xfrm>
            <a:off x="457200" y="5687568"/>
            <a:ext cx="11274552" cy="658368"/>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833872"/>
            <a:ext cx="10698480" cy="402336"/>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CADCFC"/>
                </a:solidFill>
                <a:latin typeface="Calibri"/>
              </a:rPr>
              <a:t>Excluded on purpose: image-generation models, which ai_query does not support; reasoning-only models that cannot skip thinking, since a one-word label does not warrant it; and Claude Sonnet 5, which rejects the temperature and top_p parameters ai_query passes.</a:t>
            </a:r>
          </a:p>
        </p:txBody>
      </p:sp>
      <p:sp>
        <p:nvSpPr>
          <p:cNvPr id="35" name="TextBox 34"/>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6" name="TextBox 35"/>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spAutoFit/>
          </a:bodyPr>
          <a:lstStyle/>
          <a:p>
            <a:pPr algn="l">
              <a:spcAft>
                <a:spcPts val="0"/>
              </a:spcAft>
            </a:pPr>
            <a:r>
              <a:rPr sz="3200" b="1" i="0">
                <a:solidFill>
                  <a:srgbClr val="1E2761"/>
                </a:solidFill>
                <a:latin typeface="Cambria"/>
              </a:rPr>
              <a:t>Llama 3.3 70B vs GPT-OSS</a:t>
            </a:r>
          </a:p>
        </p:txBody>
      </p:sp>
      <p:sp>
        <p:nvSpPr>
          <p:cNvPr id="3" name="TextBox 2"/>
          <p:cNvSpPr txBox="1"/>
          <p:nvPr/>
        </p:nvSpPr>
        <p:spPr>
          <a:xfrm>
            <a:off x="457200" y="914400"/>
            <a:ext cx="11338560" cy="310896"/>
          </a:xfrm>
          <a:prstGeom prst="rect">
            <a:avLst/>
          </a:prstGeom>
          <a:noFill/>
        </p:spPr>
        <p:txBody>
          <a:bodyPr wrap="square" lIns="0" rIns="0" tIns="0" bIns="0">
            <a:spAutoFit/>
          </a:bodyPr>
          <a:lstStyle/>
          <a:p>
            <a:pPr algn="l">
              <a:spcAft>
                <a:spcPts val="0"/>
              </a:spcAft>
            </a:pPr>
            <a:r>
              <a:rPr sz="1350" b="0" i="1">
                <a:solidFill>
                  <a:srgbClr val="5A6472"/>
                </a:solidFill>
                <a:latin typeface="Calibri"/>
              </a:rPr>
              <a:t>Published benchmarks — and which of them actually predict performance on a 60-label classification task</a:t>
            </a:r>
          </a:p>
        </p:txBody>
      </p:sp>
      <p:sp>
        <p:nvSpPr>
          <p:cNvPr id="4" name="Rounded Rectangle 3"/>
          <p:cNvSpPr/>
          <p:nvPr/>
        </p:nvSpPr>
        <p:spPr>
          <a:xfrm>
            <a:off x="457200" y="1353312"/>
            <a:ext cx="6720840" cy="3675887"/>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554480"/>
            <a:ext cx="2103120" cy="219456"/>
          </a:xfrm>
          <a:prstGeom prst="rect">
            <a:avLst/>
          </a:prstGeom>
          <a:noFill/>
        </p:spPr>
        <p:txBody>
          <a:bodyPr wrap="square" lIns="0" rIns="0" tIns="0" bIns="0">
            <a:spAutoFit/>
          </a:bodyPr>
          <a:lstStyle/>
          <a:p>
            <a:pPr algn="l">
              <a:spcAft>
                <a:spcPts val="0"/>
              </a:spcAft>
            </a:pPr>
            <a:r>
              <a:rPr sz="800" b="1" i="0">
                <a:solidFill>
                  <a:srgbClr val="3D5A80"/>
                </a:solidFill>
                <a:latin typeface="Calibri"/>
              </a:rPr>
              <a:t/>
            </a:r>
          </a:p>
        </p:txBody>
      </p:sp>
      <p:sp>
        <p:nvSpPr>
          <p:cNvPr id="6" name="TextBox 5"/>
          <p:cNvSpPr txBox="1"/>
          <p:nvPr/>
        </p:nvSpPr>
        <p:spPr>
          <a:xfrm>
            <a:off x="2926080" y="1554480"/>
            <a:ext cx="1417320" cy="219456"/>
          </a:xfrm>
          <a:prstGeom prst="rect">
            <a:avLst/>
          </a:prstGeom>
          <a:noFill/>
        </p:spPr>
        <p:txBody>
          <a:bodyPr wrap="square" lIns="0" rIns="0" tIns="0" bIns="0">
            <a:spAutoFit/>
          </a:bodyPr>
          <a:lstStyle/>
          <a:p>
            <a:pPr algn="l">
              <a:spcAft>
                <a:spcPts val="0"/>
              </a:spcAft>
            </a:pPr>
            <a:r>
              <a:rPr sz="800" b="1" i="0">
                <a:solidFill>
                  <a:srgbClr val="3D5A80"/>
                </a:solidFill>
                <a:latin typeface="Calibri"/>
              </a:rPr>
              <a:t>LLAMA 3.3 70B</a:t>
            </a:r>
          </a:p>
        </p:txBody>
      </p:sp>
      <p:sp>
        <p:nvSpPr>
          <p:cNvPr id="7" name="TextBox 6"/>
          <p:cNvSpPr txBox="1"/>
          <p:nvPr/>
        </p:nvSpPr>
        <p:spPr>
          <a:xfrm>
            <a:off x="4434840" y="1554480"/>
            <a:ext cx="1325880" cy="219456"/>
          </a:xfrm>
          <a:prstGeom prst="rect">
            <a:avLst/>
          </a:prstGeom>
          <a:noFill/>
        </p:spPr>
        <p:txBody>
          <a:bodyPr wrap="square" lIns="0" rIns="0" tIns="0" bIns="0">
            <a:spAutoFit/>
          </a:bodyPr>
          <a:lstStyle/>
          <a:p>
            <a:pPr algn="l">
              <a:spcAft>
                <a:spcPts val="0"/>
              </a:spcAft>
            </a:pPr>
            <a:r>
              <a:rPr sz="800" b="1" i="0">
                <a:solidFill>
                  <a:srgbClr val="3D5A80"/>
                </a:solidFill>
                <a:latin typeface="Calibri"/>
              </a:rPr>
              <a:t>GPT-OSS 120B</a:t>
            </a:r>
          </a:p>
        </p:txBody>
      </p:sp>
      <p:sp>
        <p:nvSpPr>
          <p:cNvPr id="8" name="TextBox 7"/>
          <p:cNvSpPr txBox="1"/>
          <p:nvPr/>
        </p:nvSpPr>
        <p:spPr>
          <a:xfrm>
            <a:off x="5806440" y="1554480"/>
            <a:ext cx="1234440" cy="219456"/>
          </a:xfrm>
          <a:prstGeom prst="rect">
            <a:avLst/>
          </a:prstGeom>
          <a:noFill/>
        </p:spPr>
        <p:txBody>
          <a:bodyPr wrap="square" lIns="0" rIns="0" tIns="0" bIns="0">
            <a:spAutoFit/>
          </a:bodyPr>
          <a:lstStyle/>
          <a:p>
            <a:pPr algn="l">
              <a:spcAft>
                <a:spcPts val="0"/>
              </a:spcAft>
            </a:pPr>
            <a:r>
              <a:rPr sz="800" b="1" i="0">
                <a:solidFill>
                  <a:srgbClr val="3D5A80"/>
                </a:solidFill>
                <a:latin typeface="Calibri"/>
              </a:rPr>
              <a:t>GPT-OSS 20B</a:t>
            </a:r>
          </a:p>
        </p:txBody>
      </p:sp>
      <p:sp>
        <p:nvSpPr>
          <p:cNvPr id="9" name="Rectangle 8"/>
          <p:cNvSpPr/>
          <p:nvPr/>
        </p:nvSpPr>
        <p:spPr>
          <a:xfrm>
            <a:off x="713232" y="1810512"/>
            <a:ext cx="6208776" cy="9525"/>
          </a:xfrm>
          <a:prstGeom prst="rect">
            <a:avLst/>
          </a:prstGeom>
          <a:solidFill>
            <a:srgbClr val="D6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38528"/>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Architecture</a:t>
            </a:r>
          </a:p>
        </p:txBody>
      </p:sp>
      <p:sp>
        <p:nvSpPr>
          <p:cNvPr id="11" name="TextBox 10"/>
          <p:cNvSpPr txBox="1"/>
          <p:nvPr/>
        </p:nvSpPr>
        <p:spPr>
          <a:xfrm>
            <a:off x="2926080" y="1938528"/>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Dense, instruct</a:t>
            </a:r>
          </a:p>
        </p:txBody>
      </p:sp>
      <p:sp>
        <p:nvSpPr>
          <p:cNvPr id="12" name="TextBox 11"/>
          <p:cNvSpPr txBox="1"/>
          <p:nvPr/>
        </p:nvSpPr>
        <p:spPr>
          <a:xfrm>
            <a:off x="4434840" y="1938528"/>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MoE, reasoning</a:t>
            </a:r>
          </a:p>
        </p:txBody>
      </p:sp>
      <p:sp>
        <p:nvSpPr>
          <p:cNvPr id="13" name="TextBox 12"/>
          <p:cNvSpPr txBox="1"/>
          <p:nvPr/>
        </p:nvSpPr>
        <p:spPr>
          <a:xfrm>
            <a:off x="5806440" y="1938528"/>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MoE, reasoning</a:t>
            </a:r>
          </a:p>
        </p:txBody>
      </p:sp>
      <p:sp>
        <p:nvSpPr>
          <p:cNvPr id="14" name="TextBox 13"/>
          <p:cNvSpPr txBox="1"/>
          <p:nvPr/>
        </p:nvSpPr>
        <p:spPr>
          <a:xfrm>
            <a:off x="713232" y="2295144"/>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Context</a:t>
            </a:r>
          </a:p>
        </p:txBody>
      </p:sp>
      <p:sp>
        <p:nvSpPr>
          <p:cNvPr id="15" name="TextBox 14"/>
          <p:cNvSpPr txBox="1"/>
          <p:nvPr/>
        </p:nvSpPr>
        <p:spPr>
          <a:xfrm>
            <a:off x="2926080" y="2295144"/>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128K</a:t>
            </a:r>
          </a:p>
        </p:txBody>
      </p:sp>
      <p:sp>
        <p:nvSpPr>
          <p:cNvPr id="16" name="TextBox 15"/>
          <p:cNvSpPr txBox="1"/>
          <p:nvPr/>
        </p:nvSpPr>
        <p:spPr>
          <a:xfrm>
            <a:off x="4434840" y="2295144"/>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128K</a:t>
            </a:r>
          </a:p>
        </p:txBody>
      </p:sp>
      <p:sp>
        <p:nvSpPr>
          <p:cNvPr id="17" name="TextBox 16"/>
          <p:cNvSpPr txBox="1"/>
          <p:nvPr/>
        </p:nvSpPr>
        <p:spPr>
          <a:xfrm>
            <a:off x="5806440" y="2295144"/>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128K</a:t>
            </a:r>
          </a:p>
        </p:txBody>
      </p:sp>
      <p:sp>
        <p:nvSpPr>
          <p:cNvPr id="18" name="TextBox 17"/>
          <p:cNvSpPr txBox="1"/>
          <p:nvPr/>
        </p:nvSpPr>
        <p:spPr>
          <a:xfrm>
            <a:off x="713232" y="2651760"/>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Chain of thought</a:t>
            </a:r>
          </a:p>
        </p:txBody>
      </p:sp>
      <p:sp>
        <p:nvSpPr>
          <p:cNvPr id="19" name="TextBox 18"/>
          <p:cNvSpPr txBox="1"/>
          <p:nvPr/>
        </p:nvSpPr>
        <p:spPr>
          <a:xfrm>
            <a:off x="2926080" y="2651760"/>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none</a:t>
            </a:r>
          </a:p>
        </p:txBody>
      </p:sp>
      <p:sp>
        <p:nvSpPr>
          <p:cNvPr id="20" name="TextBox 19"/>
          <p:cNvSpPr txBox="1"/>
          <p:nvPr/>
        </p:nvSpPr>
        <p:spPr>
          <a:xfrm>
            <a:off x="4434840" y="2651760"/>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always</a:t>
            </a:r>
          </a:p>
        </p:txBody>
      </p:sp>
      <p:sp>
        <p:nvSpPr>
          <p:cNvPr id="21" name="TextBox 20"/>
          <p:cNvSpPr txBox="1"/>
          <p:nvPr/>
        </p:nvSpPr>
        <p:spPr>
          <a:xfrm>
            <a:off x="5806440" y="2651760"/>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always</a:t>
            </a:r>
          </a:p>
        </p:txBody>
      </p:sp>
      <p:sp>
        <p:nvSpPr>
          <p:cNvPr id="22" name="Rounded Rectangle 21"/>
          <p:cNvSpPr/>
          <p:nvPr/>
        </p:nvSpPr>
        <p:spPr>
          <a:xfrm>
            <a:off x="621792" y="2962656"/>
            <a:ext cx="6391656" cy="347472"/>
          </a:xfrm>
          <a:prstGeom prst="roundRect">
            <a:avLst>
              <a:gd name="adj" fmla="val 12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008376"/>
            <a:ext cx="2103120" cy="219456"/>
          </a:xfrm>
          <a:prstGeom prst="rect">
            <a:avLst/>
          </a:prstGeom>
          <a:noFill/>
        </p:spPr>
        <p:txBody>
          <a:bodyPr wrap="square" lIns="0" rIns="0" tIns="0" bIns="0">
            <a:spAutoFit/>
          </a:bodyPr>
          <a:lstStyle/>
          <a:p>
            <a:pPr algn="l">
              <a:spcAft>
                <a:spcPts val="0"/>
              </a:spcAft>
            </a:pPr>
            <a:r>
              <a:rPr sz="1000" b="1" i="0">
                <a:solidFill>
                  <a:srgbClr val="3D5A80"/>
                </a:solidFill>
                <a:latin typeface="Calibri"/>
              </a:rPr>
              <a:t>IFEval</a:t>
            </a:r>
          </a:p>
        </p:txBody>
      </p:sp>
      <p:sp>
        <p:nvSpPr>
          <p:cNvPr id="24" name="TextBox 23"/>
          <p:cNvSpPr txBox="1"/>
          <p:nvPr/>
        </p:nvSpPr>
        <p:spPr>
          <a:xfrm>
            <a:off x="2926080" y="3008376"/>
            <a:ext cx="1417320" cy="219456"/>
          </a:xfrm>
          <a:prstGeom prst="rect">
            <a:avLst/>
          </a:prstGeom>
          <a:noFill/>
        </p:spPr>
        <p:txBody>
          <a:bodyPr wrap="square" lIns="0" rIns="0" tIns="0" bIns="0">
            <a:spAutoFit/>
          </a:bodyPr>
          <a:lstStyle/>
          <a:p>
            <a:pPr algn="l">
              <a:spcAft>
                <a:spcPts val="0"/>
              </a:spcAft>
            </a:pPr>
            <a:r>
              <a:rPr sz="1000" b="1" i="0">
                <a:solidFill>
                  <a:srgbClr val="1E2761"/>
                </a:solidFill>
                <a:latin typeface="Calibri"/>
              </a:rPr>
              <a:t>92.1</a:t>
            </a:r>
          </a:p>
        </p:txBody>
      </p:sp>
      <p:sp>
        <p:nvSpPr>
          <p:cNvPr id="25" name="TextBox 24"/>
          <p:cNvSpPr txBox="1"/>
          <p:nvPr/>
        </p:nvSpPr>
        <p:spPr>
          <a:xfrm>
            <a:off x="4434840" y="3008376"/>
            <a:ext cx="1325880" cy="219456"/>
          </a:xfrm>
          <a:prstGeom prst="rect">
            <a:avLst/>
          </a:prstGeom>
          <a:noFill/>
        </p:spPr>
        <p:txBody>
          <a:bodyPr wrap="square" lIns="0" rIns="0" tIns="0" bIns="0">
            <a:spAutoFit/>
          </a:bodyPr>
          <a:lstStyle/>
          <a:p>
            <a:pPr algn="l">
              <a:spcAft>
                <a:spcPts val="0"/>
              </a:spcAft>
            </a:pPr>
            <a:r>
              <a:rPr sz="1000" b="0" i="1">
                <a:solidFill>
                  <a:srgbClr val="9AA3B2"/>
                </a:solidFill>
                <a:latin typeface="Calibri"/>
              </a:rPr>
              <a:t>not published</a:t>
            </a:r>
          </a:p>
        </p:txBody>
      </p:sp>
      <p:sp>
        <p:nvSpPr>
          <p:cNvPr id="26" name="TextBox 25"/>
          <p:cNvSpPr txBox="1"/>
          <p:nvPr/>
        </p:nvSpPr>
        <p:spPr>
          <a:xfrm>
            <a:off x="5806440" y="3008376"/>
            <a:ext cx="1234440" cy="219456"/>
          </a:xfrm>
          <a:prstGeom prst="rect">
            <a:avLst/>
          </a:prstGeom>
          <a:noFill/>
        </p:spPr>
        <p:txBody>
          <a:bodyPr wrap="square" lIns="0" rIns="0" tIns="0" bIns="0">
            <a:spAutoFit/>
          </a:bodyPr>
          <a:lstStyle/>
          <a:p>
            <a:pPr algn="l">
              <a:spcAft>
                <a:spcPts val="0"/>
              </a:spcAft>
            </a:pPr>
            <a:r>
              <a:rPr sz="1000" b="0" i="1">
                <a:solidFill>
                  <a:srgbClr val="9AA3B2"/>
                </a:solidFill>
                <a:latin typeface="Calibri"/>
              </a:rPr>
              <a:t>not published</a:t>
            </a:r>
          </a:p>
        </p:txBody>
      </p:sp>
      <p:sp>
        <p:nvSpPr>
          <p:cNvPr id="27" name="TextBox 26"/>
          <p:cNvSpPr txBox="1"/>
          <p:nvPr/>
        </p:nvSpPr>
        <p:spPr>
          <a:xfrm>
            <a:off x="713232" y="3364992"/>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MMLU</a:t>
            </a:r>
          </a:p>
        </p:txBody>
      </p:sp>
      <p:sp>
        <p:nvSpPr>
          <p:cNvPr id="28" name="TextBox 27"/>
          <p:cNvSpPr txBox="1"/>
          <p:nvPr/>
        </p:nvSpPr>
        <p:spPr>
          <a:xfrm>
            <a:off x="2926080" y="3364992"/>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86.0</a:t>
            </a:r>
          </a:p>
        </p:txBody>
      </p:sp>
      <p:sp>
        <p:nvSpPr>
          <p:cNvPr id="29" name="TextBox 28"/>
          <p:cNvSpPr txBox="1"/>
          <p:nvPr/>
        </p:nvSpPr>
        <p:spPr>
          <a:xfrm>
            <a:off x="4434840" y="3364992"/>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90</a:t>
            </a:r>
          </a:p>
        </p:txBody>
      </p:sp>
      <p:sp>
        <p:nvSpPr>
          <p:cNvPr id="30" name="TextBox 29"/>
          <p:cNvSpPr txBox="1"/>
          <p:nvPr/>
        </p:nvSpPr>
        <p:spPr>
          <a:xfrm>
            <a:off x="5806440" y="3364992"/>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85.3</a:t>
            </a:r>
          </a:p>
        </p:txBody>
      </p:sp>
      <p:sp>
        <p:nvSpPr>
          <p:cNvPr id="31" name="TextBox 30"/>
          <p:cNvSpPr txBox="1"/>
          <p:nvPr/>
        </p:nvSpPr>
        <p:spPr>
          <a:xfrm>
            <a:off x="713232" y="3721608"/>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GPQA Diamond</a:t>
            </a:r>
          </a:p>
        </p:txBody>
      </p:sp>
      <p:sp>
        <p:nvSpPr>
          <p:cNvPr id="32" name="TextBox 31"/>
          <p:cNvSpPr txBox="1"/>
          <p:nvPr/>
        </p:nvSpPr>
        <p:spPr>
          <a:xfrm>
            <a:off x="2926080" y="3721608"/>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50.5</a:t>
            </a:r>
          </a:p>
        </p:txBody>
      </p:sp>
      <p:sp>
        <p:nvSpPr>
          <p:cNvPr id="33" name="TextBox 32"/>
          <p:cNvSpPr txBox="1"/>
          <p:nvPr/>
        </p:nvSpPr>
        <p:spPr>
          <a:xfrm>
            <a:off x="4434840" y="3721608"/>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80.1</a:t>
            </a:r>
          </a:p>
        </p:txBody>
      </p:sp>
      <p:sp>
        <p:nvSpPr>
          <p:cNvPr id="34" name="TextBox 33"/>
          <p:cNvSpPr txBox="1"/>
          <p:nvPr/>
        </p:nvSpPr>
        <p:spPr>
          <a:xfrm>
            <a:off x="5806440" y="3721608"/>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71.5</a:t>
            </a:r>
          </a:p>
        </p:txBody>
      </p:sp>
      <p:sp>
        <p:nvSpPr>
          <p:cNvPr id="35" name="TextBox 34"/>
          <p:cNvSpPr txBox="1"/>
          <p:nvPr/>
        </p:nvSpPr>
        <p:spPr>
          <a:xfrm>
            <a:off x="713232" y="4078224"/>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Tool use (BFCL)</a:t>
            </a:r>
          </a:p>
        </p:txBody>
      </p:sp>
      <p:sp>
        <p:nvSpPr>
          <p:cNvPr id="36" name="TextBox 35"/>
          <p:cNvSpPr txBox="1"/>
          <p:nvPr/>
        </p:nvSpPr>
        <p:spPr>
          <a:xfrm>
            <a:off x="2926080" y="4078224"/>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77.3</a:t>
            </a:r>
          </a:p>
        </p:txBody>
      </p:sp>
      <p:sp>
        <p:nvSpPr>
          <p:cNvPr id="37" name="TextBox 36"/>
          <p:cNvSpPr txBox="1"/>
          <p:nvPr/>
        </p:nvSpPr>
        <p:spPr>
          <a:xfrm>
            <a:off x="4434840" y="4078224"/>
            <a:ext cx="1325880" cy="219456"/>
          </a:xfrm>
          <a:prstGeom prst="rect">
            <a:avLst/>
          </a:prstGeom>
          <a:noFill/>
        </p:spPr>
        <p:txBody>
          <a:bodyPr wrap="square" lIns="0" rIns="0" tIns="0" bIns="0">
            <a:spAutoFit/>
          </a:bodyPr>
          <a:lstStyle/>
          <a:p>
            <a:pPr algn="l">
              <a:spcAft>
                <a:spcPts val="0"/>
              </a:spcAft>
            </a:pPr>
            <a:r>
              <a:rPr sz="1000" b="0" i="1">
                <a:solidFill>
                  <a:srgbClr val="9AA3B2"/>
                </a:solidFill>
                <a:latin typeface="Calibri"/>
              </a:rPr>
              <a:t>not published</a:t>
            </a:r>
          </a:p>
        </p:txBody>
      </p:sp>
      <p:sp>
        <p:nvSpPr>
          <p:cNvPr id="38" name="TextBox 37"/>
          <p:cNvSpPr txBox="1"/>
          <p:nvPr/>
        </p:nvSpPr>
        <p:spPr>
          <a:xfrm>
            <a:off x="5806440" y="4078224"/>
            <a:ext cx="1234440" cy="219456"/>
          </a:xfrm>
          <a:prstGeom prst="rect">
            <a:avLst/>
          </a:prstGeom>
          <a:noFill/>
        </p:spPr>
        <p:txBody>
          <a:bodyPr wrap="square" lIns="0" rIns="0" tIns="0" bIns="0">
            <a:spAutoFit/>
          </a:bodyPr>
          <a:lstStyle/>
          <a:p>
            <a:pPr algn="l">
              <a:spcAft>
                <a:spcPts val="0"/>
              </a:spcAft>
            </a:pPr>
            <a:r>
              <a:rPr sz="1000" b="0" i="1">
                <a:solidFill>
                  <a:srgbClr val="9AA3B2"/>
                </a:solidFill>
                <a:latin typeface="Calibri"/>
              </a:rPr>
              <a:t>not published</a:t>
            </a:r>
          </a:p>
        </p:txBody>
      </p:sp>
      <p:sp>
        <p:nvSpPr>
          <p:cNvPr id="39" name="TextBox 38"/>
          <p:cNvSpPr txBox="1"/>
          <p:nvPr/>
        </p:nvSpPr>
        <p:spPr>
          <a:xfrm>
            <a:off x="713232" y="4434840"/>
            <a:ext cx="2103120" cy="219456"/>
          </a:xfrm>
          <a:prstGeom prst="rect">
            <a:avLst/>
          </a:prstGeom>
          <a:noFill/>
        </p:spPr>
        <p:txBody>
          <a:bodyPr wrap="square" lIns="0" rIns="0" tIns="0" bIns="0">
            <a:spAutoFit/>
          </a:bodyPr>
          <a:lstStyle/>
          <a:p>
            <a:pPr algn="l">
              <a:spcAft>
                <a:spcPts val="0"/>
              </a:spcAft>
            </a:pPr>
            <a:r>
              <a:rPr sz="1000" b="0" i="0">
                <a:solidFill>
                  <a:srgbClr val="5A6472"/>
                </a:solidFill>
                <a:latin typeface="Calibri"/>
              </a:rPr>
              <a:t>License</a:t>
            </a:r>
          </a:p>
        </p:txBody>
      </p:sp>
      <p:sp>
        <p:nvSpPr>
          <p:cNvPr id="40" name="TextBox 39"/>
          <p:cNvSpPr txBox="1"/>
          <p:nvPr/>
        </p:nvSpPr>
        <p:spPr>
          <a:xfrm>
            <a:off x="2926080" y="4434840"/>
            <a:ext cx="141732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Llama 3.3 Comm.</a:t>
            </a:r>
          </a:p>
        </p:txBody>
      </p:sp>
      <p:sp>
        <p:nvSpPr>
          <p:cNvPr id="41" name="TextBox 40"/>
          <p:cNvSpPr txBox="1"/>
          <p:nvPr/>
        </p:nvSpPr>
        <p:spPr>
          <a:xfrm>
            <a:off x="4434840" y="4434840"/>
            <a:ext cx="132588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Apache 2.0</a:t>
            </a:r>
          </a:p>
        </p:txBody>
      </p:sp>
      <p:sp>
        <p:nvSpPr>
          <p:cNvPr id="42" name="TextBox 41"/>
          <p:cNvSpPr txBox="1"/>
          <p:nvPr/>
        </p:nvSpPr>
        <p:spPr>
          <a:xfrm>
            <a:off x="5806440" y="4434840"/>
            <a:ext cx="1234440" cy="219456"/>
          </a:xfrm>
          <a:prstGeom prst="rect">
            <a:avLst/>
          </a:prstGeom>
          <a:noFill/>
        </p:spPr>
        <p:txBody>
          <a:bodyPr wrap="square" lIns="0" rIns="0" tIns="0" bIns="0">
            <a:spAutoFit/>
          </a:bodyPr>
          <a:lstStyle/>
          <a:p>
            <a:pPr algn="l">
              <a:spcAft>
                <a:spcPts val="0"/>
              </a:spcAft>
            </a:pPr>
            <a:r>
              <a:rPr sz="1000" b="0" i="0">
                <a:solidFill>
                  <a:srgbClr val="1A1A2E"/>
                </a:solidFill>
                <a:latin typeface="Calibri"/>
              </a:rPr>
              <a:t>Apache 2.0</a:t>
            </a:r>
          </a:p>
        </p:txBody>
      </p:sp>
      <p:sp>
        <p:nvSpPr>
          <p:cNvPr id="43" name="TextBox 42"/>
          <p:cNvSpPr txBox="1"/>
          <p:nvPr/>
        </p:nvSpPr>
        <p:spPr>
          <a:xfrm>
            <a:off x="713232" y="4736592"/>
            <a:ext cx="6208776" cy="237744"/>
          </a:xfrm>
          <a:prstGeom prst="rect">
            <a:avLst/>
          </a:prstGeom>
          <a:noFill/>
        </p:spPr>
        <p:txBody>
          <a:bodyPr wrap="square" lIns="0" rIns="0" tIns="0" bIns="0">
            <a:spAutoFit/>
          </a:bodyPr>
          <a:lstStyle/>
          <a:p>
            <a:pPr algn="l">
              <a:spcAft>
                <a:spcPts val="0"/>
              </a:spcAft>
            </a:pPr>
            <a:r>
              <a:rPr sz="850" b="0" i="1">
                <a:solidFill>
                  <a:srgbClr val="9AA3B2"/>
                </a:solidFill>
                <a:latin typeface="Calibri"/>
              </a:rPr>
              <a:t>Sources: Meta Llama 3.3 model card · OpenAI gpt-oss model card and launch post.</a:t>
            </a:r>
          </a:p>
        </p:txBody>
      </p:sp>
      <p:sp>
        <p:nvSpPr>
          <p:cNvPr id="44" name="Rounded Rectangle 43"/>
          <p:cNvSpPr/>
          <p:nvPr/>
        </p:nvSpPr>
        <p:spPr>
          <a:xfrm>
            <a:off x="7452360" y="1353312"/>
            <a:ext cx="4279392" cy="3675887"/>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26679" y="1554480"/>
            <a:ext cx="3749039" cy="274320"/>
          </a:xfrm>
          <a:prstGeom prst="rect">
            <a:avLst/>
          </a:prstGeom>
          <a:noFill/>
        </p:spPr>
        <p:txBody>
          <a:bodyPr wrap="square" lIns="0" rIns="0" tIns="0" bIns="0">
            <a:spAutoFit/>
          </a:bodyPr>
          <a:lstStyle/>
          <a:p>
            <a:pPr algn="l">
              <a:spcAft>
                <a:spcPts val="0"/>
              </a:spcAft>
            </a:pPr>
            <a:r>
              <a:rPr sz="1450" b="1" i="0">
                <a:solidFill>
                  <a:srgbClr val="FFFFFF"/>
                </a:solidFill>
                <a:latin typeface="Cambria"/>
              </a:rPr>
              <a:t>What predicts this task</a:t>
            </a:r>
          </a:p>
        </p:txBody>
      </p:sp>
      <p:sp>
        <p:nvSpPr>
          <p:cNvPr id="46" name="TextBox 45"/>
          <p:cNvSpPr txBox="1"/>
          <p:nvPr/>
        </p:nvSpPr>
        <p:spPr>
          <a:xfrm>
            <a:off x="7726679" y="1956816"/>
            <a:ext cx="3749039" cy="237744"/>
          </a:xfrm>
          <a:prstGeom prst="rect">
            <a:avLst/>
          </a:prstGeom>
          <a:noFill/>
        </p:spPr>
        <p:txBody>
          <a:bodyPr wrap="square" lIns="0" rIns="0" tIns="0" bIns="0">
            <a:spAutoFit/>
          </a:bodyPr>
          <a:lstStyle/>
          <a:p>
            <a:pPr algn="l">
              <a:spcAft>
                <a:spcPts val="0"/>
              </a:spcAft>
            </a:pPr>
            <a:r>
              <a:rPr sz="1150" b="1" i="0">
                <a:solidFill>
                  <a:srgbClr val="CADCFC"/>
                </a:solidFill>
                <a:latin typeface="Calibri"/>
              </a:rPr>
              <a:t>Format compliance is the metric</a:t>
            </a:r>
          </a:p>
        </p:txBody>
      </p:sp>
      <p:sp>
        <p:nvSpPr>
          <p:cNvPr id="47" name="TextBox 46"/>
          <p:cNvSpPr txBox="1"/>
          <p:nvPr/>
        </p:nvSpPr>
        <p:spPr>
          <a:xfrm>
            <a:off x="7726679" y="2203704"/>
            <a:ext cx="3749039" cy="786384"/>
          </a:xfrm>
          <a:prstGeom prst="rect">
            <a:avLst/>
          </a:prstGeom>
          <a:noFill/>
        </p:spPr>
        <p:txBody>
          <a:bodyPr wrap="square" lIns="0" rIns="0" tIns="0" bIns="0">
            <a:spAutoFit/>
          </a:bodyPr>
          <a:lstStyle/>
          <a:p>
            <a:pPr algn="l">
              <a:lnSpc>
                <a:spcPct val="113000"/>
              </a:lnSpc>
              <a:spcAft>
                <a:spcPts val="0"/>
              </a:spcAft>
            </a:pPr>
            <a:r>
              <a:rPr sz="950" b="0" i="0">
                <a:solidFill>
                  <a:srgbClr val="FFFFFF"/>
                </a:solidFill>
                <a:latin typeface="Calibri"/>
              </a:rPr>
              <a:t>Task 3.2 asks for one exact label and nothing else. IFEval is the closest public proxy, and it is the one benchmark where Llama 3.3 leads — 92.1, ahead of the 5x larger Llama 3.1 405B.</a:t>
            </a:r>
          </a:p>
        </p:txBody>
      </p:sp>
      <p:sp>
        <p:nvSpPr>
          <p:cNvPr id="48" name="TextBox 47"/>
          <p:cNvSpPr txBox="1"/>
          <p:nvPr/>
        </p:nvSpPr>
        <p:spPr>
          <a:xfrm>
            <a:off x="7726679" y="2999232"/>
            <a:ext cx="3749039" cy="237744"/>
          </a:xfrm>
          <a:prstGeom prst="rect">
            <a:avLst/>
          </a:prstGeom>
          <a:noFill/>
        </p:spPr>
        <p:txBody>
          <a:bodyPr wrap="square" lIns="0" rIns="0" tIns="0" bIns="0">
            <a:spAutoFit/>
          </a:bodyPr>
          <a:lstStyle/>
          <a:p>
            <a:pPr algn="l">
              <a:spcAft>
                <a:spcPts val="0"/>
              </a:spcAft>
            </a:pPr>
            <a:r>
              <a:rPr sz="1150" b="1" i="0">
                <a:solidFill>
                  <a:srgbClr val="CADCFC"/>
                </a:solidFill>
                <a:latin typeface="Calibri"/>
              </a:rPr>
              <a:t>Reasoning is a cost here</a:t>
            </a:r>
          </a:p>
        </p:txBody>
      </p:sp>
      <p:sp>
        <p:nvSpPr>
          <p:cNvPr id="49" name="TextBox 48"/>
          <p:cNvSpPr txBox="1"/>
          <p:nvPr/>
        </p:nvSpPr>
        <p:spPr>
          <a:xfrm>
            <a:off x="7726679" y="3246120"/>
            <a:ext cx="3749039" cy="786384"/>
          </a:xfrm>
          <a:prstGeom prst="rect">
            <a:avLst/>
          </a:prstGeom>
          <a:noFill/>
        </p:spPr>
        <p:txBody>
          <a:bodyPr wrap="square" lIns="0" rIns="0" tIns="0" bIns="0">
            <a:spAutoFit/>
          </a:bodyPr>
          <a:lstStyle/>
          <a:p>
            <a:pPr algn="l">
              <a:lnSpc>
                <a:spcPct val="113000"/>
              </a:lnSpc>
              <a:spcAft>
                <a:spcPts val="0"/>
              </a:spcAft>
            </a:pPr>
            <a:r>
              <a:rPr sz="950" b="0" i="0">
                <a:solidFill>
                  <a:srgbClr val="FFFFFF"/>
                </a:solidFill>
                <a:latin typeface="Calibri"/>
              </a:rPr>
              <a:t>Both GPT-OSS models always emit chain of thought. On a one-word answer those tokens buy nothing. Effort is adjustable low/medium/high, so any fair test runs them at low.</a:t>
            </a:r>
          </a:p>
        </p:txBody>
      </p:sp>
      <p:sp>
        <p:nvSpPr>
          <p:cNvPr id="50" name="TextBox 49"/>
          <p:cNvSpPr txBox="1"/>
          <p:nvPr/>
        </p:nvSpPr>
        <p:spPr>
          <a:xfrm>
            <a:off x="7726679" y="4041648"/>
            <a:ext cx="3749039" cy="237744"/>
          </a:xfrm>
          <a:prstGeom prst="rect">
            <a:avLst/>
          </a:prstGeom>
          <a:noFill/>
        </p:spPr>
        <p:txBody>
          <a:bodyPr wrap="square" lIns="0" rIns="0" tIns="0" bIns="0">
            <a:spAutoFit/>
          </a:bodyPr>
          <a:lstStyle/>
          <a:p>
            <a:pPr algn="l">
              <a:spcAft>
                <a:spcPts val="0"/>
              </a:spcAft>
            </a:pPr>
            <a:r>
              <a:rPr sz="1150" b="1" i="0">
                <a:solidFill>
                  <a:srgbClr val="CADCFC"/>
                </a:solidFill>
                <a:latin typeface="Calibri"/>
              </a:rPr>
              <a:t>The rest does not transfer</a:t>
            </a:r>
          </a:p>
        </p:txBody>
      </p:sp>
      <p:sp>
        <p:nvSpPr>
          <p:cNvPr id="51" name="TextBox 50"/>
          <p:cNvSpPr txBox="1"/>
          <p:nvPr/>
        </p:nvSpPr>
        <p:spPr>
          <a:xfrm>
            <a:off x="7726679" y="4288536"/>
            <a:ext cx="3749039" cy="786384"/>
          </a:xfrm>
          <a:prstGeom prst="rect">
            <a:avLst/>
          </a:prstGeom>
          <a:noFill/>
        </p:spPr>
        <p:txBody>
          <a:bodyPr wrap="square" lIns="0" rIns="0" tIns="0" bIns="0">
            <a:spAutoFit/>
          </a:bodyPr>
          <a:lstStyle/>
          <a:p>
            <a:pPr algn="l">
              <a:lnSpc>
                <a:spcPct val="113000"/>
              </a:lnSpc>
              <a:spcAft>
                <a:spcPts val="0"/>
              </a:spcAft>
            </a:pPr>
            <a:r>
              <a:rPr sz="950" b="0" i="0">
                <a:solidFill>
                  <a:srgbClr val="FFFFFF"/>
                </a:solidFill>
                <a:latin typeface="Calibri"/>
              </a:rPr>
              <a:t>GPQA is graduate physics; AIME is competition math; SWE-Bench is coding. GPT-OSS leads on all three and none of them appear in this pipeline.</a:t>
            </a:r>
          </a:p>
        </p:txBody>
      </p:sp>
      <p:sp>
        <p:nvSpPr>
          <p:cNvPr id="52" name="Rounded Rectangle 51"/>
          <p:cNvSpPr/>
          <p:nvPr/>
        </p:nvSpPr>
        <p:spPr>
          <a:xfrm>
            <a:off x="457200" y="5193792"/>
            <a:ext cx="11274552" cy="1133856"/>
          </a:xfrm>
          <a:prstGeom prst="roundRect">
            <a:avLst>
              <a:gd name="adj" fmla="val 3500"/>
            </a:avLst>
          </a:prstGeom>
          <a:solidFill>
            <a:srgbClr val="FFFFFF"/>
          </a:solidFill>
          <a:ln w="9525">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394960"/>
            <a:ext cx="2651760" cy="292608"/>
          </a:xfrm>
          <a:prstGeom prst="rect">
            <a:avLst/>
          </a:prstGeom>
          <a:noFill/>
        </p:spPr>
        <p:txBody>
          <a:bodyPr wrap="square" lIns="0" rIns="0" tIns="0" bIns="0">
            <a:spAutoFit/>
          </a:bodyPr>
          <a:lstStyle/>
          <a:p>
            <a:pPr algn="l">
              <a:spcAft>
                <a:spcPts val="0"/>
              </a:spcAft>
            </a:pPr>
            <a:r>
              <a:rPr sz="1400" b="1" i="0">
                <a:solidFill>
                  <a:srgbClr val="1E2761"/>
                </a:solidFill>
                <a:latin typeface="Cambria"/>
              </a:rPr>
              <a:t>The recommendation</a:t>
            </a:r>
          </a:p>
        </p:txBody>
      </p:sp>
      <p:sp>
        <p:nvSpPr>
          <p:cNvPr id="54" name="TextBox 53"/>
          <p:cNvSpPr txBox="1"/>
          <p:nvPr/>
        </p:nvSpPr>
        <p:spPr>
          <a:xfrm>
            <a:off x="777240" y="5724144"/>
            <a:ext cx="10607040" cy="512064"/>
          </a:xfrm>
          <a:prstGeom prst="rect">
            <a:avLst/>
          </a:prstGeom>
          <a:noFill/>
        </p:spPr>
        <p:txBody>
          <a:bodyPr wrap="square" lIns="0" rIns="0" tIns="0" bIns="0">
            <a:spAutoFit/>
          </a:bodyPr>
          <a:lstStyle/>
          <a:p>
            <a:pPr algn="l">
              <a:lnSpc>
                <a:spcPct val="115000"/>
              </a:lnSpc>
              <a:spcAft>
                <a:spcPts val="0"/>
              </a:spcAft>
            </a:pPr>
            <a:r>
              <a:rPr sz="1050" b="0" i="0">
                <a:solidFill>
                  <a:srgbClr val="5A6472"/>
                </a:solidFill>
                <a:latin typeface="Calibri"/>
              </a:rPr>
              <a:t>Keep Llama 3.3 70B for Task 3.2. On the one published benchmark that matches what this task asks for, it is the stronger model; on the benchmarks GPT-OSS wins, the pipeline does not care. GPT-OSS 20B stays on the bake-off list as the cheaper challenger — the number that would overturn this is a higher valid-label and priceable rate on our own rows, not a benchmark score.</a:t>
            </a:r>
          </a:p>
        </p:txBody>
      </p:sp>
      <p:sp>
        <p:nvSpPr>
          <p:cNvPr id="55" name="TextBox 54"/>
          <p:cNvSpPr txBox="1"/>
          <p:nvPr/>
        </p:nvSpPr>
        <p:spPr>
          <a:xfrm>
            <a:off x="457200" y="6428232"/>
            <a:ext cx="6400800" cy="228600"/>
          </a:xfrm>
          <a:prstGeom prst="rect">
            <a:avLst/>
          </a:prstGeom>
          <a:noFill/>
        </p:spPr>
        <p:txBody>
          <a:bodyPr wrap="square" lIns="0" rIns="0" tIns="0" bIns="0">
            <a:spAutoFit/>
          </a:bodyPr>
          <a:lstStyle/>
          <a:p>
            <a:pPr algn="l">
              <a:spcAft>
                <a:spcPts val="0"/>
              </a:spcAft>
            </a:pPr>
            <a:r>
              <a:rPr sz="850" b="0" i="0">
                <a:solidFill>
                  <a:srgbClr val="5A6472"/>
                </a:solidFill>
                <a:latin typeface="Calibri"/>
              </a:rPr>
              <a:t>ATIMS · AP Tax Classification · Pipeline Evaluation</a:t>
            </a:r>
          </a:p>
        </p:txBody>
      </p:sp>
      <p:sp>
        <p:nvSpPr>
          <p:cNvPr id="56" name="TextBox 55"/>
          <p:cNvSpPr txBox="1"/>
          <p:nvPr/>
        </p:nvSpPr>
        <p:spPr>
          <a:xfrm>
            <a:off x="10332720" y="6428232"/>
            <a:ext cx="1417320" cy="228600"/>
          </a:xfrm>
          <a:prstGeom prst="rect">
            <a:avLst/>
          </a:prstGeom>
          <a:noFill/>
        </p:spPr>
        <p:txBody>
          <a:bodyPr wrap="square" lIns="0" rIns="0" tIns="0" bIns="0">
            <a:spAutoFit/>
          </a:bodyPr>
          <a:lstStyle/>
          <a:p>
            <a:pPr algn="r">
              <a:spcAft>
                <a:spcPts val="0"/>
              </a:spcAft>
            </a:pPr>
            <a:r>
              <a:rPr sz="850" b="0" i="0">
                <a:solidFill>
                  <a:srgbClr val="5A6472"/>
                </a:solidFill>
                <a:latin typeface="Calibr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How We Pick — the Bake-off</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Same prompt, same rows, every endpoint · measured on your data, not a public benchmark</a:t>
            </a:r>
          </a:p>
        </p:txBody>
      </p:sp>
      <p:sp>
        <p:nvSpPr>
          <p:cNvPr id="4" name="Rounded Rectangle 3"/>
          <p:cNvSpPr/>
          <p:nvPr/>
        </p:nvSpPr>
        <p:spPr>
          <a:xfrm>
            <a:off x="457200" y="1389888"/>
            <a:ext cx="5806440" cy="239572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91056"/>
            <a:ext cx="5257800" cy="274320"/>
          </a:xfrm>
          <a:prstGeom prst="rect">
            <a:avLst/>
          </a:prstGeom>
          <a:noFill/>
        </p:spPr>
        <p:txBody>
          <a:bodyPr wrap="square" lIns="0" rIns="0" tIns="0" bIns="0" anchor="t">
            <a:spAutoFit/>
          </a:bodyPr>
          <a:lstStyle/>
          <a:p>
            <a:pPr algn="l">
              <a:spcBef>
                <a:spcPts val="0"/>
              </a:spcBef>
              <a:spcAft>
                <a:spcPts val="0"/>
              </a:spcAft>
            </a:pPr>
            <a:r>
              <a:rPr sz="1400" b="1" i="0">
                <a:solidFill>
                  <a:srgbClr val="1E2761"/>
                </a:solidFill>
                <a:latin typeface="Cambria"/>
              </a:rPr>
              <a:t>Two splits, because there is no labelled truth</a:t>
            </a:r>
          </a:p>
        </p:txBody>
      </p:sp>
      <p:sp>
        <p:nvSpPr>
          <p:cNvPr id="6" name="TextBox 5"/>
          <p:cNvSpPr txBox="1"/>
          <p:nvPr/>
        </p:nvSpPr>
        <p:spPr>
          <a:xfrm>
            <a:off x="731520" y="1975104"/>
            <a:ext cx="5257800" cy="219456"/>
          </a:xfrm>
          <a:prstGeom prst="rect">
            <a:avLst/>
          </a:prstGeom>
          <a:noFill/>
        </p:spPr>
        <p:txBody>
          <a:bodyPr wrap="square" lIns="0" rIns="0" tIns="0" bIns="0" anchor="t">
            <a:spAutoFit/>
          </a:bodyPr>
          <a:lstStyle/>
          <a:p>
            <a:pPr algn="l">
              <a:spcBef>
                <a:spcPts val="0"/>
              </a:spcBef>
              <a:spcAft>
                <a:spcPts val="0"/>
              </a:spcAft>
            </a:pPr>
            <a:r>
              <a:rPr sz="1150" b="1" i="0">
                <a:solidFill>
                  <a:srgbClr val="3D5A80"/>
                </a:solidFill>
                <a:latin typeface="Calibri"/>
              </a:rPr>
              <a:t>Rule agreement</a:t>
            </a:r>
          </a:p>
        </p:txBody>
      </p:sp>
      <p:sp>
        <p:nvSpPr>
          <p:cNvPr id="7" name="TextBox 6"/>
          <p:cNvSpPr txBox="1"/>
          <p:nvPr/>
        </p:nvSpPr>
        <p:spPr>
          <a:xfrm>
            <a:off x="731520" y="2212848"/>
            <a:ext cx="5257800" cy="713232"/>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200 lines a deterministic rule already decided. Does the model reproduce the category? These never reach the LLM in production, which is what makes them a usable held-out set.</a:t>
            </a:r>
          </a:p>
        </p:txBody>
      </p:sp>
      <p:sp>
        <p:nvSpPr>
          <p:cNvPr id="8" name="TextBox 7"/>
          <p:cNvSpPr txBox="1"/>
          <p:nvPr/>
        </p:nvSpPr>
        <p:spPr>
          <a:xfrm>
            <a:off x="731520" y="2944368"/>
            <a:ext cx="5257800" cy="219456"/>
          </a:xfrm>
          <a:prstGeom prst="rect">
            <a:avLst/>
          </a:prstGeom>
          <a:noFill/>
        </p:spPr>
        <p:txBody>
          <a:bodyPr wrap="square" lIns="0" rIns="0" tIns="0" bIns="0" anchor="t">
            <a:spAutoFit/>
          </a:bodyPr>
          <a:lstStyle/>
          <a:p>
            <a:pPr algn="l">
              <a:spcBef>
                <a:spcPts val="0"/>
              </a:spcBef>
              <a:spcAft>
                <a:spcPts val="0"/>
              </a:spcAft>
            </a:pPr>
            <a:r>
              <a:rPr sz="1150" b="1" i="0">
                <a:solidFill>
                  <a:srgbClr val="3D5A80"/>
                </a:solidFill>
                <a:latin typeface="Calibri"/>
              </a:rPr>
              <a:t>Usable output</a:t>
            </a:r>
          </a:p>
        </p:txBody>
      </p:sp>
      <p:sp>
        <p:nvSpPr>
          <p:cNvPr id="9" name="TextBox 8"/>
          <p:cNvSpPr txBox="1"/>
          <p:nvPr/>
        </p:nvSpPr>
        <p:spPr>
          <a:xfrm>
            <a:off x="731520" y="3182112"/>
            <a:ext cx="5257800" cy="713232"/>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200 lines that genuinely do reach the LLM. No truth here — but we can measure whether the answer is a real label and whether the matrix can price it.</a:t>
            </a:r>
          </a:p>
        </p:txBody>
      </p:sp>
      <p:sp>
        <p:nvSpPr>
          <p:cNvPr id="10" name="Rounded Rectangle 9"/>
          <p:cNvSpPr/>
          <p:nvPr/>
        </p:nvSpPr>
        <p:spPr>
          <a:xfrm>
            <a:off x="6537960" y="1389888"/>
            <a:ext cx="5193792" cy="2395728"/>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1591056"/>
            <a:ext cx="4663440" cy="274320"/>
          </a:xfrm>
          <a:prstGeom prst="rect">
            <a:avLst/>
          </a:prstGeom>
          <a:noFill/>
        </p:spPr>
        <p:txBody>
          <a:bodyPr wrap="square" lIns="0" rIns="0" tIns="0" bIns="0" anchor="t">
            <a:spAutoFit/>
          </a:bodyPr>
          <a:lstStyle/>
          <a:p>
            <a:pPr algn="l">
              <a:spcBef>
                <a:spcPts val="0"/>
              </a:spcBef>
              <a:spcAft>
                <a:spcPts val="0"/>
              </a:spcAft>
            </a:pPr>
            <a:r>
              <a:rPr sz="1400" b="1" i="0">
                <a:solidFill>
                  <a:srgbClr val="FFFFFF"/>
                </a:solidFill>
                <a:latin typeface="Cambria"/>
              </a:rPr>
              <a:t>What comes out</a:t>
            </a:r>
          </a:p>
        </p:txBody>
      </p:sp>
      <p:sp>
        <p:nvSpPr>
          <p:cNvPr id="12" name="TextBox 11"/>
          <p:cNvSpPr txBox="1"/>
          <p:nvPr/>
        </p:nvSpPr>
        <p:spPr>
          <a:xfrm>
            <a:off x="6812280" y="1993392"/>
            <a:ext cx="1783080" cy="219456"/>
          </a:xfrm>
          <a:prstGeom prst="rect">
            <a:avLst/>
          </a:prstGeom>
          <a:noFill/>
        </p:spPr>
        <p:txBody>
          <a:bodyPr wrap="square" lIns="0" rIns="0" tIns="0" bIns="0" anchor="t">
            <a:spAutoFit/>
          </a:bodyPr>
          <a:lstStyle/>
          <a:p>
            <a:pPr algn="l">
              <a:spcBef>
                <a:spcPts val="0"/>
              </a:spcBef>
              <a:spcAft>
                <a:spcPts val="0"/>
              </a:spcAft>
            </a:pPr>
            <a:r>
              <a:rPr sz="950" b="1" i="0">
                <a:solidFill>
                  <a:srgbClr val="CADCFC"/>
                </a:solidFill>
                <a:latin typeface="Courier New"/>
              </a:rPr>
              <a:t>rule_agree_pct</a:t>
            </a:r>
          </a:p>
        </p:txBody>
      </p:sp>
      <p:sp>
        <p:nvSpPr>
          <p:cNvPr id="13" name="TextBox 12"/>
          <p:cNvSpPr txBox="1"/>
          <p:nvPr/>
        </p:nvSpPr>
        <p:spPr>
          <a:xfrm>
            <a:off x="8686800" y="1993392"/>
            <a:ext cx="2788920" cy="219456"/>
          </a:xfrm>
          <a:prstGeom prst="rect">
            <a:avLst/>
          </a:prstGeom>
          <a:noFill/>
        </p:spPr>
        <p:txBody>
          <a:bodyPr wrap="square" lIns="0" rIns="0" tIns="0" bIns="0" anchor="t">
            <a:spAutoFit/>
          </a:bodyPr>
          <a:lstStyle/>
          <a:p>
            <a:pPr algn="l">
              <a:spcBef>
                <a:spcPts val="0"/>
              </a:spcBef>
              <a:spcAft>
                <a:spcPts val="0"/>
              </a:spcAft>
            </a:pPr>
            <a:r>
              <a:rPr sz="900" b="0" i="0">
                <a:solidFill>
                  <a:srgbClr val="FFFFFF"/>
                </a:solidFill>
                <a:latin typeface="Calibri"/>
              </a:rPr>
              <a:t>reproduces the rules engine — a proxy, not accuracy</a:t>
            </a:r>
          </a:p>
        </p:txBody>
      </p:sp>
      <p:sp>
        <p:nvSpPr>
          <p:cNvPr id="14" name="TextBox 13"/>
          <p:cNvSpPr txBox="1"/>
          <p:nvPr/>
        </p:nvSpPr>
        <p:spPr>
          <a:xfrm>
            <a:off x="6812280" y="2340864"/>
            <a:ext cx="1783080" cy="219456"/>
          </a:xfrm>
          <a:prstGeom prst="rect">
            <a:avLst/>
          </a:prstGeom>
          <a:noFill/>
        </p:spPr>
        <p:txBody>
          <a:bodyPr wrap="square" lIns="0" rIns="0" tIns="0" bIns="0" anchor="t">
            <a:spAutoFit/>
          </a:bodyPr>
          <a:lstStyle/>
          <a:p>
            <a:pPr algn="l">
              <a:spcBef>
                <a:spcPts val="0"/>
              </a:spcBef>
              <a:spcAft>
                <a:spcPts val="0"/>
              </a:spcAft>
            </a:pPr>
            <a:r>
              <a:rPr sz="950" b="1" i="0">
                <a:solidFill>
                  <a:srgbClr val="CADCFC"/>
                </a:solidFill>
                <a:latin typeface="Courier New"/>
              </a:rPr>
              <a:t>valid_label_pct</a:t>
            </a:r>
          </a:p>
        </p:txBody>
      </p:sp>
      <p:sp>
        <p:nvSpPr>
          <p:cNvPr id="15" name="TextBox 14"/>
          <p:cNvSpPr txBox="1"/>
          <p:nvPr/>
        </p:nvSpPr>
        <p:spPr>
          <a:xfrm>
            <a:off x="8686800" y="2340864"/>
            <a:ext cx="2788920" cy="219456"/>
          </a:xfrm>
          <a:prstGeom prst="rect">
            <a:avLst/>
          </a:prstGeom>
          <a:noFill/>
        </p:spPr>
        <p:txBody>
          <a:bodyPr wrap="square" lIns="0" rIns="0" tIns="0" bIns="0" anchor="t">
            <a:spAutoFit/>
          </a:bodyPr>
          <a:lstStyle/>
          <a:p>
            <a:pPr algn="l">
              <a:spcBef>
                <a:spcPts val="0"/>
              </a:spcBef>
              <a:spcAft>
                <a:spcPts val="0"/>
              </a:spcAft>
            </a:pPr>
            <a:r>
              <a:rPr sz="900" b="0" i="0">
                <a:solidFill>
                  <a:srgbClr val="FFFFFF"/>
                </a:solidFill>
                <a:latin typeface="Calibri"/>
              </a:rPr>
              <a:t>resolves to one of the 60 allowed clusters</a:t>
            </a:r>
          </a:p>
        </p:txBody>
      </p:sp>
      <p:sp>
        <p:nvSpPr>
          <p:cNvPr id="16" name="TextBox 15"/>
          <p:cNvSpPr txBox="1"/>
          <p:nvPr/>
        </p:nvSpPr>
        <p:spPr>
          <a:xfrm>
            <a:off x="6812280" y="2688336"/>
            <a:ext cx="1783080" cy="219456"/>
          </a:xfrm>
          <a:prstGeom prst="rect">
            <a:avLst/>
          </a:prstGeom>
          <a:noFill/>
        </p:spPr>
        <p:txBody>
          <a:bodyPr wrap="square" lIns="0" rIns="0" tIns="0" bIns="0" anchor="t">
            <a:spAutoFit/>
          </a:bodyPr>
          <a:lstStyle/>
          <a:p>
            <a:pPr algn="l">
              <a:spcBef>
                <a:spcPts val="0"/>
              </a:spcBef>
              <a:spcAft>
                <a:spcPts val="0"/>
              </a:spcAft>
            </a:pPr>
            <a:r>
              <a:rPr sz="950" b="1" i="0">
                <a:solidFill>
                  <a:srgbClr val="CADCFC"/>
                </a:solidFill>
                <a:latin typeface="Courier New"/>
              </a:rPr>
              <a:t>exact_string_pct</a:t>
            </a:r>
          </a:p>
        </p:txBody>
      </p:sp>
      <p:sp>
        <p:nvSpPr>
          <p:cNvPr id="17" name="TextBox 16"/>
          <p:cNvSpPr txBox="1"/>
          <p:nvPr/>
        </p:nvSpPr>
        <p:spPr>
          <a:xfrm>
            <a:off x="8686800" y="2688336"/>
            <a:ext cx="2788920" cy="219456"/>
          </a:xfrm>
          <a:prstGeom prst="rect">
            <a:avLst/>
          </a:prstGeom>
          <a:noFill/>
        </p:spPr>
        <p:txBody>
          <a:bodyPr wrap="square" lIns="0" rIns="0" tIns="0" bIns="0" anchor="t">
            <a:spAutoFit/>
          </a:bodyPr>
          <a:lstStyle/>
          <a:p>
            <a:pPr algn="l">
              <a:spcBef>
                <a:spcPts val="0"/>
              </a:spcBef>
              <a:spcAft>
                <a:spcPts val="0"/>
              </a:spcAft>
            </a:pPr>
            <a:r>
              <a:rPr sz="900" b="0" i="0">
                <a:solidFill>
                  <a:srgbClr val="FFFFFF"/>
                </a:solidFill>
                <a:latin typeface="Calibri"/>
              </a:rPr>
              <a:t>was already exact — the gap is formatting drift</a:t>
            </a:r>
          </a:p>
        </p:txBody>
      </p:sp>
      <p:sp>
        <p:nvSpPr>
          <p:cNvPr id="18" name="TextBox 17"/>
          <p:cNvSpPr txBox="1"/>
          <p:nvPr/>
        </p:nvSpPr>
        <p:spPr>
          <a:xfrm>
            <a:off x="6812280" y="3035808"/>
            <a:ext cx="1783080" cy="219456"/>
          </a:xfrm>
          <a:prstGeom prst="rect">
            <a:avLst/>
          </a:prstGeom>
          <a:noFill/>
        </p:spPr>
        <p:txBody>
          <a:bodyPr wrap="square" lIns="0" rIns="0" tIns="0" bIns="0" anchor="t">
            <a:spAutoFit/>
          </a:bodyPr>
          <a:lstStyle/>
          <a:p>
            <a:pPr algn="l">
              <a:spcBef>
                <a:spcPts val="0"/>
              </a:spcBef>
              <a:spcAft>
                <a:spcPts val="0"/>
              </a:spcAft>
            </a:pPr>
            <a:r>
              <a:rPr sz="950" b="1" i="0">
                <a:solidFill>
                  <a:srgbClr val="CADCFC"/>
                </a:solidFill>
                <a:latin typeface="Courier New"/>
              </a:rPr>
              <a:t>priceable_pct</a:t>
            </a:r>
          </a:p>
        </p:txBody>
      </p:sp>
      <p:sp>
        <p:nvSpPr>
          <p:cNvPr id="19" name="TextBox 18"/>
          <p:cNvSpPr txBox="1"/>
          <p:nvPr/>
        </p:nvSpPr>
        <p:spPr>
          <a:xfrm>
            <a:off x="8686800" y="3035808"/>
            <a:ext cx="2788920" cy="219456"/>
          </a:xfrm>
          <a:prstGeom prst="rect">
            <a:avLst/>
          </a:prstGeom>
          <a:noFill/>
        </p:spPr>
        <p:txBody>
          <a:bodyPr wrap="square" lIns="0" rIns="0" tIns="0" bIns="0" anchor="t">
            <a:spAutoFit/>
          </a:bodyPr>
          <a:lstStyle/>
          <a:p>
            <a:pPr algn="l">
              <a:spcBef>
                <a:spcPts val="0"/>
              </a:spcBef>
              <a:spcAft>
                <a:spcPts val="0"/>
              </a:spcAft>
            </a:pPr>
            <a:r>
              <a:rPr sz="900" b="0" i="0">
                <a:solidFill>
                  <a:srgbClr val="FFFFFF"/>
                </a:solidFill>
                <a:latin typeface="Calibri"/>
              </a:rPr>
              <a:t>has a matrix row, so the line can actually price</a:t>
            </a:r>
          </a:p>
        </p:txBody>
      </p:sp>
      <p:sp>
        <p:nvSpPr>
          <p:cNvPr id="20" name="TextBox 19"/>
          <p:cNvSpPr txBox="1"/>
          <p:nvPr/>
        </p:nvSpPr>
        <p:spPr>
          <a:xfrm>
            <a:off x="6812280" y="3383279"/>
            <a:ext cx="1783080" cy="219456"/>
          </a:xfrm>
          <a:prstGeom prst="rect">
            <a:avLst/>
          </a:prstGeom>
          <a:noFill/>
        </p:spPr>
        <p:txBody>
          <a:bodyPr wrap="square" lIns="0" rIns="0" tIns="0" bIns="0" anchor="t">
            <a:spAutoFit/>
          </a:bodyPr>
          <a:lstStyle/>
          <a:p>
            <a:pPr algn="l">
              <a:spcBef>
                <a:spcPts val="0"/>
              </a:spcBef>
              <a:spcAft>
                <a:spcPts val="0"/>
              </a:spcAft>
            </a:pPr>
            <a:r>
              <a:rPr sz="950" b="1" i="0">
                <a:solidFill>
                  <a:srgbClr val="CADCFC"/>
                </a:solidFill>
                <a:latin typeface="Courier New"/>
              </a:rPr>
              <a:t>ms_per_call</a:t>
            </a:r>
          </a:p>
        </p:txBody>
      </p:sp>
      <p:sp>
        <p:nvSpPr>
          <p:cNvPr id="21" name="TextBox 20"/>
          <p:cNvSpPr txBox="1"/>
          <p:nvPr/>
        </p:nvSpPr>
        <p:spPr>
          <a:xfrm>
            <a:off x="8686800" y="3383279"/>
            <a:ext cx="2788920" cy="219456"/>
          </a:xfrm>
          <a:prstGeom prst="rect">
            <a:avLst/>
          </a:prstGeom>
          <a:noFill/>
        </p:spPr>
        <p:txBody>
          <a:bodyPr wrap="square" lIns="0" rIns="0" tIns="0" bIns="0" anchor="t">
            <a:spAutoFit/>
          </a:bodyPr>
          <a:lstStyle/>
          <a:p>
            <a:pPr algn="l">
              <a:spcBef>
                <a:spcPts val="0"/>
              </a:spcBef>
              <a:spcAft>
                <a:spcPts val="0"/>
              </a:spcAft>
            </a:pPr>
            <a:r>
              <a:rPr sz="900" b="0" i="0">
                <a:solidFill>
                  <a:srgbClr val="FFFFFF"/>
                </a:solidFill>
                <a:latin typeface="Calibri"/>
              </a:rPr>
              <a:t>measured wall clock, not a published figure</a:t>
            </a:r>
          </a:p>
        </p:txBody>
      </p:sp>
      <p:sp>
        <p:nvSpPr>
          <p:cNvPr id="22" name="Rounded Rectangle 21"/>
          <p:cNvSpPr/>
          <p:nvPr/>
        </p:nvSpPr>
        <p:spPr>
          <a:xfrm>
            <a:off x="457200" y="3950208"/>
            <a:ext cx="11274552" cy="1463040"/>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133087"/>
            <a:ext cx="10698480" cy="274320"/>
          </a:xfrm>
          <a:prstGeom prst="rect">
            <a:avLst/>
          </a:prstGeom>
          <a:noFill/>
        </p:spPr>
        <p:txBody>
          <a:bodyPr wrap="square" lIns="0" rIns="0" tIns="0" bIns="0" anchor="t">
            <a:spAutoFit/>
          </a:bodyPr>
          <a:lstStyle/>
          <a:p>
            <a:pPr algn="l">
              <a:spcBef>
                <a:spcPts val="0"/>
              </a:spcBef>
              <a:spcAft>
                <a:spcPts val="0"/>
              </a:spcAft>
            </a:pPr>
            <a:r>
              <a:rPr sz="1400" b="1" i="0">
                <a:solidFill>
                  <a:srgbClr val="1E2761"/>
                </a:solidFill>
                <a:latin typeface="Cambria"/>
              </a:rPr>
              <a:t>The result table — to be filled by running llm_bakeoff_notebook</a:t>
            </a:r>
          </a:p>
        </p:txBody>
      </p:sp>
      <p:sp>
        <p:nvSpPr>
          <p:cNvPr id="24" name="TextBox 23"/>
          <p:cNvSpPr txBox="1"/>
          <p:nvPr/>
        </p:nvSpPr>
        <p:spPr>
          <a:xfrm>
            <a:off x="749808" y="4517136"/>
            <a:ext cx="402336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ENDPOINT</a:t>
            </a:r>
          </a:p>
        </p:txBody>
      </p:sp>
      <p:sp>
        <p:nvSpPr>
          <p:cNvPr id="25" name="TextBox 24"/>
          <p:cNvSpPr txBox="1"/>
          <p:nvPr/>
        </p:nvSpPr>
        <p:spPr>
          <a:xfrm>
            <a:off x="4937760" y="4517136"/>
            <a:ext cx="155448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RULE AGREE</a:t>
            </a:r>
          </a:p>
        </p:txBody>
      </p:sp>
      <p:sp>
        <p:nvSpPr>
          <p:cNvPr id="26" name="TextBox 25"/>
          <p:cNvSpPr txBox="1"/>
          <p:nvPr/>
        </p:nvSpPr>
        <p:spPr>
          <a:xfrm>
            <a:off x="6675120" y="4517136"/>
            <a:ext cx="155448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VALID LABEL</a:t>
            </a:r>
          </a:p>
        </p:txBody>
      </p:sp>
      <p:sp>
        <p:nvSpPr>
          <p:cNvPr id="27" name="TextBox 26"/>
          <p:cNvSpPr txBox="1"/>
          <p:nvPr/>
        </p:nvSpPr>
        <p:spPr>
          <a:xfrm>
            <a:off x="8412480" y="4517136"/>
            <a:ext cx="155448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PRICEABLE</a:t>
            </a:r>
          </a:p>
        </p:txBody>
      </p:sp>
      <p:sp>
        <p:nvSpPr>
          <p:cNvPr id="28" name="TextBox 27"/>
          <p:cNvSpPr txBox="1"/>
          <p:nvPr/>
        </p:nvSpPr>
        <p:spPr>
          <a:xfrm>
            <a:off x="10149840" y="4517136"/>
            <a:ext cx="1463040" cy="219456"/>
          </a:xfrm>
          <a:prstGeom prst="rect">
            <a:avLst/>
          </a:prstGeom>
          <a:noFill/>
        </p:spPr>
        <p:txBody>
          <a:bodyPr wrap="square" lIns="0" rIns="0" tIns="0" bIns="0" anchor="t">
            <a:spAutoFit/>
          </a:bodyPr>
          <a:lstStyle/>
          <a:p>
            <a:pPr algn="l">
              <a:spcBef>
                <a:spcPts val="0"/>
              </a:spcBef>
              <a:spcAft>
                <a:spcPts val="0"/>
              </a:spcAft>
            </a:pPr>
            <a:r>
              <a:rPr sz="850" b="1" i="0">
                <a:solidFill>
                  <a:srgbClr val="3D5A80"/>
                </a:solidFill>
                <a:latin typeface="Calibri"/>
              </a:rPr>
              <a:t>MS / CALL</a:t>
            </a:r>
          </a:p>
        </p:txBody>
      </p:sp>
      <p:sp>
        <p:nvSpPr>
          <p:cNvPr id="29" name="Rectangle 28"/>
          <p:cNvSpPr/>
          <p:nvPr/>
        </p:nvSpPr>
        <p:spPr>
          <a:xfrm>
            <a:off x="749808" y="4754880"/>
            <a:ext cx="10680192" cy="9525"/>
          </a:xfrm>
          <a:prstGeom prst="rect">
            <a:avLst/>
          </a:prstGeom>
          <a:solidFill>
            <a:srgbClr val="D6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4864608"/>
            <a:ext cx="4023360" cy="219456"/>
          </a:xfrm>
          <a:prstGeom prst="rect">
            <a:avLst/>
          </a:prstGeom>
          <a:noFill/>
        </p:spPr>
        <p:txBody>
          <a:bodyPr wrap="square" lIns="0" rIns="0" tIns="0" bIns="0" anchor="t">
            <a:spAutoFit/>
          </a:bodyPr>
          <a:lstStyle/>
          <a:p>
            <a:pPr algn="l">
              <a:spcBef>
                <a:spcPts val="0"/>
              </a:spcBef>
              <a:spcAft>
                <a:spcPts val="0"/>
              </a:spcAft>
            </a:pPr>
            <a:r>
              <a:rPr sz="900" b="1" i="0">
                <a:solidFill>
                  <a:srgbClr val="1E2761"/>
                </a:solidFill>
                <a:latin typeface="Courier New"/>
              </a:rPr>
              <a:t>databricks-meta-llama-3-3-70b-instruct  (baseline)</a:t>
            </a:r>
          </a:p>
        </p:txBody>
      </p:sp>
      <p:sp>
        <p:nvSpPr>
          <p:cNvPr id="31" name="TextBox 30"/>
          <p:cNvSpPr txBox="1"/>
          <p:nvPr/>
        </p:nvSpPr>
        <p:spPr>
          <a:xfrm>
            <a:off x="4937760" y="4864608"/>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2" name="TextBox 31"/>
          <p:cNvSpPr txBox="1"/>
          <p:nvPr/>
        </p:nvSpPr>
        <p:spPr>
          <a:xfrm>
            <a:off x="6675120" y="4864608"/>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3" name="TextBox 32"/>
          <p:cNvSpPr txBox="1"/>
          <p:nvPr/>
        </p:nvSpPr>
        <p:spPr>
          <a:xfrm>
            <a:off x="8412480" y="4864608"/>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4" name="TextBox 33"/>
          <p:cNvSpPr txBox="1"/>
          <p:nvPr/>
        </p:nvSpPr>
        <p:spPr>
          <a:xfrm>
            <a:off x="10149840" y="4864608"/>
            <a:ext cx="146304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5" name="TextBox 34"/>
          <p:cNvSpPr txBox="1"/>
          <p:nvPr/>
        </p:nvSpPr>
        <p:spPr>
          <a:xfrm>
            <a:off x="749808" y="5120640"/>
            <a:ext cx="4023360" cy="219456"/>
          </a:xfrm>
          <a:prstGeom prst="rect">
            <a:avLst/>
          </a:prstGeom>
          <a:noFill/>
        </p:spPr>
        <p:txBody>
          <a:bodyPr wrap="square" lIns="0" rIns="0" tIns="0" bIns="0" anchor="t">
            <a:spAutoFit/>
          </a:bodyPr>
          <a:lstStyle/>
          <a:p>
            <a:pPr algn="l">
              <a:spcBef>
                <a:spcPts val="0"/>
              </a:spcBef>
              <a:spcAft>
                <a:spcPts val="0"/>
              </a:spcAft>
            </a:pPr>
            <a:r>
              <a:rPr sz="900" b="0" i="0">
                <a:solidFill>
                  <a:srgbClr val="5A6472"/>
                </a:solidFill>
                <a:latin typeface="Courier New"/>
              </a:rPr>
              <a:t>…seven challengers</a:t>
            </a:r>
          </a:p>
        </p:txBody>
      </p:sp>
      <p:sp>
        <p:nvSpPr>
          <p:cNvPr id="36" name="TextBox 35"/>
          <p:cNvSpPr txBox="1"/>
          <p:nvPr/>
        </p:nvSpPr>
        <p:spPr>
          <a:xfrm>
            <a:off x="4937760" y="5120640"/>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7" name="TextBox 36"/>
          <p:cNvSpPr txBox="1"/>
          <p:nvPr/>
        </p:nvSpPr>
        <p:spPr>
          <a:xfrm>
            <a:off x="6675120" y="5120640"/>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8" name="TextBox 37"/>
          <p:cNvSpPr txBox="1"/>
          <p:nvPr/>
        </p:nvSpPr>
        <p:spPr>
          <a:xfrm>
            <a:off x="8412480" y="5120640"/>
            <a:ext cx="155448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39" name="TextBox 38"/>
          <p:cNvSpPr txBox="1"/>
          <p:nvPr/>
        </p:nvSpPr>
        <p:spPr>
          <a:xfrm>
            <a:off x="10149840" y="5120640"/>
            <a:ext cx="1463040" cy="219456"/>
          </a:xfrm>
          <a:prstGeom prst="rect">
            <a:avLst/>
          </a:prstGeom>
          <a:noFill/>
        </p:spPr>
        <p:txBody>
          <a:bodyPr wrap="square" lIns="0" rIns="0" tIns="0" bIns="0" anchor="t">
            <a:spAutoFit/>
          </a:bodyPr>
          <a:lstStyle/>
          <a:p>
            <a:pPr algn="l">
              <a:spcBef>
                <a:spcPts val="0"/>
              </a:spcBef>
              <a:spcAft>
                <a:spcPts val="0"/>
              </a:spcAft>
            </a:pPr>
            <a:r>
              <a:rPr sz="900" b="0" i="0">
                <a:solidFill>
                  <a:srgbClr val="D6DDE8"/>
                </a:solidFill>
                <a:latin typeface="Calibri"/>
              </a:rPr>
              <a:t>—</a:t>
            </a:r>
          </a:p>
        </p:txBody>
      </p:sp>
      <p:sp>
        <p:nvSpPr>
          <p:cNvPr id="40" name="Rounded Rectangle 39"/>
          <p:cNvSpPr/>
          <p:nvPr/>
        </p:nvSpPr>
        <p:spPr>
          <a:xfrm>
            <a:off x="457200" y="5541264"/>
            <a:ext cx="11274552" cy="804672"/>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 y="5705856"/>
            <a:ext cx="10698480" cy="512064"/>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CADCFC"/>
                </a:solidFill>
                <a:latin typeface="Calibri"/>
              </a:rPr>
              <a:t>Read the disagreements before trusting the leaderboard. Where a model contradicts a rule it is sometimes right — 23 rule categories have no taxability_matrix row at all, including ERTU and the truncated Parker-Volpe values. Rule agreement measures whether a model reproduces the logic we have, not whether that logic is correct.</a:t>
            </a:r>
          </a:p>
        </p:txBody>
      </p:sp>
      <p:sp>
        <p:nvSpPr>
          <p:cNvPr id="42" name="TextBox 41"/>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43" name="TextBox 42"/>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Task 3.3 and 3.3b — Taxability and Use Tax</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The single join the client asked for, and what happens when it misses</a:t>
            </a:r>
          </a:p>
        </p:txBody>
      </p:sp>
      <p:sp>
        <p:nvSpPr>
          <p:cNvPr id="4" name="Rounded Rectangle 3"/>
          <p:cNvSpPr/>
          <p:nvPr/>
        </p:nvSpPr>
        <p:spPr>
          <a:xfrm>
            <a:off x="457200" y="1417320"/>
            <a:ext cx="5806440" cy="1170432"/>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609344"/>
            <a:ext cx="5257800" cy="237744"/>
          </a:xfrm>
          <a:prstGeom prst="rect">
            <a:avLst/>
          </a:prstGeom>
          <a:noFill/>
        </p:spPr>
        <p:txBody>
          <a:bodyPr wrap="square" lIns="0" rIns="0" tIns="0" bIns="0" anchor="t">
            <a:spAutoFit/>
          </a:bodyPr>
          <a:lstStyle/>
          <a:p>
            <a:pPr algn="l">
              <a:spcBef>
                <a:spcPts val="0"/>
              </a:spcBef>
              <a:spcAft>
                <a:spcPts val="0"/>
              </a:spcAft>
            </a:pPr>
            <a:r>
              <a:rPr sz="1200" b="1" i="0">
                <a:solidFill>
                  <a:srgbClr val="CADCFC"/>
                </a:solidFill>
                <a:latin typeface="Calibri"/>
              </a:rPr>
              <a:t>The join</a:t>
            </a:r>
          </a:p>
        </p:txBody>
      </p:sp>
      <p:sp>
        <p:nvSpPr>
          <p:cNvPr id="6" name="TextBox 5"/>
          <p:cNvSpPr txBox="1"/>
          <p:nvPr/>
        </p:nvSpPr>
        <p:spPr>
          <a:xfrm>
            <a:off x="731520" y="1883664"/>
            <a:ext cx="5257800" cy="603504"/>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FFFFFF"/>
                </a:solidFill>
                <a:latin typeface="Courier New"/>
              </a:rPr>
              <a:t>LEFT JOIN taxability_matrix</a:t>
            </a:r>
          </a:p>
          <a:p>
            <a:pPr>
              <a:lnSpc>
                <a:spcPct val="115000"/>
              </a:lnSpc>
              <a:spcBef>
                <a:spcPts val="0"/>
              </a:spcBef>
              <a:spcAft>
                <a:spcPts val="0"/>
              </a:spcAft>
            </a:pPr>
            <a:r>
              <a:rPr sz="1100" b="0" i="0">
                <a:solidFill>
                  <a:srgbClr val="FFFFFF"/>
                </a:solidFill>
                <a:latin typeface="Courier New"/>
              </a:rPr>
              <a:t>  ON final_category = cluster AND state = state</a:t>
            </a:r>
          </a:p>
        </p:txBody>
      </p:sp>
      <p:sp>
        <p:nvSpPr>
          <p:cNvPr id="7" name="TextBox 6"/>
          <p:cNvSpPr txBox="1"/>
          <p:nvPr/>
        </p:nvSpPr>
        <p:spPr>
          <a:xfrm>
            <a:off x="457200" y="2761488"/>
            <a:ext cx="5806440" cy="274320"/>
          </a:xfrm>
          <a:prstGeom prst="rect">
            <a:avLst/>
          </a:prstGeom>
          <a:noFill/>
        </p:spPr>
        <p:txBody>
          <a:bodyPr wrap="square" lIns="0" rIns="0" tIns="0" bIns="0" anchor="t">
            <a:spAutoFit/>
          </a:bodyPr>
          <a:lstStyle/>
          <a:p>
            <a:pPr algn="l">
              <a:spcBef>
                <a:spcPts val="0"/>
              </a:spcBef>
              <a:spcAft>
                <a:spcPts val="0"/>
              </a:spcAft>
            </a:pPr>
            <a:r>
              <a:rPr sz="1350" b="1" i="0">
                <a:solidFill>
                  <a:srgbClr val="1E2761"/>
                </a:solidFill>
                <a:latin typeface="Cambria"/>
              </a:rPr>
              <a:t>Every line gets one of five outcomes</a:t>
            </a:r>
          </a:p>
        </p:txBody>
      </p:sp>
      <p:sp>
        <p:nvSpPr>
          <p:cNvPr id="8" name="TextBox 7"/>
          <p:cNvSpPr txBox="1"/>
          <p:nvPr/>
        </p:nvSpPr>
        <p:spPr>
          <a:xfrm>
            <a:off x="502920" y="3154680"/>
            <a:ext cx="2286000" cy="219456"/>
          </a:xfrm>
          <a:prstGeom prst="rect">
            <a:avLst/>
          </a:prstGeom>
          <a:noFill/>
        </p:spPr>
        <p:txBody>
          <a:bodyPr wrap="square" lIns="0" rIns="0" tIns="0" bIns="0" anchor="t">
            <a:spAutoFit/>
          </a:bodyPr>
          <a:lstStyle/>
          <a:p>
            <a:pPr algn="l">
              <a:spcBef>
                <a:spcPts val="0"/>
              </a:spcBef>
              <a:spcAft>
                <a:spcPts val="0"/>
              </a:spcAft>
            </a:pPr>
            <a:r>
              <a:rPr sz="1000" b="1" i="0">
                <a:solidFill>
                  <a:srgbClr val="3D5A80"/>
                </a:solidFill>
                <a:latin typeface="Calibri"/>
              </a:rPr>
              <a:t>matrix</a:t>
            </a:r>
          </a:p>
        </p:txBody>
      </p:sp>
      <p:sp>
        <p:nvSpPr>
          <p:cNvPr id="9" name="TextBox 8"/>
          <p:cNvSpPr txBox="1"/>
          <p:nvPr/>
        </p:nvSpPr>
        <p:spPr>
          <a:xfrm>
            <a:off x="2880360" y="3154680"/>
            <a:ext cx="731520" cy="219456"/>
          </a:xfrm>
          <a:prstGeom prst="rect">
            <a:avLst/>
          </a:prstGeom>
          <a:noFill/>
        </p:spPr>
        <p:txBody>
          <a:bodyPr wrap="square" lIns="0" rIns="0" tIns="0" bIns="0" anchor="t">
            <a:spAutoFit/>
          </a:bodyPr>
          <a:lstStyle/>
          <a:p>
            <a:pPr algn="r">
              <a:spcBef>
                <a:spcPts val="0"/>
              </a:spcBef>
              <a:spcAft>
                <a:spcPts val="0"/>
              </a:spcAft>
            </a:pPr>
            <a:r>
              <a:rPr sz="1050" b="1" i="0">
                <a:solidFill>
                  <a:srgbClr val="1E2761"/>
                </a:solidFill>
                <a:latin typeface="Calibri"/>
              </a:rPr>
              <a:t>6,715</a:t>
            </a:r>
          </a:p>
        </p:txBody>
      </p:sp>
      <p:sp>
        <p:nvSpPr>
          <p:cNvPr id="10" name="TextBox 9"/>
          <p:cNvSpPr txBox="1"/>
          <p:nvPr/>
        </p:nvSpPr>
        <p:spPr>
          <a:xfrm>
            <a:off x="3794760" y="3154680"/>
            <a:ext cx="246888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priced — Taxable or Exempt</a:t>
            </a:r>
          </a:p>
        </p:txBody>
      </p:sp>
      <p:sp>
        <p:nvSpPr>
          <p:cNvPr id="11" name="TextBox 10"/>
          <p:cNvSpPr txBox="1"/>
          <p:nvPr/>
        </p:nvSpPr>
        <p:spPr>
          <a:xfrm>
            <a:off x="502920" y="3538728"/>
            <a:ext cx="2286000" cy="219456"/>
          </a:xfrm>
          <a:prstGeom prst="rect">
            <a:avLst/>
          </a:prstGeom>
          <a:noFill/>
        </p:spPr>
        <p:txBody>
          <a:bodyPr wrap="square" lIns="0" rIns="0" tIns="0" bIns="0" anchor="t">
            <a:spAutoFit/>
          </a:bodyPr>
          <a:lstStyle/>
          <a:p>
            <a:pPr algn="l">
              <a:spcBef>
                <a:spcPts val="0"/>
              </a:spcBef>
              <a:spcAft>
                <a:spcPts val="0"/>
              </a:spcAft>
            </a:pPr>
            <a:r>
              <a:rPr sz="1000" b="1" i="0">
                <a:solidFill>
                  <a:srgbClr val="5A6472"/>
                </a:solidFill>
                <a:latin typeface="Calibri"/>
              </a:rPr>
              <a:t>out_of_scope_jurisdiction</a:t>
            </a:r>
          </a:p>
        </p:txBody>
      </p:sp>
      <p:sp>
        <p:nvSpPr>
          <p:cNvPr id="12" name="TextBox 11"/>
          <p:cNvSpPr txBox="1"/>
          <p:nvPr/>
        </p:nvSpPr>
        <p:spPr>
          <a:xfrm>
            <a:off x="2880360" y="3538728"/>
            <a:ext cx="731520" cy="219456"/>
          </a:xfrm>
          <a:prstGeom prst="rect">
            <a:avLst/>
          </a:prstGeom>
          <a:noFill/>
        </p:spPr>
        <p:txBody>
          <a:bodyPr wrap="square" lIns="0" rIns="0" tIns="0" bIns="0" anchor="t">
            <a:spAutoFit/>
          </a:bodyPr>
          <a:lstStyle/>
          <a:p>
            <a:pPr algn="r">
              <a:spcBef>
                <a:spcPts val="0"/>
              </a:spcBef>
              <a:spcAft>
                <a:spcPts val="0"/>
              </a:spcAft>
            </a:pPr>
            <a:r>
              <a:rPr sz="1050" b="1" i="0">
                <a:solidFill>
                  <a:srgbClr val="1E2761"/>
                </a:solidFill>
                <a:latin typeface="Calibri"/>
              </a:rPr>
              <a:t>296</a:t>
            </a:r>
          </a:p>
        </p:txBody>
      </p:sp>
      <p:sp>
        <p:nvSpPr>
          <p:cNvPr id="13" name="TextBox 12"/>
          <p:cNvSpPr txBox="1"/>
          <p:nvPr/>
        </p:nvSpPr>
        <p:spPr>
          <a:xfrm>
            <a:off x="3794760" y="3538728"/>
            <a:ext cx="246888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state is not one of the 58 covered</a:t>
            </a:r>
          </a:p>
        </p:txBody>
      </p:sp>
      <p:sp>
        <p:nvSpPr>
          <p:cNvPr id="14" name="TextBox 13"/>
          <p:cNvSpPr txBox="1"/>
          <p:nvPr/>
        </p:nvSpPr>
        <p:spPr>
          <a:xfrm>
            <a:off x="502920" y="3922776"/>
            <a:ext cx="2286000" cy="219456"/>
          </a:xfrm>
          <a:prstGeom prst="rect">
            <a:avLst/>
          </a:prstGeom>
          <a:noFill/>
        </p:spPr>
        <p:txBody>
          <a:bodyPr wrap="square" lIns="0" rIns="0" tIns="0" bIns="0" anchor="t">
            <a:spAutoFit/>
          </a:bodyPr>
          <a:lstStyle/>
          <a:p>
            <a:pPr algn="l">
              <a:spcBef>
                <a:spcPts val="0"/>
              </a:spcBef>
              <a:spcAft>
                <a:spcPts val="0"/>
              </a:spcAft>
            </a:pPr>
            <a:r>
              <a:rPr sz="1000" b="1" i="0">
                <a:solidFill>
                  <a:srgbClr val="5A6472"/>
                </a:solidFill>
                <a:latin typeface="Calibri"/>
              </a:rPr>
              <a:t>no_match</a:t>
            </a:r>
          </a:p>
        </p:txBody>
      </p:sp>
      <p:sp>
        <p:nvSpPr>
          <p:cNvPr id="15" name="TextBox 14"/>
          <p:cNvSpPr txBox="1"/>
          <p:nvPr/>
        </p:nvSpPr>
        <p:spPr>
          <a:xfrm>
            <a:off x="2880360" y="3922776"/>
            <a:ext cx="731520" cy="219456"/>
          </a:xfrm>
          <a:prstGeom prst="rect">
            <a:avLst/>
          </a:prstGeom>
          <a:noFill/>
        </p:spPr>
        <p:txBody>
          <a:bodyPr wrap="square" lIns="0" rIns="0" tIns="0" bIns="0" anchor="t">
            <a:spAutoFit/>
          </a:bodyPr>
          <a:lstStyle/>
          <a:p>
            <a:pPr algn="r">
              <a:spcBef>
                <a:spcPts val="0"/>
              </a:spcBef>
              <a:spcAft>
                <a:spcPts val="0"/>
              </a:spcAft>
            </a:pPr>
            <a:r>
              <a:rPr sz="1050" b="1" i="0">
                <a:solidFill>
                  <a:srgbClr val="1E2761"/>
                </a:solidFill>
                <a:latin typeface="Calibri"/>
              </a:rPr>
              <a:t>169</a:t>
            </a:r>
          </a:p>
        </p:txBody>
      </p:sp>
      <p:sp>
        <p:nvSpPr>
          <p:cNvPr id="16" name="TextBox 15"/>
          <p:cNvSpPr txBox="1"/>
          <p:nvPr/>
        </p:nvSpPr>
        <p:spPr>
          <a:xfrm>
            <a:off x="3794760" y="3922776"/>
            <a:ext cx="246888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cluster has no row in the mapping</a:t>
            </a:r>
          </a:p>
        </p:txBody>
      </p:sp>
      <p:sp>
        <p:nvSpPr>
          <p:cNvPr id="17" name="TextBox 16"/>
          <p:cNvSpPr txBox="1"/>
          <p:nvPr/>
        </p:nvSpPr>
        <p:spPr>
          <a:xfrm>
            <a:off x="502920" y="4306824"/>
            <a:ext cx="2286000" cy="219456"/>
          </a:xfrm>
          <a:prstGeom prst="rect">
            <a:avLst/>
          </a:prstGeom>
          <a:noFill/>
        </p:spPr>
        <p:txBody>
          <a:bodyPr wrap="square" lIns="0" rIns="0" tIns="0" bIns="0" anchor="t">
            <a:spAutoFit/>
          </a:bodyPr>
          <a:lstStyle/>
          <a:p>
            <a:pPr algn="l">
              <a:spcBef>
                <a:spcPts val="0"/>
              </a:spcBef>
              <a:spcAft>
                <a:spcPts val="0"/>
              </a:spcAft>
            </a:pPr>
            <a:r>
              <a:rPr sz="1000" b="1" i="0">
                <a:solidFill>
                  <a:srgbClr val="5A6472"/>
                </a:solidFill>
                <a:latin typeface="Calibri"/>
              </a:rPr>
              <a:t>conditional_T*</a:t>
            </a:r>
          </a:p>
        </p:txBody>
      </p:sp>
      <p:sp>
        <p:nvSpPr>
          <p:cNvPr id="18" name="TextBox 17"/>
          <p:cNvSpPr txBox="1"/>
          <p:nvPr/>
        </p:nvSpPr>
        <p:spPr>
          <a:xfrm>
            <a:off x="2880360" y="4306824"/>
            <a:ext cx="731520" cy="219456"/>
          </a:xfrm>
          <a:prstGeom prst="rect">
            <a:avLst/>
          </a:prstGeom>
          <a:noFill/>
        </p:spPr>
        <p:txBody>
          <a:bodyPr wrap="square" lIns="0" rIns="0" tIns="0" bIns="0" anchor="t">
            <a:spAutoFit/>
          </a:bodyPr>
          <a:lstStyle/>
          <a:p>
            <a:pPr algn="r">
              <a:spcBef>
                <a:spcPts val="0"/>
              </a:spcBef>
              <a:spcAft>
                <a:spcPts val="0"/>
              </a:spcAft>
            </a:pPr>
            <a:r>
              <a:rPr sz="1050" b="1" i="0">
                <a:solidFill>
                  <a:srgbClr val="1E2761"/>
                </a:solidFill>
                <a:latin typeface="Calibri"/>
              </a:rPr>
              <a:t>29</a:t>
            </a:r>
          </a:p>
        </p:txBody>
      </p:sp>
      <p:sp>
        <p:nvSpPr>
          <p:cNvPr id="19" name="TextBox 18"/>
          <p:cNvSpPr txBox="1"/>
          <p:nvPr/>
        </p:nvSpPr>
        <p:spPr>
          <a:xfrm>
            <a:off x="3794760" y="4306824"/>
            <a:ext cx="246888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client marked it T* and never defined it</a:t>
            </a:r>
          </a:p>
        </p:txBody>
      </p:sp>
      <p:sp>
        <p:nvSpPr>
          <p:cNvPr id="20" name="TextBox 19"/>
          <p:cNvSpPr txBox="1"/>
          <p:nvPr/>
        </p:nvSpPr>
        <p:spPr>
          <a:xfrm>
            <a:off x="502920" y="4690872"/>
            <a:ext cx="2286000" cy="219456"/>
          </a:xfrm>
          <a:prstGeom prst="rect">
            <a:avLst/>
          </a:prstGeom>
          <a:noFill/>
        </p:spPr>
        <p:txBody>
          <a:bodyPr wrap="square" lIns="0" rIns="0" tIns="0" bIns="0" anchor="t">
            <a:spAutoFit/>
          </a:bodyPr>
          <a:lstStyle/>
          <a:p>
            <a:pPr algn="l">
              <a:spcBef>
                <a:spcPts val="0"/>
              </a:spcBef>
              <a:spcAft>
                <a:spcPts val="0"/>
              </a:spcAft>
            </a:pPr>
            <a:r>
              <a:rPr sz="1000" b="1" i="0">
                <a:solidFill>
                  <a:srgbClr val="5A6472"/>
                </a:solidFill>
                <a:latin typeface="Calibri"/>
              </a:rPr>
              <a:t>unmapped_category</a:t>
            </a:r>
          </a:p>
        </p:txBody>
      </p:sp>
      <p:sp>
        <p:nvSpPr>
          <p:cNvPr id="21" name="TextBox 20"/>
          <p:cNvSpPr txBox="1"/>
          <p:nvPr/>
        </p:nvSpPr>
        <p:spPr>
          <a:xfrm>
            <a:off x="2880360" y="4690872"/>
            <a:ext cx="731520" cy="219456"/>
          </a:xfrm>
          <a:prstGeom prst="rect">
            <a:avLst/>
          </a:prstGeom>
          <a:noFill/>
        </p:spPr>
        <p:txBody>
          <a:bodyPr wrap="square" lIns="0" rIns="0" tIns="0" bIns="0" anchor="t">
            <a:spAutoFit/>
          </a:bodyPr>
          <a:lstStyle/>
          <a:p>
            <a:pPr algn="r">
              <a:spcBef>
                <a:spcPts val="0"/>
              </a:spcBef>
              <a:spcAft>
                <a:spcPts val="0"/>
              </a:spcAft>
            </a:pPr>
            <a:r>
              <a:rPr sz="1050" b="1" i="0">
                <a:solidFill>
                  <a:srgbClr val="1E2761"/>
                </a:solidFill>
                <a:latin typeface="Calibri"/>
              </a:rPr>
              <a:t>24</a:t>
            </a:r>
          </a:p>
        </p:txBody>
      </p:sp>
      <p:sp>
        <p:nvSpPr>
          <p:cNvPr id="22" name="TextBox 21"/>
          <p:cNvSpPr txBox="1"/>
          <p:nvPr/>
        </p:nvSpPr>
        <p:spPr>
          <a:xfrm>
            <a:off x="3794760" y="4690872"/>
            <a:ext cx="2468880" cy="219456"/>
          </a:xfrm>
          <a:prstGeom prst="rect">
            <a:avLst/>
          </a:prstGeom>
          <a:noFill/>
        </p:spPr>
        <p:txBody>
          <a:bodyPr wrap="square" lIns="0" rIns="0" tIns="0" bIns="0" anchor="t">
            <a:spAutoFit/>
          </a:bodyPr>
          <a:lstStyle/>
          <a:p>
            <a:pPr algn="l">
              <a:spcBef>
                <a:spcPts val="0"/>
              </a:spcBef>
              <a:spcAft>
                <a:spcPts val="0"/>
              </a:spcAft>
            </a:pPr>
            <a:r>
              <a:rPr sz="950" b="0" i="0">
                <a:solidFill>
                  <a:srgbClr val="5A6472"/>
                </a:solidFill>
                <a:latin typeface="Calibri"/>
              </a:rPr>
              <a:t>vertex category has no TAC row</a:t>
            </a:r>
          </a:p>
        </p:txBody>
      </p:sp>
      <p:sp>
        <p:nvSpPr>
          <p:cNvPr id="23" name="Rounded Rectangle 22"/>
          <p:cNvSpPr/>
          <p:nvPr/>
        </p:nvSpPr>
        <p:spPr>
          <a:xfrm>
            <a:off x="6537960" y="1417320"/>
            <a:ext cx="5193792" cy="2395728"/>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12280" y="1627632"/>
            <a:ext cx="466344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3.3b — reverse the use tax?</a:t>
            </a:r>
          </a:p>
        </p:txBody>
      </p:sp>
      <p:sp>
        <p:nvSpPr>
          <p:cNvPr id="25" name="TextBox 24"/>
          <p:cNvSpPr txBox="1"/>
          <p:nvPr/>
        </p:nvSpPr>
        <p:spPr>
          <a:xfrm>
            <a:off x="6812280" y="2084831"/>
            <a:ext cx="260604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use tax &gt; 0  ·  Exempt</a:t>
            </a:r>
          </a:p>
        </p:txBody>
      </p:sp>
      <p:sp>
        <p:nvSpPr>
          <p:cNvPr id="26" name="TextBox 25"/>
          <p:cNvSpPr txBox="1"/>
          <p:nvPr/>
        </p:nvSpPr>
        <p:spPr>
          <a:xfrm>
            <a:off x="9509760" y="2084831"/>
            <a:ext cx="1965960" cy="219456"/>
          </a:xfrm>
          <a:prstGeom prst="rect">
            <a:avLst/>
          </a:prstGeom>
          <a:noFill/>
        </p:spPr>
        <p:txBody>
          <a:bodyPr wrap="square" lIns="0" rIns="0" tIns="0" bIns="0" anchor="t">
            <a:spAutoFit/>
          </a:bodyPr>
          <a:lstStyle/>
          <a:p>
            <a:pPr algn="l">
              <a:spcBef>
                <a:spcPts val="0"/>
              </a:spcBef>
              <a:spcAft>
                <a:spcPts val="0"/>
              </a:spcAft>
            </a:pPr>
            <a:r>
              <a:rPr sz="1000" b="1" i="0">
                <a:solidFill>
                  <a:srgbClr val="3D5A80"/>
                </a:solidFill>
                <a:latin typeface="Calibri"/>
              </a:rPr>
              <a:t>Yes — reversal required</a:t>
            </a:r>
          </a:p>
        </p:txBody>
      </p:sp>
      <p:sp>
        <p:nvSpPr>
          <p:cNvPr id="27" name="TextBox 26"/>
          <p:cNvSpPr txBox="1"/>
          <p:nvPr/>
        </p:nvSpPr>
        <p:spPr>
          <a:xfrm>
            <a:off x="6812280" y="2468879"/>
            <a:ext cx="260604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use tax &gt; 0  ·  Taxable</a:t>
            </a:r>
          </a:p>
        </p:txBody>
      </p:sp>
      <p:sp>
        <p:nvSpPr>
          <p:cNvPr id="28" name="TextBox 27"/>
          <p:cNvSpPr txBox="1"/>
          <p:nvPr/>
        </p:nvSpPr>
        <p:spPr>
          <a:xfrm>
            <a:off x="9509760" y="2468879"/>
            <a:ext cx="1965960" cy="219456"/>
          </a:xfrm>
          <a:prstGeom prst="rect">
            <a:avLst/>
          </a:prstGeom>
          <a:noFill/>
        </p:spPr>
        <p:txBody>
          <a:bodyPr wrap="square" lIns="0" rIns="0" tIns="0" bIns="0" anchor="t">
            <a:spAutoFit/>
          </a:bodyPr>
          <a:lstStyle/>
          <a:p>
            <a:pPr algn="l">
              <a:spcBef>
                <a:spcPts val="0"/>
              </a:spcBef>
              <a:spcAft>
                <a:spcPts val="0"/>
              </a:spcAft>
            </a:pPr>
            <a:r>
              <a:rPr sz="1000" b="1" i="0">
                <a:solidFill>
                  <a:srgbClr val="3D5A80"/>
                </a:solidFill>
                <a:latin typeface="Calibri"/>
              </a:rPr>
              <a:t>No</a:t>
            </a:r>
          </a:p>
        </p:txBody>
      </p:sp>
      <p:sp>
        <p:nvSpPr>
          <p:cNvPr id="29" name="TextBox 28"/>
          <p:cNvSpPr txBox="1"/>
          <p:nvPr/>
        </p:nvSpPr>
        <p:spPr>
          <a:xfrm>
            <a:off x="6812280" y="2852927"/>
            <a:ext cx="260604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use tax = 0</a:t>
            </a:r>
          </a:p>
        </p:txBody>
      </p:sp>
      <p:sp>
        <p:nvSpPr>
          <p:cNvPr id="30" name="TextBox 29"/>
          <p:cNvSpPr txBox="1"/>
          <p:nvPr/>
        </p:nvSpPr>
        <p:spPr>
          <a:xfrm>
            <a:off x="9509760" y="2852927"/>
            <a:ext cx="1965960" cy="219456"/>
          </a:xfrm>
          <a:prstGeom prst="rect">
            <a:avLst/>
          </a:prstGeom>
          <a:noFill/>
        </p:spPr>
        <p:txBody>
          <a:bodyPr wrap="square" lIns="0" rIns="0" tIns="0" bIns="0" anchor="t">
            <a:spAutoFit/>
          </a:bodyPr>
          <a:lstStyle/>
          <a:p>
            <a:pPr algn="l">
              <a:spcBef>
                <a:spcPts val="0"/>
              </a:spcBef>
              <a:spcAft>
                <a:spcPts val="0"/>
              </a:spcAft>
            </a:pPr>
            <a:r>
              <a:rPr sz="1000" b="1" i="0">
                <a:solidFill>
                  <a:srgbClr val="3D5A80"/>
                </a:solidFill>
                <a:latin typeface="Calibri"/>
              </a:rPr>
              <a:t>No</a:t>
            </a:r>
          </a:p>
        </p:txBody>
      </p:sp>
      <p:sp>
        <p:nvSpPr>
          <p:cNvPr id="31" name="TextBox 30"/>
          <p:cNvSpPr txBox="1"/>
          <p:nvPr/>
        </p:nvSpPr>
        <p:spPr>
          <a:xfrm>
            <a:off x="6812280" y="3236975"/>
            <a:ext cx="260604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either value NULL</a:t>
            </a:r>
          </a:p>
        </p:txBody>
      </p:sp>
      <p:sp>
        <p:nvSpPr>
          <p:cNvPr id="32" name="TextBox 31"/>
          <p:cNvSpPr txBox="1"/>
          <p:nvPr/>
        </p:nvSpPr>
        <p:spPr>
          <a:xfrm>
            <a:off x="9509760" y="3236975"/>
            <a:ext cx="1965960" cy="219456"/>
          </a:xfrm>
          <a:prstGeom prst="rect">
            <a:avLst/>
          </a:prstGeom>
          <a:noFill/>
        </p:spPr>
        <p:txBody>
          <a:bodyPr wrap="square" lIns="0" rIns="0" tIns="0" bIns="0" anchor="t">
            <a:spAutoFit/>
          </a:bodyPr>
          <a:lstStyle/>
          <a:p>
            <a:pPr algn="l">
              <a:spcBef>
                <a:spcPts val="0"/>
              </a:spcBef>
              <a:spcAft>
                <a:spcPts val="0"/>
              </a:spcAft>
            </a:pPr>
            <a:r>
              <a:rPr sz="1000" b="1" i="0">
                <a:solidFill>
                  <a:srgbClr val="3D5A80"/>
                </a:solidFill>
                <a:latin typeface="Calibri"/>
              </a:rPr>
              <a:t>undetermined — not 'No'</a:t>
            </a:r>
          </a:p>
        </p:txBody>
      </p:sp>
      <p:sp>
        <p:nvSpPr>
          <p:cNvPr id="33" name="TextBox 32"/>
          <p:cNvSpPr txBox="1"/>
          <p:nvPr/>
        </p:nvSpPr>
        <p:spPr>
          <a:xfrm>
            <a:off x="6812280" y="3639312"/>
            <a:ext cx="4663440" cy="219456"/>
          </a:xfrm>
          <a:prstGeom prst="rect">
            <a:avLst/>
          </a:prstGeom>
          <a:noFill/>
        </p:spPr>
        <p:txBody>
          <a:bodyPr wrap="square" lIns="0" rIns="0" tIns="0" bIns="0" anchor="t">
            <a:spAutoFit/>
          </a:bodyPr>
          <a:lstStyle/>
          <a:p>
            <a:pPr algn="l">
              <a:spcBef>
                <a:spcPts val="0"/>
              </a:spcBef>
              <a:spcAft>
                <a:spcPts val="0"/>
              </a:spcAft>
            </a:pPr>
            <a:r>
              <a:rPr sz="950" b="0" i="1">
                <a:solidFill>
                  <a:srgbClr val="5A6472"/>
                </a:solidFill>
                <a:latin typeface="Calibri"/>
              </a:rPr>
              <a:t>Use tax is read from TAX_AMOUNT qualified by TAX_TYPE = 'UT'.</a:t>
            </a:r>
          </a:p>
        </p:txBody>
      </p:sp>
      <p:sp>
        <p:nvSpPr>
          <p:cNvPr id="34" name="Rounded Rectangle 33"/>
          <p:cNvSpPr/>
          <p:nvPr/>
        </p:nvSpPr>
        <p:spPr>
          <a:xfrm>
            <a:off x="6537960" y="4041648"/>
            <a:ext cx="5193792" cy="1828800"/>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812280" y="4251960"/>
            <a:ext cx="4663440" cy="274320"/>
          </a:xfrm>
          <a:prstGeom prst="rect">
            <a:avLst/>
          </a:prstGeom>
          <a:noFill/>
        </p:spPr>
        <p:txBody>
          <a:bodyPr wrap="square" lIns="0" rIns="0" tIns="0" bIns="0" anchor="t">
            <a:spAutoFit/>
          </a:bodyPr>
          <a:lstStyle/>
          <a:p>
            <a:pPr algn="l">
              <a:spcBef>
                <a:spcPts val="0"/>
              </a:spcBef>
              <a:spcAft>
                <a:spcPts val="0"/>
              </a:spcAft>
            </a:pPr>
            <a:r>
              <a:rPr sz="1450" b="1" i="0">
                <a:solidFill>
                  <a:srgbClr val="FFFFFF"/>
                </a:solidFill>
                <a:latin typeface="Cambria"/>
              </a:rPr>
              <a:t>NULL is not Exempt</a:t>
            </a:r>
          </a:p>
        </p:txBody>
      </p:sp>
      <p:sp>
        <p:nvSpPr>
          <p:cNvPr id="36" name="TextBox 35"/>
          <p:cNvSpPr txBox="1"/>
          <p:nvPr/>
        </p:nvSpPr>
        <p:spPr>
          <a:xfrm>
            <a:off x="6812280" y="4617720"/>
            <a:ext cx="4663440" cy="1097280"/>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CADCFC"/>
                </a:solidFill>
                <a:latin typeface="Calibri"/>
              </a:rPr>
              <a:t>An unresolved line carries NULL taxability, no write-up, and a HIGH review priority. It is never silently priced as exempt, and tax_source names which of the four failure modes caused it — so the review queue can be split by who has to act: the client, the rules owner, or nobody at all.</a:t>
            </a:r>
          </a:p>
        </p:txBody>
      </p:sp>
      <p:sp>
        <p:nvSpPr>
          <p:cNvPr id="37" name="TextBox 36"/>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8" name="TextBox 37"/>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Task 3.4 and 3.5 — Audit Narrative and QA</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Every priced line gets a defensible explanation; every line gets scored for risk</a:t>
            </a:r>
          </a:p>
        </p:txBody>
      </p:sp>
      <p:sp>
        <p:nvSpPr>
          <p:cNvPr id="4" name="Rounded Rectangle 3"/>
          <p:cNvSpPr/>
          <p:nvPr/>
        </p:nvSpPr>
        <p:spPr>
          <a:xfrm>
            <a:off x="457200" y="1417320"/>
            <a:ext cx="5806440" cy="4434840"/>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627632"/>
            <a:ext cx="525780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3.4 — the write-up policy</a:t>
            </a:r>
          </a:p>
        </p:txBody>
      </p:sp>
      <p:sp>
        <p:nvSpPr>
          <p:cNvPr id="6" name="TextBox 5"/>
          <p:cNvSpPr txBox="1"/>
          <p:nvPr/>
        </p:nvSpPr>
        <p:spPr>
          <a:xfrm>
            <a:off x="731520" y="2057400"/>
            <a:ext cx="5257800" cy="237744"/>
          </a:xfrm>
          <a:prstGeom prst="rect">
            <a:avLst/>
          </a:prstGeom>
          <a:noFill/>
        </p:spPr>
        <p:txBody>
          <a:bodyPr wrap="square" lIns="0" rIns="0" tIns="0" bIns="0" anchor="t">
            <a:spAutoFit/>
          </a:bodyPr>
          <a:lstStyle/>
          <a:p>
            <a:pPr algn="l">
              <a:spcBef>
                <a:spcPts val="0"/>
              </a:spcBef>
              <a:spcAft>
                <a:spcPts val="0"/>
              </a:spcAft>
            </a:pPr>
            <a:r>
              <a:rPr sz="1150" b="1" i="0">
                <a:solidFill>
                  <a:srgbClr val="5A6472"/>
                </a:solidFill>
                <a:latin typeface="Calibri"/>
              </a:rPr>
              <a:t>taxability IS NULL</a:t>
            </a:r>
          </a:p>
        </p:txBody>
      </p:sp>
      <p:sp>
        <p:nvSpPr>
          <p:cNvPr id="7" name="TextBox 6"/>
          <p:cNvSpPr txBox="1"/>
          <p:nvPr/>
        </p:nvSpPr>
        <p:spPr>
          <a:xfrm>
            <a:off x="731520" y="2313432"/>
            <a:ext cx="5257800" cy="786384"/>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5A6472"/>
                </a:solidFill>
                <a:latin typeface="Calibri"/>
              </a:rPr>
              <a:t>No write-up at all. The line is pending review, so fabricating an audit-ready justification would be worse than silence. It gets a reviewer_note instead.</a:t>
            </a:r>
          </a:p>
        </p:txBody>
      </p:sp>
      <p:sp>
        <p:nvSpPr>
          <p:cNvPr id="8" name="TextBox 7"/>
          <p:cNvSpPr txBox="1"/>
          <p:nvPr/>
        </p:nvSpPr>
        <p:spPr>
          <a:xfrm>
            <a:off x="731520" y="3227832"/>
            <a:ext cx="5257800" cy="237744"/>
          </a:xfrm>
          <a:prstGeom prst="rect">
            <a:avLst/>
          </a:prstGeom>
          <a:noFill/>
        </p:spPr>
        <p:txBody>
          <a:bodyPr wrap="square" lIns="0" rIns="0" tIns="0" bIns="0" anchor="t">
            <a:spAutoFit/>
          </a:bodyPr>
          <a:lstStyle/>
          <a:p>
            <a:pPr algn="l">
              <a:spcBef>
                <a:spcPts val="0"/>
              </a:spcBef>
              <a:spcAft>
                <a:spcPts val="0"/>
              </a:spcAft>
            </a:pPr>
            <a:r>
              <a:rPr sz="1150" b="1" i="0">
                <a:solidFill>
                  <a:srgbClr val="3D5A80"/>
                </a:solidFill>
                <a:latin typeface="Calibri"/>
              </a:rPr>
              <a:t>Needs a narrative</a:t>
            </a:r>
          </a:p>
        </p:txBody>
      </p:sp>
      <p:sp>
        <p:nvSpPr>
          <p:cNvPr id="9" name="TextBox 8"/>
          <p:cNvSpPr txBox="1"/>
          <p:nvPr/>
        </p:nvSpPr>
        <p:spPr>
          <a:xfrm>
            <a:off x="731520" y="3483864"/>
            <a:ext cx="5257800" cy="786384"/>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5A6472"/>
                </a:solidFill>
                <a:latin typeface="Calibri"/>
              </a:rPr>
              <a:t>Use-tax reversal, a COMPLEX disagreement, or an ML-decided line — a full RAG-grounded LLM write-up, when the flag is on.</a:t>
            </a:r>
          </a:p>
        </p:txBody>
      </p:sp>
      <p:sp>
        <p:nvSpPr>
          <p:cNvPr id="10" name="TextBox 9"/>
          <p:cNvSpPr txBox="1"/>
          <p:nvPr/>
        </p:nvSpPr>
        <p:spPr>
          <a:xfrm>
            <a:off x="731520" y="4398264"/>
            <a:ext cx="5257800" cy="237744"/>
          </a:xfrm>
          <a:prstGeom prst="rect">
            <a:avLst/>
          </a:prstGeom>
          <a:noFill/>
        </p:spPr>
        <p:txBody>
          <a:bodyPr wrap="square" lIns="0" rIns="0" tIns="0" bIns="0" anchor="t">
            <a:spAutoFit/>
          </a:bodyPr>
          <a:lstStyle/>
          <a:p>
            <a:pPr algn="l">
              <a:spcBef>
                <a:spcPts val="0"/>
              </a:spcBef>
              <a:spcAft>
                <a:spcPts val="0"/>
              </a:spcAft>
            </a:pPr>
            <a:r>
              <a:rPr sz="1150" b="1" i="0">
                <a:solidFill>
                  <a:srgbClr val="5A6472"/>
                </a:solidFill>
                <a:latin typeface="Calibri"/>
              </a:rPr>
              <a:t>Everything else</a:t>
            </a:r>
          </a:p>
        </p:txBody>
      </p:sp>
      <p:sp>
        <p:nvSpPr>
          <p:cNvPr id="11" name="TextBox 10"/>
          <p:cNvSpPr txBox="1"/>
          <p:nvPr/>
        </p:nvSpPr>
        <p:spPr>
          <a:xfrm>
            <a:off x="731520" y="4654296"/>
            <a:ext cx="5257800" cy="786384"/>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5A6472"/>
                </a:solidFill>
                <a:latin typeface="Calibri"/>
              </a:rPr>
              <a:t>An instant templated justification naming the category, the state, the taxability and the determination source. No LLM call.</a:t>
            </a:r>
          </a:p>
        </p:txBody>
      </p:sp>
      <p:sp>
        <p:nvSpPr>
          <p:cNvPr id="12" name="TextBox 11"/>
          <p:cNvSpPr txBox="1"/>
          <p:nvPr/>
        </p:nvSpPr>
        <p:spPr>
          <a:xfrm>
            <a:off x="731520" y="5532120"/>
            <a:ext cx="5257800" cy="237744"/>
          </a:xfrm>
          <a:prstGeom prst="rect">
            <a:avLst/>
          </a:prstGeom>
          <a:noFill/>
        </p:spPr>
        <p:txBody>
          <a:bodyPr wrap="square" lIns="0" rIns="0" tIns="0" bIns="0" anchor="t">
            <a:spAutoFit/>
          </a:bodyPr>
          <a:lstStyle/>
          <a:p>
            <a:pPr algn="l">
              <a:spcBef>
                <a:spcPts val="0"/>
              </a:spcBef>
              <a:spcAft>
                <a:spcPts val="0"/>
              </a:spcAft>
            </a:pPr>
            <a:r>
              <a:rPr sz="1000" b="0" i="1">
                <a:solidFill>
                  <a:srgbClr val="3D5A80"/>
                </a:solidFill>
                <a:latin typeface="Calibri"/>
              </a:rPr>
              <a:t>audit_ready = taxability present AND a write-up exists.</a:t>
            </a:r>
          </a:p>
        </p:txBody>
      </p:sp>
      <p:sp>
        <p:nvSpPr>
          <p:cNvPr id="13" name="Rounded Rectangle 12"/>
          <p:cNvSpPr/>
          <p:nvPr/>
        </p:nvSpPr>
        <p:spPr>
          <a:xfrm>
            <a:off x="6537960" y="1417320"/>
            <a:ext cx="5193792" cy="2907792"/>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627632"/>
            <a:ext cx="4663440" cy="274320"/>
          </a:xfrm>
          <a:prstGeom prst="rect">
            <a:avLst/>
          </a:prstGeom>
          <a:noFill/>
        </p:spPr>
        <p:txBody>
          <a:bodyPr wrap="square" lIns="0" rIns="0" tIns="0" bIns="0" anchor="t">
            <a:spAutoFit/>
          </a:bodyPr>
          <a:lstStyle/>
          <a:p>
            <a:pPr algn="l">
              <a:spcBef>
                <a:spcPts val="0"/>
              </a:spcBef>
              <a:spcAft>
                <a:spcPts val="0"/>
              </a:spcAft>
            </a:pPr>
            <a:r>
              <a:rPr sz="1450" b="1" i="0">
                <a:solidFill>
                  <a:srgbClr val="1E2761"/>
                </a:solidFill>
                <a:latin typeface="Cambria"/>
              </a:rPr>
              <a:t>3.5 — six checks over the whole month</a:t>
            </a:r>
          </a:p>
        </p:txBody>
      </p:sp>
      <p:sp>
        <p:nvSpPr>
          <p:cNvPr id="15" name="Oval 14"/>
          <p:cNvSpPr/>
          <p:nvPr/>
        </p:nvSpPr>
        <p:spPr>
          <a:xfrm>
            <a:off x="6812280" y="2020824"/>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1</a:t>
            </a:r>
          </a:p>
        </p:txBody>
      </p:sp>
      <p:sp>
        <p:nvSpPr>
          <p:cNvPr id="16" name="TextBox 15"/>
          <p:cNvSpPr txBox="1"/>
          <p:nvPr/>
        </p:nvSpPr>
        <p:spPr>
          <a:xfrm>
            <a:off x="7114032" y="2029968"/>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Vendor–category consistency</a:t>
            </a:r>
          </a:p>
        </p:txBody>
      </p:sp>
      <p:sp>
        <p:nvSpPr>
          <p:cNvPr id="17" name="Oval 16"/>
          <p:cNvSpPr/>
          <p:nvPr/>
        </p:nvSpPr>
        <p:spPr>
          <a:xfrm>
            <a:off x="6812280" y="2331720"/>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2</a:t>
            </a:r>
          </a:p>
        </p:txBody>
      </p:sp>
      <p:sp>
        <p:nvSpPr>
          <p:cNvPr id="18" name="TextBox 17"/>
          <p:cNvSpPr txBox="1"/>
          <p:nvPr/>
        </p:nvSpPr>
        <p:spPr>
          <a:xfrm>
            <a:off x="7114032" y="2340864"/>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Amount z-score within category</a:t>
            </a:r>
          </a:p>
        </p:txBody>
      </p:sp>
      <p:sp>
        <p:nvSpPr>
          <p:cNvPr id="19" name="Oval 18"/>
          <p:cNvSpPr/>
          <p:nvPr/>
        </p:nvSpPr>
        <p:spPr>
          <a:xfrm>
            <a:off x="6812280" y="2642616"/>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3</a:t>
            </a:r>
          </a:p>
        </p:txBody>
      </p:sp>
      <p:sp>
        <p:nvSpPr>
          <p:cNvPr id="20" name="TextBox 19"/>
          <p:cNvSpPr txBox="1"/>
          <p:nvPr/>
        </p:nvSpPr>
        <p:spPr>
          <a:xfrm>
            <a:off x="7114032" y="2651760"/>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Unseen state × category combination</a:t>
            </a:r>
          </a:p>
        </p:txBody>
      </p:sp>
      <p:sp>
        <p:nvSpPr>
          <p:cNvPr id="21" name="Oval 20"/>
          <p:cNvSpPr/>
          <p:nvPr/>
        </p:nvSpPr>
        <p:spPr>
          <a:xfrm>
            <a:off x="6812280" y="2953512"/>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4</a:t>
            </a:r>
          </a:p>
        </p:txBody>
      </p:sp>
      <p:sp>
        <p:nvSpPr>
          <p:cNvPr id="22" name="TextBox 21"/>
          <p:cNvSpPr txBox="1"/>
          <p:nvPr/>
        </p:nvSpPr>
        <p:spPr>
          <a:xfrm>
            <a:off x="7114032" y="2962656"/>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Rule vs classifier conflict</a:t>
            </a:r>
          </a:p>
        </p:txBody>
      </p:sp>
      <p:sp>
        <p:nvSpPr>
          <p:cNvPr id="23" name="Oval 22"/>
          <p:cNvSpPr/>
          <p:nvPr/>
        </p:nvSpPr>
        <p:spPr>
          <a:xfrm>
            <a:off x="6812280" y="3264408"/>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5</a:t>
            </a:r>
          </a:p>
        </p:txBody>
      </p:sp>
      <p:sp>
        <p:nvSpPr>
          <p:cNvPr id="24" name="TextBox 23"/>
          <p:cNvSpPr txBox="1"/>
          <p:nvPr/>
        </p:nvSpPr>
        <p:spPr>
          <a:xfrm>
            <a:off x="7114032" y="3273551"/>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Taxability sanity against state service rules</a:t>
            </a:r>
          </a:p>
        </p:txBody>
      </p:sp>
      <p:sp>
        <p:nvSpPr>
          <p:cNvPr id="25" name="Oval 24"/>
          <p:cNvSpPr/>
          <p:nvPr/>
        </p:nvSpPr>
        <p:spPr>
          <a:xfrm>
            <a:off x="6812280" y="3575303"/>
            <a:ext cx="201168" cy="2011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E2761"/>
                </a:solidFill>
                <a:latin typeface="Calibri"/>
              </a:rPr>
              <a:t>6</a:t>
            </a:r>
          </a:p>
        </p:txBody>
      </p:sp>
      <p:sp>
        <p:nvSpPr>
          <p:cNvPr id="26" name="TextBox 25"/>
          <p:cNvSpPr txBox="1"/>
          <p:nvPr/>
        </p:nvSpPr>
        <p:spPr>
          <a:xfrm>
            <a:off x="7114032" y="3584447"/>
            <a:ext cx="4389120" cy="219456"/>
          </a:xfrm>
          <a:prstGeom prst="rect">
            <a:avLst/>
          </a:prstGeom>
          <a:noFill/>
        </p:spPr>
        <p:txBody>
          <a:bodyPr wrap="square" lIns="0" rIns="0" tIns="0" bIns="0" anchor="t">
            <a:spAutoFit/>
          </a:bodyPr>
          <a:lstStyle/>
          <a:p>
            <a:pPr algn="l">
              <a:spcBef>
                <a:spcPts val="0"/>
              </a:spcBef>
              <a:spcAft>
                <a:spcPts val="0"/>
              </a:spcAft>
            </a:pPr>
            <a:r>
              <a:rPr sz="1000" b="0" i="0">
                <a:solidFill>
                  <a:srgbClr val="5A6472"/>
                </a:solidFill>
                <a:latin typeface="Calibri"/>
              </a:rPr>
              <a:t>Batch-level outlier</a:t>
            </a:r>
          </a:p>
        </p:txBody>
      </p:sp>
      <p:sp>
        <p:nvSpPr>
          <p:cNvPr id="27" name="TextBox 26"/>
          <p:cNvSpPr txBox="1"/>
          <p:nvPr/>
        </p:nvSpPr>
        <p:spPr>
          <a:xfrm>
            <a:off x="6812280" y="3913632"/>
            <a:ext cx="4663440" cy="274320"/>
          </a:xfrm>
          <a:prstGeom prst="rect">
            <a:avLst/>
          </a:prstGeom>
          <a:noFill/>
        </p:spPr>
        <p:txBody>
          <a:bodyPr wrap="square" lIns="0" rIns="0" tIns="0" bIns="0" anchor="t">
            <a:spAutoFit/>
          </a:bodyPr>
          <a:lstStyle/>
          <a:p>
            <a:pPr algn="l">
              <a:spcBef>
                <a:spcPts val="0"/>
              </a:spcBef>
              <a:spcAft>
                <a:spcPts val="0"/>
              </a:spcAft>
            </a:pPr>
            <a:r>
              <a:rPr sz="950" b="0" i="1">
                <a:solidFill>
                  <a:srgbClr val="5A6472"/>
                </a:solidFill>
                <a:latin typeface="Calibri"/>
              </a:rPr>
              <a:t>Computed over the month's full population, not the ML subset.</a:t>
            </a:r>
          </a:p>
        </p:txBody>
      </p:sp>
      <p:sp>
        <p:nvSpPr>
          <p:cNvPr id="28" name="Rounded Rectangle 27"/>
          <p:cNvSpPr/>
          <p:nvPr/>
        </p:nvSpPr>
        <p:spPr>
          <a:xfrm>
            <a:off x="6537960" y="4498848"/>
            <a:ext cx="5193792" cy="1353312"/>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12280" y="4681728"/>
            <a:ext cx="4663440" cy="256032"/>
          </a:xfrm>
          <a:prstGeom prst="rect">
            <a:avLst/>
          </a:prstGeom>
          <a:noFill/>
        </p:spPr>
        <p:txBody>
          <a:bodyPr wrap="square" lIns="0" rIns="0" tIns="0" bIns="0" anchor="t">
            <a:spAutoFit/>
          </a:bodyPr>
          <a:lstStyle/>
          <a:p>
            <a:pPr algn="l">
              <a:spcBef>
                <a:spcPts val="0"/>
              </a:spcBef>
              <a:spcAft>
                <a:spcPts val="0"/>
              </a:spcAft>
            </a:pPr>
            <a:r>
              <a:rPr sz="1350" b="1" i="0">
                <a:solidFill>
                  <a:srgbClr val="FFFFFF"/>
                </a:solidFill>
                <a:latin typeface="Cambria"/>
              </a:rPr>
              <a:t>From checks to a work queue</a:t>
            </a:r>
          </a:p>
        </p:txBody>
      </p:sp>
      <p:sp>
        <p:nvSpPr>
          <p:cNvPr id="30" name="TextBox 29"/>
          <p:cNvSpPr txBox="1"/>
          <p:nvPr/>
        </p:nvSpPr>
        <p:spPr>
          <a:xfrm>
            <a:off x="6812280" y="5010912"/>
            <a:ext cx="4663440" cy="786384"/>
          </a:xfrm>
          <a:prstGeom prst="rect">
            <a:avLst/>
          </a:prstGeom>
          <a:noFill/>
        </p:spPr>
        <p:txBody>
          <a:bodyPr wrap="square" lIns="0" rIns="0" tIns="0" bIns="0" anchor="t">
            <a:spAutoFit/>
          </a:bodyPr>
          <a:lstStyle/>
          <a:p>
            <a:pPr algn="l">
              <a:lnSpc>
                <a:spcPct val="115000"/>
              </a:lnSpc>
              <a:spcBef>
                <a:spcPts val="0"/>
              </a:spcBef>
              <a:spcAft>
                <a:spcPts val="0"/>
              </a:spcAft>
            </a:pPr>
            <a:r>
              <a:rPr sz="1000" b="0" i="0">
                <a:solidFill>
                  <a:srgbClr val="CADCFC"/>
                </a:solidFill>
                <a:latin typeface="Calibri"/>
              </a:rPr>
              <a:t>anomaly_score is the fraction of the six that fired. It maps to LOW · MED · HIGH · CRITICAL — and a NULL taxability forces HIGH regardless of score, because an unpriced line always needs a human.</a:t>
            </a:r>
          </a:p>
        </p:txBody>
      </p:sp>
      <p:sp>
        <p:nvSpPr>
          <p:cNvPr id="31" name="TextBox 30"/>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2" name="TextBox 31"/>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Task 3.6, 3.7 and 3.8 — Reroute, Output, Governance</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Second chances for the model's own rows, then a governed monthly release</a:t>
            </a:r>
          </a:p>
        </p:txBody>
      </p:sp>
      <p:sp>
        <p:nvSpPr>
          <p:cNvPr id="4" name="Rounded Rectangle 3"/>
          <p:cNvSpPr/>
          <p:nvPr/>
        </p:nvSpPr>
        <p:spPr>
          <a:xfrm>
            <a:off x="457200" y="1417320"/>
            <a:ext cx="3685032" cy="4434840"/>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13232" y="1664208"/>
            <a:ext cx="384048" cy="384048"/>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3.6</a:t>
            </a:r>
          </a:p>
        </p:txBody>
      </p:sp>
      <p:sp>
        <p:nvSpPr>
          <p:cNvPr id="6" name="TextBox 5"/>
          <p:cNvSpPr txBox="1"/>
          <p:nvPr/>
        </p:nvSpPr>
        <p:spPr>
          <a:xfrm>
            <a:off x="1207007" y="1719072"/>
            <a:ext cx="2724912" cy="274320"/>
          </a:xfrm>
          <a:prstGeom prst="rect">
            <a:avLst/>
          </a:prstGeom>
          <a:noFill/>
        </p:spPr>
        <p:txBody>
          <a:bodyPr wrap="square" lIns="0" rIns="0" tIns="0" bIns="0" anchor="t">
            <a:spAutoFit/>
          </a:bodyPr>
          <a:lstStyle/>
          <a:p>
            <a:pPr algn="l">
              <a:spcBef>
                <a:spcPts val="0"/>
              </a:spcBef>
              <a:spcAft>
                <a:spcPts val="0"/>
              </a:spcAft>
            </a:pPr>
            <a:r>
              <a:rPr sz="1450" b="1" i="0">
                <a:solidFill>
                  <a:srgbClr val="1A1A2E"/>
                </a:solidFill>
                <a:latin typeface="Cambria"/>
              </a:rPr>
              <a:t>Reroute</a:t>
            </a:r>
          </a:p>
        </p:txBody>
      </p:sp>
      <p:sp>
        <p:nvSpPr>
          <p:cNvPr id="7" name="TextBox 6"/>
          <p:cNvSpPr txBox="1"/>
          <p:nvPr/>
        </p:nvSpPr>
        <p:spPr>
          <a:xfrm>
            <a:off x="713232" y="226771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Who is eligible</a:t>
            </a:r>
          </a:p>
        </p:txBody>
      </p:sp>
      <p:sp>
        <p:nvSpPr>
          <p:cNvPr id="8" name="TextBox 7"/>
          <p:cNvSpPr txBox="1"/>
          <p:nvPr/>
        </p:nvSpPr>
        <p:spPr>
          <a:xfrm>
            <a:off x="713232" y="250545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Only ML-classified rows that QA flagged. A deterministic rule hit is never re-classified — a flagged rule row escalates to a human instead.</a:t>
            </a:r>
          </a:p>
        </p:txBody>
      </p:sp>
      <p:sp>
        <p:nvSpPr>
          <p:cNvPr id="9" name="TextBox 8"/>
          <p:cNvSpPr txBox="1"/>
          <p:nvPr/>
        </p:nvSpPr>
        <p:spPr>
          <a:xfrm>
            <a:off x="713232" y="345643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What changes</a:t>
            </a:r>
          </a:p>
        </p:txBody>
      </p:sp>
      <p:sp>
        <p:nvSpPr>
          <p:cNvPr id="10" name="TextBox 9"/>
          <p:cNvSpPr txBox="1"/>
          <p:nvPr/>
        </p:nvSpPr>
        <p:spPr>
          <a:xfrm>
            <a:off x="713232" y="369417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The line is re-sent to the LLM with the QA anomalies injected into the prompt. The embedding is unchanged, so the QA hint is the new signal.</a:t>
            </a:r>
          </a:p>
        </p:txBody>
      </p:sp>
      <p:sp>
        <p:nvSpPr>
          <p:cNvPr id="11" name="TextBox 10"/>
          <p:cNvSpPr txBox="1"/>
          <p:nvPr/>
        </p:nvSpPr>
        <p:spPr>
          <a:xfrm>
            <a:off x="713232" y="464515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3D5A80"/>
                </a:solidFill>
                <a:latin typeface="Calibri"/>
              </a:rPr>
              <a:t>Then</a:t>
            </a:r>
          </a:p>
        </p:txBody>
      </p:sp>
      <p:sp>
        <p:nvSpPr>
          <p:cNvPr id="12" name="TextBox 11"/>
          <p:cNvSpPr txBox="1"/>
          <p:nvPr/>
        </p:nvSpPr>
        <p:spPr>
          <a:xfrm>
            <a:off x="713232" y="488289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Matrix lookup and use-tax logic re-run, identical to 3.3, with the same fan-out guard.</a:t>
            </a:r>
          </a:p>
        </p:txBody>
      </p:sp>
      <p:sp>
        <p:nvSpPr>
          <p:cNvPr id="13" name="Rounded Rectangle 12"/>
          <p:cNvSpPr/>
          <p:nvPr/>
        </p:nvSpPr>
        <p:spPr>
          <a:xfrm>
            <a:off x="4325112" y="1417320"/>
            <a:ext cx="3685032" cy="4434840"/>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81144" y="16642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3.7</a:t>
            </a:r>
          </a:p>
        </p:txBody>
      </p:sp>
      <p:sp>
        <p:nvSpPr>
          <p:cNvPr id="15" name="TextBox 14"/>
          <p:cNvSpPr txBox="1"/>
          <p:nvPr/>
        </p:nvSpPr>
        <p:spPr>
          <a:xfrm>
            <a:off x="5074920" y="1719072"/>
            <a:ext cx="2724912" cy="274320"/>
          </a:xfrm>
          <a:prstGeom prst="rect">
            <a:avLst/>
          </a:prstGeom>
          <a:noFill/>
        </p:spPr>
        <p:txBody>
          <a:bodyPr wrap="square" lIns="0" rIns="0" tIns="0" bIns="0" anchor="t">
            <a:spAutoFit/>
          </a:bodyPr>
          <a:lstStyle/>
          <a:p>
            <a:pPr algn="l">
              <a:spcBef>
                <a:spcPts val="0"/>
              </a:spcBef>
              <a:spcAft>
                <a:spcPts val="0"/>
              </a:spcAft>
            </a:pPr>
            <a:r>
              <a:rPr sz="1450" b="1" i="0">
                <a:solidFill>
                  <a:srgbClr val="1A1A2E"/>
                </a:solidFill>
                <a:latin typeface="Cambria"/>
              </a:rPr>
              <a:t>Write Output</a:t>
            </a:r>
          </a:p>
        </p:txBody>
      </p:sp>
      <p:sp>
        <p:nvSpPr>
          <p:cNvPr id="16" name="TextBox 15"/>
          <p:cNvSpPr txBox="1"/>
          <p:nvPr/>
        </p:nvSpPr>
        <p:spPr>
          <a:xfrm>
            <a:off x="4581144" y="226771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1E2761"/>
                </a:solidFill>
                <a:latin typeface="Calibri"/>
              </a:rPr>
              <a:t>The projection</a:t>
            </a:r>
          </a:p>
        </p:txBody>
      </p:sp>
      <p:sp>
        <p:nvSpPr>
          <p:cNvPr id="17" name="TextBox 16"/>
          <p:cNvSpPr txBox="1"/>
          <p:nvPr/>
        </p:nvSpPr>
        <p:spPr>
          <a:xfrm>
            <a:off x="4581144" y="250545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31 columns: identity and grain, classification result, tax determination, audit narrative, QA fields.</a:t>
            </a:r>
          </a:p>
        </p:txBody>
      </p:sp>
      <p:sp>
        <p:nvSpPr>
          <p:cNvPr id="18" name="TextBox 17"/>
          <p:cNvSpPr txBox="1"/>
          <p:nvPr/>
        </p:nvSpPr>
        <p:spPr>
          <a:xfrm>
            <a:off x="4581144" y="345643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1E2761"/>
                </a:solidFill>
                <a:latin typeface="Calibri"/>
              </a:rPr>
              <a:t>The write</a:t>
            </a:r>
          </a:p>
        </p:txBody>
      </p:sp>
      <p:sp>
        <p:nvSpPr>
          <p:cNvPr id="19" name="TextBox 18"/>
          <p:cNvSpPr txBox="1"/>
          <p:nvPr/>
        </p:nvSpPr>
        <p:spPr>
          <a:xfrm>
            <a:off x="4581144" y="369417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Partitioned by month with a partition-scoped overwrite, so the table accumulates history instead of being replaced each run.</a:t>
            </a:r>
          </a:p>
        </p:txBody>
      </p:sp>
      <p:sp>
        <p:nvSpPr>
          <p:cNvPr id="20" name="TextBox 19"/>
          <p:cNvSpPr txBox="1"/>
          <p:nvPr/>
        </p:nvSpPr>
        <p:spPr>
          <a:xfrm>
            <a:off x="4581144" y="464515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1E2761"/>
                </a:solidFill>
                <a:latin typeface="Calibri"/>
              </a:rPr>
              <a:t>Then</a:t>
            </a:r>
          </a:p>
        </p:txBody>
      </p:sp>
      <p:sp>
        <p:nvSpPr>
          <p:cNvPr id="21" name="TextBox 20"/>
          <p:cNvSpPr txBox="1"/>
          <p:nvPr/>
        </p:nvSpPr>
        <p:spPr>
          <a:xfrm>
            <a:off x="4581144" y="488289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A completion webhook POSTs month, records processed and flagged count to the FastAPI backend.</a:t>
            </a:r>
          </a:p>
        </p:txBody>
      </p:sp>
      <p:sp>
        <p:nvSpPr>
          <p:cNvPr id="22" name="Rounded Rectangle 21"/>
          <p:cNvSpPr/>
          <p:nvPr/>
        </p:nvSpPr>
        <p:spPr>
          <a:xfrm>
            <a:off x="8193024" y="1417320"/>
            <a:ext cx="3685032" cy="4434840"/>
          </a:xfrm>
          <a:prstGeom prst="roundRect">
            <a:avLst>
              <a:gd name="adj" fmla="val 3500"/>
            </a:avLst>
          </a:prstGeom>
          <a:solidFill>
            <a:srgbClr val="FFFFFF"/>
          </a:solidFill>
          <a:ln w="9525">
            <a:solidFill>
              <a:srgbClr val="D6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49056" y="1664208"/>
            <a:ext cx="384048" cy="384048"/>
          </a:xfrm>
          <a:prstGeom prst="ellipse">
            <a:avLst/>
          </a:prstGeom>
          <a:solidFill>
            <a:srgbClr val="6C89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3.8</a:t>
            </a:r>
          </a:p>
        </p:txBody>
      </p:sp>
      <p:sp>
        <p:nvSpPr>
          <p:cNvPr id="24" name="TextBox 23"/>
          <p:cNvSpPr txBox="1"/>
          <p:nvPr/>
        </p:nvSpPr>
        <p:spPr>
          <a:xfrm>
            <a:off x="8942832" y="1719072"/>
            <a:ext cx="2724912" cy="274320"/>
          </a:xfrm>
          <a:prstGeom prst="rect">
            <a:avLst/>
          </a:prstGeom>
          <a:noFill/>
        </p:spPr>
        <p:txBody>
          <a:bodyPr wrap="square" lIns="0" rIns="0" tIns="0" bIns="0" anchor="t">
            <a:spAutoFit/>
          </a:bodyPr>
          <a:lstStyle/>
          <a:p>
            <a:pPr algn="l">
              <a:spcBef>
                <a:spcPts val="0"/>
              </a:spcBef>
              <a:spcAft>
                <a:spcPts val="0"/>
              </a:spcAft>
            </a:pPr>
            <a:r>
              <a:rPr sz="1450" b="1" i="0">
                <a:solidFill>
                  <a:srgbClr val="1A1A2E"/>
                </a:solidFill>
                <a:latin typeface="Cambria"/>
              </a:rPr>
              <a:t>MLflow</a:t>
            </a:r>
          </a:p>
        </p:txBody>
      </p:sp>
      <p:sp>
        <p:nvSpPr>
          <p:cNvPr id="25" name="TextBox 24"/>
          <p:cNvSpPr txBox="1"/>
          <p:nvPr/>
        </p:nvSpPr>
        <p:spPr>
          <a:xfrm>
            <a:off x="8449056" y="226771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6C89B8"/>
                </a:solidFill>
                <a:latin typeface="Calibri"/>
              </a:rPr>
              <a:t>The run</a:t>
            </a:r>
          </a:p>
        </p:txBody>
      </p:sp>
      <p:sp>
        <p:nvSpPr>
          <p:cNvPr id="26" name="TextBox 25"/>
          <p:cNvSpPr txBox="1"/>
          <p:nvPr/>
        </p:nvSpPr>
        <p:spPr>
          <a:xfrm>
            <a:off x="8449056" y="250545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One MLflow run per month — parameters, metrics, and the output distribution, scoped to that month's partition.</a:t>
            </a:r>
          </a:p>
        </p:txBody>
      </p:sp>
      <p:sp>
        <p:nvSpPr>
          <p:cNvPr id="27" name="TextBox 26"/>
          <p:cNvSpPr txBox="1"/>
          <p:nvPr/>
        </p:nvSpPr>
        <p:spPr>
          <a:xfrm>
            <a:off x="8449056" y="345643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6C89B8"/>
                </a:solidFill>
                <a:latin typeface="Calibri"/>
              </a:rPr>
              <a:t>The version</a:t>
            </a:r>
          </a:p>
        </p:txBody>
      </p:sp>
      <p:sp>
        <p:nvSpPr>
          <p:cNvPr id="28" name="TextBox 27"/>
          <p:cNvSpPr txBox="1"/>
          <p:nvPr/>
        </p:nvSpPr>
        <p:spPr>
          <a:xfrm>
            <a:off x="8449056" y="369417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Registered as a new version in the Unity Catalog model registry, so each monthly release of the pipeline logic is promotable.</a:t>
            </a:r>
          </a:p>
        </p:txBody>
      </p:sp>
      <p:sp>
        <p:nvSpPr>
          <p:cNvPr id="29" name="TextBox 28"/>
          <p:cNvSpPr txBox="1"/>
          <p:nvPr/>
        </p:nvSpPr>
        <p:spPr>
          <a:xfrm>
            <a:off x="8449056" y="4645152"/>
            <a:ext cx="3172968" cy="219456"/>
          </a:xfrm>
          <a:prstGeom prst="rect">
            <a:avLst/>
          </a:prstGeom>
          <a:noFill/>
        </p:spPr>
        <p:txBody>
          <a:bodyPr wrap="square" lIns="0" rIns="0" tIns="0" bIns="0" anchor="t">
            <a:spAutoFit/>
          </a:bodyPr>
          <a:lstStyle/>
          <a:p>
            <a:pPr algn="l">
              <a:spcBef>
                <a:spcPts val="0"/>
              </a:spcBef>
              <a:spcAft>
                <a:spcPts val="0"/>
              </a:spcAft>
            </a:pPr>
            <a:r>
              <a:rPr sz="1050" b="1" i="0">
                <a:solidFill>
                  <a:srgbClr val="6C89B8"/>
                </a:solidFill>
                <a:latin typeface="Calibri"/>
              </a:rPr>
              <a:t>The hash</a:t>
            </a:r>
          </a:p>
        </p:txBody>
      </p:sp>
      <p:sp>
        <p:nvSpPr>
          <p:cNvPr id="30" name="TextBox 29"/>
          <p:cNvSpPr txBox="1"/>
          <p:nvPr/>
        </p:nvSpPr>
        <p:spPr>
          <a:xfrm>
            <a:off x="8449056" y="4882896"/>
            <a:ext cx="3172968" cy="914400"/>
          </a:xfrm>
          <a:prstGeom prst="rect">
            <a:avLst/>
          </a:prstGeom>
          <a:noFill/>
        </p:spPr>
        <p:txBody>
          <a:bodyPr wrap="square" lIns="0" rIns="0" tIns="0" bIns="0" anchor="t">
            <a:spAutoFit/>
          </a:bodyPr>
          <a:lstStyle/>
          <a:p>
            <a:pPr algn="l">
              <a:lnSpc>
                <a:spcPct val="114000"/>
              </a:lnSpc>
              <a:spcBef>
                <a:spcPts val="0"/>
              </a:spcBef>
              <a:spcAft>
                <a:spcPts val="0"/>
              </a:spcAft>
            </a:pPr>
            <a:r>
              <a:rPr sz="950" b="0" i="0">
                <a:solidFill>
                  <a:srgbClr val="5A6472"/>
                </a:solidFill>
                <a:latin typeface="Calibri"/>
              </a:rPr>
              <a:t>A stable hash of the active rule snapshot, so a change in results can be traced to a change in rules.</a:t>
            </a:r>
          </a:p>
        </p:txBody>
      </p:sp>
      <p:sp>
        <p:nvSpPr>
          <p:cNvPr id="31" name="TextBox 30"/>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32" name="TextBox 31"/>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310896"/>
            <a:ext cx="11338560" cy="566928"/>
          </a:xfrm>
          <a:prstGeom prst="rect">
            <a:avLst/>
          </a:prstGeom>
          <a:noFill/>
        </p:spPr>
        <p:txBody>
          <a:bodyPr wrap="square" lIns="0" rIns="0" tIns="0" bIns="0" anchor="t">
            <a:spAutoFit/>
          </a:bodyPr>
          <a:lstStyle/>
          <a:p>
            <a:pPr algn="l">
              <a:spcBef>
                <a:spcPts val="0"/>
              </a:spcBef>
              <a:spcAft>
                <a:spcPts val="0"/>
              </a:spcAft>
            </a:pPr>
            <a:r>
              <a:rPr sz="3200" b="1" i="0">
                <a:solidFill>
                  <a:srgbClr val="1E2761"/>
                </a:solidFill>
                <a:latin typeface="Cambria"/>
              </a:rPr>
              <a:t>One Invoice Line, End to End</a:t>
            </a:r>
          </a:p>
        </p:txBody>
      </p:sp>
      <p:sp>
        <p:nvSpPr>
          <p:cNvPr id="3" name="TextBox 2"/>
          <p:cNvSpPr txBox="1"/>
          <p:nvPr/>
        </p:nvSpPr>
        <p:spPr>
          <a:xfrm>
            <a:off x="457200" y="914400"/>
            <a:ext cx="11338560" cy="310896"/>
          </a:xfrm>
          <a:prstGeom prst="rect">
            <a:avLst/>
          </a:prstGeom>
          <a:noFill/>
        </p:spPr>
        <p:txBody>
          <a:bodyPr wrap="square" lIns="0" rIns="0" tIns="0" bIns="0" anchor="t">
            <a:spAutoFit/>
          </a:bodyPr>
          <a:lstStyle/>
          <a:p>
            <a:pPr algn="l">
              <a:spcBef>
                <a:spcPts val="0"/>
              </a:spcBef>
              <a:spcAft>
                <a:spcPts val="0"/>
              </a:spcAft>
            </a:pPr>
            <a:r>
              <a:rPr sz="1350" b="0" i="1">
                <a:solidFill>
                  <a:srgbClr val="5A6472"/>
                </a:solidFill>
                <a:latin typeface="Calibri"/>
              </a:rPr>
              <a:t>A real line from the January export, traced through every stage</a:t>
            </a:r>
          </a:p>
        </p:txBody>
      </p:sp>
      <p:sp>
        <p:nvSpPr>
          <p:cNvPr id="4" name="Rounded Rectangle 3"/>
          <p:cNvSpPr/>
          <p:nvPr/>
        </p:nvSpPr>
        <p:spPr>
          <a:xfrm>
            <a:off x="457200" y="1417320"/>
            <a:ext cx="11274552" cy="969264"/>
          </a:xfrm>
          <a:prstGeom prst="roundRect">
            <a:avLst>
              <a:gd name="adj" fmla="val 35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591056"/>
            <a:ext cx="106070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Calibri"/>
              </a:rPr>
              <a:t>Land &amp; Bldgs Exp - Infrastructure Maint - Rearrangements  |  Contract Labor (Excl Installation)</a:t>
            </a:r>
          </a:p>
        </p:txBody>
      </p:sp>
      <p:sp>
        <p:nvSpPr>
          <p:cNvPr id="6" name="TextBox 5"/>
          <p:cNvSpPr txBox="1"/>
          <p:nvPr/>
        </p:nvSpPr>
        <p:spPr>
          <a:xfrm>
            <a:off x="777240" y="1901952"/>
            <a:ext cx="10607040" cy="274320"/>
          </a:xfrm>
          <a:prstGeom prst="rect">
            <a:avLst/>
          </a:prstGeom>
          <a:noFill/>
        </p:spPr>
        <p:txBody>
          <a:bodyPr wrap="square" lIns="0" rIns="0" tIns="0" bIns="0" anchor="t">
            <a:spAutoFit/>
          </a:bodyPr>
          <a:lstStyle/>
          <a:p>
            <a:pPr algn="l">
              <a:spcBef>
                <a:spcPts val="0"/>
              </a:spcBef>
              <a:spcAft>
                <a:spcPts val="0"/>
              </a:spcAft>
            </a:pPr>
            <a:r>
              <a:rPr sz="1050" b="0" i="0">
                <a:solidFill>
                  <a:srgbClr val="CADCFC"/>
                </a:solidFill>
                <a:latin typeface="Calibri"/>
              </a:rPr>
              <a:t>invoice 349115051 · line 1 · account 6121.10M · vendor 360 RIGGING LLC · state DC · amount $4,972.00</a:t>
            </a:r>
          </a:p>
        </p:txBody>
      </p:sp>
      <p:sp>
        <p:nvSpPr>
          <p:cNvPr id="7" name="Oval 6"/>
          <p:cNvSpPr/>
          <p:nvPr/>
        </p:nvSpPr>
        <p:spPr>
          <a:xfrm>
            <a:off x="502920" y="2596896"/>
            <a:ext cx="292608" cy="292608"/>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3.1</a:t>
            </a:r>
          </a:p>
        </p:txBody>
      </p:sp>
      <p:sp>
        <p:nvSpPr>
          <p:cNvPr id="8" name="TextBox 7"/>
          <p:cNvSpPr txBox="1"/>
          <p:nvPr/>
        </p:nvSpPr>
        <p:spPr>
          <a:xfrm>
            <a:off x="960120" y="2633472"/>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1A1A2E"/>
                </a:solidFill>
                <a:latin typeface="Calibri"/>
              </a:rPr>
              <a:t>A keyword rule fires on "labor". final_category = 3rd Party Labor, confidence 0.80, match_type = det.</a:t>
            </a:r>
          </a:p>
        </p:txBody>
      </p:sp>
      <p:sp>
        <p:nvSpPr>
          <p:cNvPr id="9" name="Oval 8"/>
          <p:cNvSpPr/>
          <p:nvPr/>
        </p:nvSpPr>
        <p:spPr>
          <a:xfrm>
            <a:off x="502920" y="3017520"/>
            <a:ext cx="292608" cy="292608"/>
          </a:xfrm>
          <a:prstGeom prst="ellipse">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3.2</a:t>
            </a:r>
          </a:p>
        </p:txBody>
      </p:sp>
      <p:sp>
        <p:nvSpPr>
          <p:cNvPr id="10" name="TextBox 9"/>
          <p:cNvSpPr txBox="1"/>
          <p:nvPr/>
        </p:nvSpPr>
        <p:spPr>
          <a:xfrm>
            <a:off x="960120" y="3054096"/>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5A6472"/>
                </a:solidFill>
                <a:latin typeface="Calibri"/>
              </a:rPr>
              <a:t>Skipped — the line never enters the classifier, because a deterministic rule already decided it.</a:t>
            </a:r>
          </a:p>
        </p:txBody>
      </p:sp>
      <p:sp>
        <p:nvSpPr>
          <p:cNvPr id="11" name="Oval 10"/>
          <p:cNvSpPr/>
          <p:nvPr/>
        </p:nvSpPr>
        <p:spPr>
          <a:xfrm>
            <a:off x="502920" y="3438144"/>
            <a:ext cx="292608" cy="292608"/>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3.3</a:t>
            </a:r>
          </a:p>
        </p:txBody>
      </p:sp>
      <p:sp>
        <p:nvSpPr>
          <p:cNvPr id="12" name="TextBox 11"/>
          <p:cNvSpPr txBox="1"/>
          <p:nvPr/>
        </p:nvSpPr>
        <p:spPr>
          <a:xfrm>
            <a:off x="960120" y="3474720"/>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1A1A2E"/>
                </a:solidFill>
                <a:latin typeface="Calibri"/>
              </a:rPr>
              <a:t>Join on (3rd Party Labor, DC) hits the matrix. flag = T → taxability = Taxable, tax_source = matrix.</a:t>
            </a:r>
          </a:p>
        </p:txBody>
      </p:sp>
      <p:sp>
        <p:nvSpPr>
          <p:cNvPr id="13" name="Oval 12"/>
          <p:cNvSpPr/>
          <p:nvPr/>
        </p:nvSpPr>
        <p:spPr>
          <a:xfrm>
            <a:off x="502920" y="3858768"/>
            <a:ext cx="292608" cy="292608"/>
          </a:xfrm>
          <a:prstGeom prst="ellipse">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3.3b</a:t>
            </a:r>
          </a:p>
        </p:txBody>
      </p:sp>
      <p:sp>
        <p:nvSpPr>
          <p:cNvPr id="14" name="TextBox 13"/>
          <p:cNvSpPr txBox="1"/>
          <p:nvPr/>
        </p:nvSpPr>
        <p:spPr>
          <a:xfrm>
            <a:off x="960120" y="3895344"/>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5A6472"/>
                </a:solidFill>
                <a:latin typeface="Calibri"/>
              </a:rPr>
              <a:t>No use tax on the line, so Reverse_UseTax is not asserted.</a:t>
            </a:r>
          </a:p>
        </p:txBody>
      </p:sp>
      <p:sp>
        <p:nvSpPr>
          <p:cNvPr id="15" name="Oval 14"/>
          <p:cNvSpPr/>
          <p:nvPr/>
        </p:nvSpPr>
        <p:spPr>
          <a:xfrm>
            <a:off x="502920" y="4279392"/>
            <a:ext cx="292608" cy="292608"/>
          </a:xfrm>
          <a:prstGeom prst="ellipse">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3.4</a:t>
            </a:r>
          </a:p>
        </p:txBody>
      </p:sp>
      <p:sp>
        <p:nvSpPr>
          <p:cNvPr id="16" name="TextBox 15"/>
          <p:cNvSpPr txBox="1"/>
          <p:nvPr/>
        </p:nvSpPr>
        <p:spPr>
          <a:xfrm>
            <a:off x="960120" y="4315968"/>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1A1A2E"/>
                </a:solidFill>
                <a:latin typeface="Calibri"/>
              </a:rPr>
              <a:t>Templated justification: "This 3rd Party Labor purchase in DC is treated as Taxable. Determination source: det match."  audit_ready = true.</a:t>
            </a:r>
          </a:p>
        </p:txBody>
      </p:sp>
      <p:sp>
        <p:nvSpPr>
          <p:cNvPr id="17" name="Oval 16"/>
          <p:cNvSpPr/>
          <p:nvPr/>
        </p:nvSpPr>
        <p:spPr>
          <a:xfrm>
            <a:off x="502920" y="4700016"/>
            <a:ext cx="292608" cy="292608"/>
          </a:xfrm>
          <a:prstGeom prst="ellipse">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3.5</a:t>
            </a:r>
          </a:p>
        </p:txBody>
      </p:sp>
      <p:sp>
        <p:nvSpPr>
          <p:cNvPr id="18" name="TextBox 17"/>
          <p:cNvSpPr txBox="1"/>
          <p:nvPr/>
        </p:nvSpPr>
        <p:spPr>
          <a:xfrm>
            <a:off x="960120" y="4736592"/>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5A6472"/>
                </a:solidFill>
                <a:latin typeface="Calibri"/>
              </a:rPr>
              <a:t>No check fires. anomaly_score 0.0 → review_priority = LOW.</a:t>
            </a:r>
          </a:p>
        </p:txBody>
      </p:sp>
      <p:sp>
        <p:nvSpPr>
          <p:cNvPr id="19" name="Oval 18"/>
          <p:cNvSpPr/>
          <p:nvPr/>
        </p:nvSpPr>
        <p:spPr>
          <a:xfrm>
            <a:off x="502920" y="5120640"/>
            <a:ext cx="292608" cy="292608"/>
          </a:xfrm>
          <a:prstGeom prst="ellipse">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3.6</a:t>
            </a:r>
          </a:p>
        </p:txBody>
      </p:sp>
      <p:sp>
        <p:nvSpPr>
          <p:cNvPr id="20" name="TextBox 19"/>
          <p:cNvSpPr txBox="1"/>
          <p:nvPr/>
        </p:nvSpPr>
        <p:spPr>
          <a:xfrm>
            <a:off x="960120" y="5157216"/>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5A6472"/>
                </a:solidFill>
                <a:latin typeface="Calibri"/>
              </a:rPr>
              <a:t>Not eligible — not an ML row, and not flagged.</a:t>
            </a:r>
          </a:p>
        </p:txBody>
      </p:sp>
      <p:sp>
        <p:nvSpPr>
          <p:cNvPr id="21" name="Oval 20"/>
          <p:cNvSpPr/>
          <p:nvPr/>
        </p:nvSpPr>
        <p:spPr>
          <a:xfrm>
            <a:off x="502920" y="5541264"/>
            <a:ext cx="292608" cy="29260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3.7</a:t>
            </a:r>
          </a:p>
        </p:txBody>
      </p:sp>
      <p:sp>
        <p:nvSpPr>
          <p:cNvPr id="22" name="TextBox 21"/>
          <p:cNvSpPr txBox="1"/>
          <p:nvPr/>
        </p:nvSpPr>
        <p:spPr>
          <a:xfrm>
            <a:off x="960120" y="5577840"/>
            <a:ext cx="10607040" cy="256032"/>
          </a:xfrm>
          <a:prstGeom prst="rect">
            <a:avLst/>
          </a:prstGeom>
          <a:noFill/>
        </p:spPr>
        <p:txBody>
          <a:bodyPr wrap="square" lIns="0" rIns="0" tIns="0" bIns="0" anchor="t">
            <a:spAutoFit/>
          </a:bodyPr>
          <a:lstStyle/>
          <a:p>
            <a:pPr algn="l">
              <a:spcBef>
                <a:spcPts val="0"/>
              </a:spcBef>
              <a:spcAft>
                <a:spcPts val="0"/>
              </a:spcAft>
            </a:pPr>
            <a:r>
              <a:rPr sz="1050" b="0" i="0">
                <a:solidFill>
                  <a:srgbClr val="1A1A2E"/>
                </a:solidFill>
                <a:latin typeface="Calibri"/>
              </a:rPr>
              <a:t>Written to non_norad_predictions in the 2023-01 partition, keyed on line_uid.</a:t>
            </a:r>
          </a:p>
        </p:txBody>
      </p:sp>
      <p:sp>
        <p:nvSpPr>
          <p:cNvPr id="23" name="TextBox 22"/>
          <p:cNvSpPr txBox="1"/>
          <p:nvPr/>
        </p:nvSpPr>
        <p:spPr>
          <a:xfrm>
            <a:off x="457200" y="6053328"/>
            <a:ext cx="11338560" cy="274320"/>
          </a:xfrm>
          <a:prstGeom prst="rect">
            <a:avLst/>
          </a:prstGeom>
          <a:noFill/>
        </p:spPr>
        <p:txBody>
          <a:bodyPr wrap="square" lIns="0" rIns="0" tIns="0" bIns="0" anchor="t">
            <a:spAutoFit/>
          </a:bodyPr>
          <a:lstStyle/>
          <a:p>
            <a:pPr algn="ctr">
              <a:spcBef>
                <a:spcPts val="0"/>
              </a:spcBef>
              <a:spcAft>
                <a:spcPts val="0"/>
              </a:spcAft>
            </a:pPr>
            <a:r>
              <a:rPr sz="1100" b="0" i="1">
                <a:solidFill>
                  <a:srgbClr val="5A6472"/>
                </a:solidFill>
                <a:latin typeface="Calibri"/>
              </a:rPr>
              <a:t>Zero LLM calls, one join, and an audit trail a reviewer can read — the path 93% of January's lines took.</a:t>
            </a:r>
          </a:p>
        </p:txBody>
      </p:sp>
      <p:sp>
        <p:nvSpPr>
          <p:cNvPr id="24" name="TextBox 23"/>
          <p:cNvSpPr txBox="1"/>
          <p:nvPr/>
        </p:nvSpPr>
        <p:spPr>
          <a:xfrm>
            <a:off x="457200" y="6428232"/>
            <a:ext cx="6400800" cy="228600"/>
          </a:xfrm>
          <a:prstGeom prst="rect">
            <a:avLst/>
          </a:prstGeom>
          <a:noFill/>
        </p:spPr>
        <p:txBody>
          <a:bodyPr wrap="square" lIns="0" rIns="0" tIns="0" bIns="0" anchor="t">
            <a:spAutoFit/>
          </a:bodyPr>
          <a:lstStyle/>
          <a:p>
            <a:pPr algn="l">
              <a:spcBef>
                <a:spcPts val="0"/>
              </a:spcBef>
              <a:spcAft>
                <a:spcPts val="0"/>
              </a:spcAft>
            </a:pPr>
            <a:r>
              <a:rPr sz="850" b="0" i="0">
                <a:solidFill>
                  <a:srgbClr val="5A6472"/>
                </a:solidFill>
                <a:latin typeface="Calibri"/>
              </a:rPr>
              <a:t>ATIMS · AP Tax Classification · Pipeline Evaluation</a:t>
            </a:r>
          </a:p>
        </p:txBody>
      </p:sp>
      <p:sp>
        <p:nvSpPr>
          <p:cNvPr id="25" name="TextBox 24"/>
          <p:cNvSpPr txBox="1"/>
          <p:nvPr/>
        </p:nvSpPr>
        <p:spPr>
          <a:xfrm>
            <a:off x="10332720" y="6428232"/>
            <a:ext cx="1417320" cy="228600"/>
          </a:xfrm>
          <a:prstGeom prst="rect">
            <a:avLst/>
          </a:prstGeom>
          <a:noFill/>
        </p:spPr>
        <p:txBody>
          <a:bodyPr wrap="square" lIns="0" rIns="0" tIns="0" bIns="0" anchor="t">
            <a:spAutoFit/>
          </a:bodyPr>
          <a:lstStyle/>
          <a:p>
            <a:pPr algn="r">
              <a:spcBef>
                <a:spcPts val="0"/>
              </a:spcBef>
              <a:spcAft>
                <a:spcPts val="0"/>
              </a:spcAft>
            </a:pPr>
            <a:r>
              <a:rPr sz="850" b="0" i="0">
                <a:solidFill>
                  <a:srgbClr val="5A6472"/>
                </a:solidFill>
                <a:latin typeface="Calibri"/>
              </a:rPr>
              <a:t>15 / 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We Evaluated</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Three-part methodology, honest measurement</a:t>
            </a:r>
            <a:endParaRPr lang="en-US" sz="1400" dirty="0"/>
          </a:p>
        </p:txBody>
      </p:sp>
      <p:sp>
        <p:nvSpPr>
          <p:cNvPr id="4" name="Shape 2"/>
          <p:cNvSpPr/>
          <p:nvPr/>
        </p:nvSpPr>
        <p:spPr>
          <a:xfrm>
            <a:off x="4572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685800" y="1828800"/>
            <a:ext cx="502920" cy="5029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6858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258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The Dataset</a:t>
            </a:r>
            <a:endParaRPr lang="en-US" sz="1800" dirty="0"/>
          </a:p>
        </p:txBody>
      </p:sp>
      <p:sp>
        <p:nvSpPr>
          <p:cNvPr id="8" name="Text 6"/>
          <p:cNvSpPr/>
          <p:nvPr/>
        </p:nvSpPr>
        <p:spPr>
          <a:xfrm>
            <a:off x="7315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24 months of historical ATIMS invoices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~640,000 records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89 tax categories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Realistic class imbalance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Ground truth: analyst-approved ACCOUNT_CODE</a:t>
            </a:r>
            <a:endParaRPr lang="en-US" sz="1200" dirty="0"/>
          </a:p>
        </p:txBody>
      </p:sp>
      <p:sp>
        <p:nvSpPr>
          <p:cNvPr id="9" name="Shape 7"/>
          <p:cNvSpPr/>
          <p:nvPr/>
        </p:nvSpPr>
        <p:spPr>
          <a:xfrm>
            <a:off x="43434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0" name="Shape 8"/>
          <p:cNvSpPr/>
          <p:nvPr/>
        </p:nvSpPr>
        <p:spPr>
          <a:xfrm>
            <a:off x="4572000" y="1828800"/>
            <a:ext cx="502920" cy="502920"/>
          </a:xfrm>
          <a:prstGeom prst="ellipse">
            <a:avLst/>
          </a:prstGeom>
          <a:solidFill>
            <a:srgbClr val="3D5A80"/>
          </a:solidFill>
          <a:ln w="12700">
            <a:solidFill>
              <a:srgbClr val="3D5A80"/>
            </a:solidFill>
            <a:prstDash val="solid"/>
          </a:ln>
        </p:spPr>
        <p:txBody>
          <a:bodyPr/>
          <a:lstStyle/>
          <a:p>
            <a:endParaRPr lang="en-US"/>
          </a:p>
        </p:txBody>
      </p:sp>
      <p:sp>
        <p:nvSpPr>
          <p:cNvPr id="11" name="Text 9"/>
          <p:cNvSpPr/>
          <p:nvPr/>
        </p:nvSpPr>
        <p:spPr>
          <a:xfrm>
            <a:off x="45720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52120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8 Pipeline Configs</a:t>
            </a:r>
            <a:endParaRPr lang="en-US" sz="1800" dirty="0"/>
          </a:p>
        </p:txBody>
      </p:sp>
      <p:sp>
        <p:nvSpPr>
          <p:cNvPr id="13" name="Text 11"/>
          <p:cNvSpPr/>
          <p:nvPr/>
        </p:nvSpPr>
        <p:spPr>
          <a:xfrm>
            <a:off x="46177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XGBoost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LightGBM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ML Ensemble (XGB+LGB)</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LLM + RAG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ML  (production)</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 + ML (three-way)</a:t>
            </a:r>
            <a:endParaRPr lang="en-US" sz="1200" dirty="0"/>
          </a:p>
        </p:txBody>
      </p:sp>
      <p:sp>
        <p:nvSpPr>
          <p:cNvPr id="14" name="Shape 12"/>
          <p:cNvSpPr/>
          <p:nvPr/>
        </p:nvSpPr>
        <p:spPr>
          <a:xfrm>
            <a:off x="82296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5" name="Shape 13"/>
          <p:cNvSpPr/>
          <p:nvPr/>
        </p:nvSpPr>
        <p:spPr>
          <a:xfrm>
            <a:off x="8458200" y="1828800"/>
            <a:ext cx="502920" cy="502920"/>
          </a:xfrm>
          <a:prstGeom prst="ellipse">
            <a:avLst/>
          </a:prstGeom>
          <a:solidFill>
            <a:srgbClr val="6C89B8"/>
          </a:solidFill>
          <a:ln w="12700">
            <a:solidFill>
              <a:srgbClr val="6C89B8"/>
            </a:solidFill>
            <a:prstDash val="solid"/>
          </a:ln>
        </p:spPr>
        <p:txBody>
          <a:bodyPr/>
          <a:lstStyle/>
          <a:p>
            <a:endParaRPr lang="en-US"/>
          </a:p>
        </p:txBody>
      </p:sp>
      <p:sp>
        <p:nvSpPr>
          <p:cNvPr id="16" name="Text 14"/>
          <p:cNvSpPr/>
          <p:nvPr/>
        </p:nvSpPr>
        <p:spPr>
          <a:xfrm>
            <a:off x="84582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90982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Metrics Reported</a:t>
            </a:r>
            <a:endParaRPr lang="en-US" sz="1800" dirty="0"/>
          </a:p>
        </p:txBody>
      </p:sp>
      <p:sp>
        <p:nvSpPr>
          <p:cNvPr id="18" name="Text 16"/>
          <p:cNvSpPr/>
          <p:nvPr/>
        </p:nvSpPr>
        <p:spPr>
          <a:xfrm>
            <a:off x="85039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Accuracy, weighted F1, macro F1</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Per-class precision/recall</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Confusion matrix (top-K)</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Confidence calibration (ECE)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Slice performance (cluster, vendor, EXTC, amount)</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 vs ML vs LLM head-to-head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Runtime &amp; throughput</a:t>
            </a:r>
            <a:endParaRPr lang="en-US" sz="1200" dirty="0"/>
          </a:p>
        </p:txBody>
      </p:sp>
      <p:sp>
        <p:nvSpPr>
          <p:cNvPr id="19" name="Text 17"/>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Same code that generated this report runs monthly against the ATIMS Delta table — one Databricks widget swaps eval window.</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Model Comparison: All 8 Configurations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Rules + ML wins on overall accuracy; LLM shows separately</a:t>
            </a:r>
            <a:endParaRPr lang="en-US" sz="1400" dirty="0"/>
          </a:p>
        </p:txBody>
      </p:sp>
      <p:graphicFrame>
        <p:nvGraphicFramePr>
          <p:cNvPr id="4" name="Chart 0"/>
          <p:cNvGraphicFramePr/>
          <p:nvPr/>
        </p:nvGraphicFramePr>
        <p:xfrm>
          <a:off x="457200" y="1417320"/>
          <a:ext cx="7772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03920" y="1508760"/>
            <a:ext cx="320040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641080" y="1645920"/>
            <a:ext cx="2926080" cy="274320"/>
          </a:xfrm>
          <a:prstGeom prst="rect">
            <a:avLst/>
          </a:prstGeom>
          <a:noFill/>
          <a:ln/>
        </p:spPr>
        <p:txBody>
          <a:bodyPr wrap="square" lIns="0" tIns="0" rIns="0" bIns="0" rtlCol="0" anchor="ctr"/>
          <a:lstStyle/>
          <a:p>
            <a:pPr marL="0" indent="0">
              <a:buNone/>
            </a:pPr>
            <a:r>
              <a:rPr lang="en-US" sz="1000" b="1" kern="0" spc="400" dirty="0">
                <a:solidFill>
                  <a:srgbClr val="CADCFC"/>
                </a:solidFill>
                <a:latin typeface="Calibri" pitchFamily="34" charset="0"/>
                <a:ea typeface="Calibri" pitchFamily="34" charset="-122"/>
                <a:cs typeface="Calibri" pitchFamily="34" charset="-120"/>
              </a:rPr>
              <a:t>Winner</a:t>
            </a:r>
            <a:endParaRPr lang="en-US" sz="1000" dirty="0"/>
          </a:p>
        </p:txBody>
      </p:sp>
      <p:sp>
        <p:nvSpPr>
          <p:cNvPr id="7" name="Text 4"/>
          <p:cNvSpPr/>
          <p:nvPr/>
        </p:nvSpPr>
        <p:spPr>
          <a:xfrm>
            <a:off x="8641080" y="1920240"/>
            <a:ext cx="292608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Rules + LLM + ML</a:t>
            </a:r>
            <a:endParaRPr lang="en-US" sz="2000" dirty="0"/>
          </a:p>
        </p:txBody>
      </p:sp>
      <p:sp>
        <p:nvSpPr>
          <p:cNvPr id="8" name="Text 5"/>
          <p:cNvSpPr/>
          <p:nvPr/>
        </p:nvSpPr>
        <p:spPr>
          <a:xfrm>
            <a:off x="8641080" y="2377440"/>
            <a:ext cx="2926080" cy="45720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91.75% accuracy at 98.9% coverage — beats current production by 3.2 pp</a:t>
            </a:r>
            <a:endParaRPr lang="en-US" sz="1000" dirty="0"/>
          </a:p>
        </p:txBody>
      </p:sp>
      <p:sp>
        <p:nvSpPr>
          <p:cNvPr id="9" name="Shape 6"/>
          <p:cNvSpPr/>
          <p:nvPr/>
        </p:nvSpPr>
        <p:spPr>
          <a:xfrm>
            <a:off x="8503920" y="3063240"/>
            <a:ext cx="3200400" cy="1371600"/>
          </a:xfrm>
          <a:prstGeom prst="roundRect">
            <a:avLst>
              <a:gd name="adj" fmla="val 5333"/>
            </a:avLst>
          </a:prstGeom>
          <a:solidFill>
            <a:srgbClr val="FFFFFF"/>
          </a:solidFill>
          <a:ln w="6350">
            <a:solidFill>
              <a:srgbClr val="D6DDE8"/>
            </a:solidFill>
            <a:prstDash val="solid"/>
          </a:ln>
        </p:spPr>
        <p:txBody>
          <a:bodyPr/>
          <a:lstStyle/>
          <a:p>
            <a:endParaRPr lang="en-US"/>
          </a:p>
        </p:txBody>
      </p:sp>
      <p:sp>
        <p:nvSpPr>
          <p:cNvPr id="10" name="Text 7"/>
          <p:cNvSpPr/>
          <p:nvPr/>
        </p:nvSpPr>
        <p:spPr>
          <a:xfrm>
            <a:off x="8641080" y="3200400"/>
            <a:ext cx="2926080" cy="274320"/>
          </a:xfrm>
          <a:prstGeom prst="rect">
            <a:avLst/>
          </a:prstGeom>
          <a:noFill/>
          <a:ln/>
        </p:spPr>
        <p:txBody>
          <a:bodyPr wrap="square" lIns="0" tIns="0" rIns="0" bIns="0" rtlCol="0" anchor="ctr"/>
          <a:lstStyle/>
          <a:p>
            <a:pPr marL="0" indent="0">
              <a:buNone/>
            </a:pPr>
            <a:r>
              <a:rPr lang="en-US" sz="1000" b="1" kern="0" spc="400" dirty="0">
                <a:solidFill>
                  <a:srgbClr val="3D5A80"/>
                </a:solidFill>
                <a:latin typeface="Calibri" pitchFamily="34" charset="0"/>
                <a:ea typeface="Calibri" pitchFamily="34" charset="-122"/>
                <a:cs typeface="Calibri" pitchFamily="34" charset="-120"/>
              </a:rPr>
              <a:t>Baseline</a:t>
            </a:r>
            <a:endParaRPr lang="en-US" sz="1000" dirty="0"/>
          </a:p>
        </p:txBody>
      </p:sp>
      <p:sp>
        <p:nvSpPr>
          <p:cNvPr id="11" name="Text 8"/>
          <p:cNvSpPr/>
          <p:nvPr/>
        </p:nvSpPr>
        <p:spPr>
          <a:xfrm>
            <a:off x="8641080" y="347472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Rules + ML: 88.5%</a:t>
            </a:r>
            <a:endParaRPr lang="en-US" sz="2000" dirty="0"/>
          </a:p>
        </p:txBody>
      </p:sp>
      <p:sp>
        <p:nvSpPr>
          <p:cNvPr id="12" name="Text 9"/>
          <p:cNvSpPr/>
          <p:nvPr/>
        </p:nvSpPr>
        <p:spPr>
          <a:xfrm>
            <a:off x="8641080" y="3886200"/>
            <a:ext cx="2926080" cy="5029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Current production configuration — solid, but leaves accuracy on the table</a:t>
            </a:r>
            <a:endParaRPr lang="en-US" sz="1000" dirty="0"/>
          </a:p>
        </p:txBody>
      </p:sp>
      <p:sp>
        <p:nvSpPr>
          <p:cNvPr id="13" name="Shape 10"/>
          <p:cNvSpPr/>
          <p:nvPr/>
        </p:nvSpPr>
        <p:spPr>
          <a:xfrm>
            <a:off x="8503920" y="4617720"/>
            <a:ext cx="3200400" cy="1280160"/>
          </a:xfrm>
          <a:prstGeom prst="roundRect">
            <a:avLst>
              <a:gd name="adj" fmla="val 5714"/>
            </a:avLst>
          </a:prstGeom>
          <a:solidFill>
            <a:srgbClr val="FFFFFF"/>
          </a:solidFill>
          <a:ln w="6350">
            <a:solidFill>
              <a:srgbClr val="D6DDE8"/>
            </a:solidFill>
            <a:prstDash val="solid"/>
          </a:ln>
        </p:spPr>
        <p:txBody>
          <a:bodyPr/>
          <a:lstStyle/>
          <a:p>
            <a:endParaRPr lang="en-US"/>
          </a:p>
        </p:txBody>
      </p:sp>
      <p:sp>
        <p:nvSpPr>
          <p:cNvPr id="14" name="Text 11"/>
          <p:cNvSpPr/>
          <p:nvPr/>
        </p:nvSpPr>
        <p:spPr>
          <a:xfrm>
            <a:off x="8641080" y="4754880"/>
            <a:ext cx="2926080" cy="274320"/>
          </a:xfrm>
          <a:prstGeom prst="rect">
            <a:avLst/>
          </a:prstGeom>
          <a:noFill/>
          <a:ln/>
        </p:spPr>
        <p:txBody>
          <a:bodyPr wrap="square" lIns="0" tIns="0" rIns="0" bIns="0" rtlCol="0" anchor="ctr"/>
          <a:lstStyle/>
          <a:p>
            <a:pPr marL="0" indent="0">
              <a:buNone/>
            </a:pPr>
            <a:r>
              <a:rPr lang="en-US" sz="1000" b="1" kern="0" spc="400" dirty="0">
                <a:solidFill>
                  <a:srgbClr val="6C89B8"/>
                </a:solidFill>
                <a:latin typeface="Calibri" pitchFamily="34" charset="0"/>
                <a:ea typeface="Calibri" pitchFamily="34" charset="-122"/>
                <a:cs typeface="Calibri" pitchFamily="34" charset="-120"/>
              </a:rPr>
              <a:t>Standalone</a:t>
            </a:r>
            <a:endParaRPr lang="en-US" sz="1000" dirty="0"/>
          </a:p>
        </p:txBody>
      </p:sp>
      <p:sp>
        <p:nvSpPr>
          <p:cNvPr id="15" name="Text 12"/>
          <p:cNvSpPr/>
          <p:nvPr/>
        </p:nvSpPr>
        <p:spPr>
          <a:xfrm>
            <a:off x="8641080" y="502920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LLM alone: 94.2%</a:t>
            </a:r>
            <a:endParaRPr lang="en-US" sz="2000" dirty="0"/>
          </a:p>
        </p:txBody>
      </p:sp>
      <p:sp>
        <p:nvSpPr>
          <p:cNvPr id="16" name="Text 13"/>
          <p:cNvSpPr/>
          <p:nvPr/>
        </p:nvSpPr>
        <p:spPr>
          <a:xfrm>
            <a:off x="8641080" y="5440680"/>
            <a:ext cx="2926080" cy="36576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Highest single-model score — but we need rules for audit trail</a:t>
            </a:r>
            <a:endParaRPr lang="en-US" sz="1000" dirty="0"/>
          </a:p>
        </p:txBody>
      </p:sp>
      <p:sp>
        <p:nvSpPr>
          <p:cNvPr id="17"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8"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LLM's Real Value Lives on Ambiguous Cases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Where rules can't decide and ML struggles</a:t>
            </a:r>
            <a:endParaRPr lang="en-US" sz="1400" dirty="0"/>
          </a:p>
        </p:txBody>
      </p:sp>
      <p:graphicFrame>
        <p:nvGraphicFramePr>
          <p:cNvPr id="4" name="Chart 0"/>
          <p:cNvGraphicFramePr/>
          <p:nvPr/>
        </p:nvGraphicFramePr>
        <p:xfrm>
          <a:off x="457200" y="1463040"/>
          <a:ext cx="62179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949440" y="1417320"/>
            <a:ext cx="4846320" cy="320040"/>
          </a:xfrm>
          <a:prstGeom prst="rect">
            <a:avLst/>
          </a:prstGeom>
          <a:noFill/>
          <a:ln/>
        </p:spPr>
        <p:txBody>
          <a:bodyPr wrap="square" lIns="0" tIns="0" rIns="0" bIns="0" rtlCol="0" anchor="ctr"/>
          <a:lstStyle/>
          <a:p>
            <a:pPr marL="0" indent="0">
              <a:buNone/>
            </a:pPr>
            <a:r>
              <a:rPr lang="en-US" sz="1100" b="1" kern="0" spc="400" dirty="0">
                <a:solidFill>
                  <a:srgbClr val="E9A63A"/>
                </a:solidFill>
                <a:latin typeface="Calibri" pitchFamily="34" charset="0"/>
                <a:ea typeface="Calibri" pitchFamily="34" charset="-122"/>
                <a:cs typeface="Calibri" pitchFamily="34" charset="-120"/>
              </a:rPr>
              <a:t>The finding</a:t>
            </a:r>
            <a:endParaRPr lang="en-US" sz="1100" dirty="0"/>
          </a:p>
        </p:txBody>
      </p:sp>
      <p:sp>
        <p:nvSpPr>
          <p:cNvPr id="6" name="Text 3"/>
          <p:cNvSpPr/>
          <p:nvPr/>
        </p:nvSpPr>
        <p:spPr>
          <a:xfrm>
            <a:off x="6949440" y="1691640"/>
            <a:ext cx="4846320" cy="731520"/>
          </a:xfrm>
          <a:prstGeom prst="rect">
            <a:avLst/>
          </a:prstGeom>
          <a:noFill/>
          <a:ln/>
        </p:spPr>
        <p:txBody>
          <a:bodyPr wrap="square" lIns="0" tIns="0" rIns="0" bIns="0"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+62 percentage points</a:t>
            </a:r>
            <a:endParaRPr lang="en-US" sz="4000" dirty="0"/>
          </a:p>
        </p:txBody>
      </p:sp>
      <p:sp>
        <p:nvSpPr>
          <p:cNvPr id="7" name="Text 4"/>
          <p:cNvSpPr/>
          <p:nvPr/>
        </p:nvSpPr>
        <p:spPr>
          <a:xfrm>
            <a:off x="6949440" y="2468880"/>
            <a:ext cx="4846320" cy="27432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LLM accuracy over ML on no-rule rows</a:t>
            </a:r>
            <a:endParaRPr lang="en-US" sz="1200" dirty="0"/>
          </a:p>
        </p:txBody>
      </p:sp>
      <p:sp>
        <p:nvSpPr>
          <p:cNvPr id="8" name="Text 5"/>
          <p:cNvSpPr/>
          <p:nvPr/>
        </p:nvSpPr>
        <p:spPr>
          <a:xfrm>
            <a:off x="6949440" y="2880360"/>
            <a:ext cx="4846320" cy="3108960"/>
          </a:xfrm>
          <a:prstGeom prst="rect">
            <a:avLst/>
          </a:prstGeom>
          <a:noFill/>
          <a:ln/>
        </p:spPr>
        <p:txBody>
          <a:bodyPr wrap="square" lIns="0" tIns="0" rIns="0" bIns="0" rtlCol="0" anchor="t"/>
          <a:lstStyle/>
          <a:p>
            <a:pPr marL="0" indent="0">
              <a:spcAft>
                <a:spcPts val="600"/>
              </a:spcAft>
              <a:buNone/>
            </a:pPr>
            <a:r>
              <a:rPr lang="en-US" sz="1200" dirty="0">
                <a:solidFill>
                  <a:srgbClr val="1A1A2E"/>
                </a:solidFill>
                <a:latin typeface="Calibri" pitchFamily="34" charset="0"/>
                <a:ea typeface="Calibri" pitchFamily="34" charset="-122"/>
                <a:cs typeface="Calibri" pitchFamily="34" charset="-120"/>
              </a:rPr>
              <a:t>Across all ~240K invoices in the 24-month window, the LLM beats ML by 18.9 pp.
Zoom into the ~60K no-rule rows — the ones that need a decision from ML or LLM — and the gap explodes to 62 percentage points. ML only gets 31.7% right; LLM gets 93.8%.
Why: descriptions like  </a:t>
            </a:r>
            <a:r>
              <a:rPr lang="en-US" sz="1200" i="1" dirty="0">
                <a:solidFill>
                  <a:srgbClr val="3D5A80"/>
                </a:solidFill>
                <a:latin typeface="Calibri" pitchFamily="34" charset="0"/>
                <a:ea typeface="Calibri" pitchFamily="34" charset="-122"/>
                <a:cs typeface="Calibri" pitchFamily="34" charset="-120"/>
              </a:rPr>
              <a:t>"office lease rental Q3"  </a:t>
            </a:r>
            <a:r>
              <a:rPr lang="en-US" sz="1200" dirty="0">
                <a:solidFill>
                  <a:srgbClr val="1A1A2E"/>
                </a:solidFill>
                <a:latin typeface="Calibri" pitchFamily="34" charset="0"/>
                <a:ea typeface="Calibri" pitchFamily="34" charset="-122"/>
                <a:cs typeface="Calibri" pitchFamily="34" charset="-120"/>
              </a:rPr>
              <a:t>vs  </a:t>
            </a:r>
            <a:r>
              <a:rPr lang="en-US" sz="1200" i="1" dirty="0">
                <a:solidFill>
                  <a:srgbClr val="3D5A80"/>
                </a:solidFill>
                <a:latin typeface="Calibri" pitchFamily="34" charset="0"/>
                <a:ea typeface="Calibri" pitchFamily="34" charset="-122"/>
                <a:cs typeface="Calibri" pitchFamily="34" charset="-120"/>
              </a:rPr>
              <a:t>"equipment financing Q3"  </a:t>
            </a:r>
            <a:r>
              <a:rPr lang="en-US" sz="1200" dirty="0">
                <a:solidFill>
                  <a:srgbClr val="1A1A2E"/>
                </a:solidFill>
                <a:latin typeface="Calibri" pitchFamily="34" charset="0"/>
                <a:ea typeface="Calibri" pitchFamily="34" charset="-122"/>
                <a:cs typeface="Calibri" pitchFamily="34" charset="-120"/>
              </a:rPr>
              <a:t>look identical to XGBoost. The LLM+RAG stack reads them and retrieves the right precedent.</a:t>
            </a:r>
            <a:endParaRPr lang="en-US" sz="1200" dirty="0"/>
          </a:p>
        </p:txBody>
      </p:sp>
      <p:sp>
        <p:nvSpPr>
          <p:cNvPr id="9" name="Text 6"/>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LLM/ML agreement rate: 71%.  When they disagree, LLM is right ~5× more often — this is the diversity the three-way ensemble exploits.</a:t>
            </a:r>
            <a:endParaRPr lang="en-US" sz="120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1" name="Text 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the Three-Way Ensemble Wins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Agreement voting turns model diversity into accuracy</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600" b="1" dirty="0">
                <a:solidFill>
                  <a:srgbClr val="3D5A80"/>
                </a:solidFill>
                <a:latin typeface="Cambria" pitchFamily="34" charset="0"/>
                <a:ea typeface="Cambria" pitchFamily="34" charset="-122"/>
                <a:cs typeface="Cambria" pitchFamily="34" charset="-120"/>
              </a:rPr>
              <a:t>The decision logic</a:t>
            </a:r>
            <a:endParaRPr lang="en-US" sz="1600" dirty="0"/>
          </a:p>
        </p:txBody>
      </p:sp>
      <p:sp>
        <p:nvSpPr>
          <p:cNvPr id="6" name="Text 4"/>
          <p:cNvSpPr/>
          <p:nvPr/>
        </p:nvSpPr>
        <p:spPr>
          <a:xfrm>
            <a:off x="685800" y="2057400"/>
            <a:ext cx="5166360" cy="3794760"/>
          </a:xfrm>
          <a:prstGeom prst="rect">
            <a:avLst/>
          </a:prstGeom>
          <a:noFill/>
          <a:ln/>
        </p:spPr>
        <p:txBody>
          <a:bodyPr wrap="square" lIns="0" tIns="0" rIns="0" bIns="0" rtlCol="0" anchor="t"/>
          <a:lstStyle/>
          <a:p>
            <a:pPr marL="0" indent="0">
              <a:spcAft>
                <a:spcPts val="400"/>
              </a:spcAft>
              <a:buNone/>
            </a:pPr>
            <a:r>
              <a:rPr lang="en-US" sz="1300" b="1" dirty="0">
                <a:solidFill>
                  <a:srgbClr val="1A1A2E"/>
                </a:solidFill>
                <a:latin typeface="Calibri" pitchFamily="34" charset="0"/>
                <a:ea typeface="Calibri" pitchFamily="34" charset="-122"/>
                <a:cs typeface="Calibri" pitchFamily="34" charset="-120"/>
              </a:rPr>
              <a:t>Rule fired?  </a:t>
            </a:r>
            <a:r>
              <a:rPr lang="en-US" sz="1300" dirty="0">
                <a:solidFill>
                  <a:srgbClr val="1A1A2E"/>
                </a:solidFill>
                <a:latin typeface="Calibri" pitchFamily="34" charset="0"/>
                <a:ea typeface="Calibri" pitchFamily="34" charset="-122"/>
                <a:cs typeface="Calibri" pitchFamily="34" charset="-120"/>
              </a:rPr>
              <a:t>→ use rule prediction (auditable trail)
</a:t>
            </a:r>
            <a:r>
              <a:rPr lang="en-US" sz="1300" b="1" dirty="0">
                <a:solidFill>
                  <a:srgbClr val="1A1A2E"/>
                </a:solidFill>
                <a:latin typeface="Calibri" pitchFamily="34" charset="0"/>
                <a:ea typeface="Calibri" pitchFamily="34" charset="-122"/>
                <a:cs typeface="Calibri" pitchFamily="34" charset="-120"/>
              </a:rPr>
              <a:t>ML and LLM agree?  </a:t>
            </a:r>
            <a:r>
              <a:rPr lang="en-US" sz="1300" dirty="0">
                <a:solidFill>
                  <a:srgbClr val="1A1A2E"/>
                </a:solidFill>
                <a:latin typeface="Calibri" pitchFamily="34" charset="0"/>
                <a:ea typeface="Calibri" pitchFamily="34" charset="-122"/>
                <a:cs typeface="Calibri" pitchFamily="34" charset="-120"/>
              </a:rPr>
              <a:t>→ use it — agreement is a strong ensemble signal
</a:t>
            </a:r>
            <a:r>
              <a:rPr lang="en-US" sz="1300" b="1" dirty="0">
                <a:solidFill>
                  <a:srgbClr val="1A1A2E"/>
                </a:solidFill>
                <a:latin typeface="Calibri" pitchFamily="34" charset="0"/>
                <a:ea typeface="Calibri" pitchFamily="34" charset="-122"/>
                <a:cs typeface="Calibri" pitchFamily="34" charset="-120"/>
              </a:rPr>
              <a:t>They disagree?  </a:t>
            </a:r>
            <a:r>
              <a:rPr lang="en-US" sz="1300" dirty="0">
                <a:solidFill>
                  <a:srgbClr val="1A1A2E"/>
                </a:solidFill>
                <a:latin typeface="Calibri" pitchFamily="34" charset="0"/>
                <a:ea typeface="Calibri" pitchFamily="34" charset="-122"/>
                <a:cs typeface="Calibri" pitchFamily="34" charset="-120"/>
              </a:rPr>
              <a:t>→ trust LLM only if very confident (≥0.90)
</a:t>
            </a:r>
            <a:r>
              <a:rPr lang="en-US" sz="1300" b="1" dirty="0">
                <a:solidFill>
                  <a:srgbClr val="1A1A2E"/>
                </a:solidFill>
                <a:latin typeface="Calibri" pitchFamily="34" charset="0"/>
                <a:ea typeface="Calibri" pitchFamily="34" charset="-122"/>
                <a:cs typeface="Calibri" pitchFamily="34" charset="-120"/>
              </a:rPr>
              <a:t>Otherwise  </a:t>
            </a:r>
            <a:r>
              <a:rPr lang="en-US" sz="1300" dirty="0">
                <a:solidFill>
                  <a:srgbClr val="1A1A2E"/>
                </a:solidFill>
                <a:latin typeface="Calibri" pitchFamily="34" charset="0"/>
                <a:ea typeface="Calibri" pitchFamily="34" charset="-122"/>
                <a:cs typeface="Calibri" pitchFamily="34" charset="-120"/>
              </a:rPr>
              <a:t>→ route to human review — better than a wrong tag
</a:t>
            </a:r>
            <a:r>
              <a:rPr lang="en-US" sz="1200" i="1" dirty="0">
                <a:solidFill>
                  <a:srgbClr val="5A6472"/>
                </a:solidFill>
                <a:latin typeface="Calibri" pitchFamily="34" charset="0"/>
                <a:ea typeface="Calibri" pitchFamily="34" charset="-122"/>
                <a:cs typeface="Calibri" pitchFamily="34" charset="-120"/>
              </a:rPr>
              <a:t>This exploits </a:t>
            </a:r>
            <a:r>
              <a:rPr lang="en-US" sz="1200" b="1" i="1" dirty="0">
                <a:solidFill>
                  <a:srgbClr val="3D5A80"/>
                </a:solidFill>
                <a:latin typeface="Calibri" pitchFamily="34" charset="0"/>
                <a:ea typeface="Calibri" pitchFamily="34" charset="-122"/>
                <a:cs typeface="Calibri" pitchFamily="34" charset="-120"/>
              </a:rPr>
              <a:t>model diversity</a:t>
            </a:r>
            <a:r>
              <a:rPr lang="en-US" sz="1200" i="1" dirty="0">
                <a:solidFill>
                  <a:srgbClr val="5A6472"/>
                </a:solidFill>
                <a:latin typeface="Calibri" pitchFamily="34" charset="0"/>
                <a:ea typeface="Calibri" pitchFamily="34" charset="-122"/>
                <a:cs typeface="Calibri" pitchFamily="34" charset="-120"/>
              </a:rPr>
              <a:t> rather than picking whoever sounded more confident.</a:t>
            </a:r>
            <a:endParaRPr lang="en-US" sz="1300" dirty="0"/>
          </a:p>
        </p:txBody>
      </p:sp>
      <p:sp>
        <p:nvSpPr>
          <p:cNvPr id="7" name="Shape 5"/>
          <p:cNvSpPr/>
          <p:nvPr/>
        </p:nvSpPr>
        <p:spPr>
          <a:xfrm>
            <a:off x="6263640" y="1463040"/>
            <a:ext cx="5623560" cy="4480560"/>
          </a:xfrm>
          <a:prstGeom prst="roundRect">
            <a:avLst>
              <a:gd name="adj" fmla="val 1633"/>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6446520" y="1645920"/>
            <a:ext cx="530352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The result</a:t>
            </a:r>
            <a:endParaRPr lang="en-US" sz="1600" dirty="0"/>
          </a:p>
        </p:txBody>
      </p:sp>
      <p:sp>
        <p:nvSpPr>
          <p:cNvPr id="9" name="Text 7"/>
          <p:cNvSpPr/>
          <p:nvPr/>
        </p:nvSpPr>
        <p:spPr>
          <a:xfrm>
            <a:off x="6446520" y="21488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Auto-classify coverage</a:t>
            </a:r>
            <a:endParaRPr lang="en-US" sz="1100" dirty="0"/>
          </a:p>
        </p:txBody>
      </p:sp>
      <p:sp>
        <p:nvSpPr>
          <p:cNvPr id="10" name="Text 8"/>
          <p:cNvSpPr/>
          <p:nvPr/>
        </p:nvSpPr>
        <p:spPr>
          <a:xfrm>
            <a:off x="6446520" y="24231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80.8%  →  98.9%</a:t>
            </a:r>
            <a:endParaRPr lang="en-US" sz="2400" dirty="0"/>
          </a:p>
        </p:txBody>
      </p:sp>
      <p:sp>
        <p:nvSpPr>
          <p:cNvPr id="11" name="Text 9"/>
          <p:cNvSpPr/>
          <p:nvPr/>
        </p:nvSpPr>
        <p:spPr>
          <a:xfrm>
            <a:off x="6446520" y="29260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(+18 pp)</a:t>
            </a:r>
            <a:endParaRPr lang="en-US" sz="1000" dirty="0"/>
          </a:p>
        </p:txBody>
      </p:sp>
      <p:sp>
        <p:nvSpPr>
          <p:cNvPr id="12" name="Shape 10"/>
          <p:cNvSpPr/>
          <p:nvPr/>
        </p:nvSpPr>
        <p:spPr>
          <a:xfrm>
            <a:off x="6446520" y="3383280"/>
            <a:ext cx="5257800" cy="0"/>
          </a:xfrm>
          <a:prstGeom prst="line">
            <a:avLst/>
          </a:prstGeom>
          <a:noFill/>
          <a:ln w="9525">
            <a:solidFill>
              <a:srgbClr val="CADCFC"/>
            </a:solidFill>
            <a:prstDash val="solid"/>
          </a:ln>
        </p:spPr>
        <p:txBody>
          <a:bodyPr/>
          <a:lstStyle/>
          <a:p>
            <a:endParaRPr lang="en-US"/>
          </a:p>
        </p:txBody>
      </p:sp>
      <p:sp>
        <p:nvSpPr>
          <p:cNvPr id="13" name="Text 11"/>
          <p:cNvSpPr/>
          <p:nvPr/>
        </p:nvSpPr>
        <p:spPr>
          <a:xfrm>
            <a:off x="6446520" y="35204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Accuracy on auto-classified</a:t>
            </a:r>
            <a:endParaRPr lang="en-US" sz="1100" dirty="0"/>
          </a:p>
        </p:txBody>
      </p:sp>
      <p:sp>
        <p:nvSpPr>
          <p:cNvPr id="14" name="Text 12"/>
          <p:cNvSpPr/>
          <p:nvPr/>
        </p:nvSpPr>
        <p:spPr>
          <a:xfrm>
            <a:off x="6446520" y="37947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88.5%  →  91.75%</a:t>
            </a:r>
            <a:endParaRPr lang="en-US" sz="2400" dirty="0"/>
          </a:p>
        </p:txBody>
      </p:sp>
      <p:sp>
        <p:nvSpPr>
          <p:cNvPr id="15" name="Text 13"/>
          <p:cNvSpPr/>
          <p:nvPr/>
        </p:nvSpPr>
        <p:spPr>
          <a:xfrm>
            <a:off x="6446520" y="42976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(+3.2 pp)</a:t>
            </a:r>
            <a:endParaRPr lang="en-US" sz="1000" dirty="0"/>
          </a:p>
        </p:txBody>
      </p:sp>
      <p:sp>
        <p:nvSpPr>
          <p:cNvPr id="16" name="Shape 14"/>
          <p:cNvSpPr/>
          <p:nvPr/>
        </p:nvSpPr>
        <p:spPr>
          <a:xfrm>
            <a:off x="6446520" y="4754880"/>
            <a:ext cx="5257800" cy="0"/>
          </a:xfrm>
          <a:prstGeom prst="line">
            <a:avLst/>
          </a:prstGeom>
          <a:noFill/>
          <a:ln w="9525">
            <a:solidFill>
              <a:srgbClr val="CADCFC"/>
            </a:solidFill>
            <a:prstDash val="solid"/>
          </a:ln>
        </p:spPr>
        <p:txBody>
          <a:bodyPr/>
          <a:lstStyle/>
          <a:p>
            <a:endParaRPr lang="en-US"/>
          </a:p>
        </p:txBody>
      </p:sp>
      <p:sp>
        <p:nvSpPr>
          <p:cNvPr id="17" name="Text 15"/>
          <p:cNvSpPr/>
          <p:nvPr/>
        </p:nvSpPr>
        <p:spPr>
          <a:xfrm>
            <a:off x="6446520" y="4937760"/>
            <a:ext cx="5303520" cy="914400"/>
          </a:xfrm>
          <a:prstGeom prst="rect">
            <a:avLst/>
          </a:prstGeom>
          <a:noFill/>
          <a:ln/>
        </p:spPr>
        <p:txBody>
          <a:bodyPr wrap="square" lIns="0" tIns="0" rIns="0" bIns="0" rtlCol="0" anchor="ctr"/>
          <a:lstStyle/>
          <a:p>
            <a:pPr marL="0" indent="0">
              <a:buNone/>
            </a:pPr>
            <a:r>
              <a:rPr lang="en-US" sz="1200" b="1" i="1" dirty="0">
                <a:solidFill>
                  <a:srgbClr val="CADCFC"/>
                </a:solidFill>
                <a:latin typeface="Calibri" pitchFamily="34" charset="0"/>
                <a:ea typeface="Calibri" pitchFamily="34" charset="-122"/>
                <a:cs typeface="Calibri" pitchFamily="34" charset="-120"/>
              </a:rPr>
              <a:t>More invoices auto-classified. Higher accuracy. Human review load drops from 19% to 1%.</a:t>
            </a:r>
            <a:endParaRPr lang="en-US" sz="1200" dirty="0"/>
          </a:p>
        </p:txBody>
      </p:sp>
      <p:sp>
        <p:nvSpPr>
          <p:cNvPr id="18" name="Text 1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The three-way ensemble is a strictly better operating point — more coverage AND higher accuracy on covered rows.</a:t>
            </a:r>
            <a:endParaRPr lang="en-US" sz="1200" dirty="0"/>
          </a:p>
        </p:txBody>
      </p:sp>
      <p:sp>
        <p:nvSpPr>
          <p:cNvPr id="19" name="Text 1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0" name="Text 1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Pipeline Wins and Where It Struggles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Accuracy by tax cluster (top 15 by volume)</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148840"/>
          </a:xfrm>
          <a:prstGeom prst="roundRect">
            <a:avLst>
              <a:gd name="adj" fmla="val 3404"/>
            </a:avLst>
          </a:prstGeom>
          <a:solidFill>
            <a:srgbClr val="E8F5EF"/>
          </a:solidFill>
          <a:ln w="12700">
            <a:solidFill>
              <a:srgbClr val="2A9D8F"/>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 Strong clusters</a:t>
            </a:r>
            <a:endParaRPr lang="en-US" sz="1200" dirty="0"/>
          </a:p>
        </p:txBody>
      </p:sp>
      <p:sp>
        <p:nvSpPr>
          <p:cNvPr id="7" name="Text 4"/>
          <p:cNvSpPr/>
          <p:nvPr/>
        </p:nvSpPr>
        <p:spPr>
          <a:xfrm>
            <a:off x="8503920" y="1965960"/>
            <a:ext cx="3108960" cy="160020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Landscape Services  100%
Storage Services  98.3%
Food/Beverage  97.9%
Vendor Engineering  97.6%
Safety Equipment  97.1%
</a:t>
            </a:r>
            <a:r>
              <a:rPr lang="en-US" sz="1000" i="1" dirty="0">
                <a:solidFill>
                  <a:srgbClr val="5A6472"/>
                </a:solidFill>
                <a:latin typeface="Calibri" pitchFamily="34" charset="0"/>
                <a:ea typeface="Calibri" pitchFamily="34" charset="-122"/>
                <a:cs typeface="Calibri" pitchFamily="34" charset="-120"/>
              </a:rPr>
              <a:t>→ Distinctive keywords the model latches onto reliably</a:t>
            </a:r>
            <a:endParaRPr lang="en-US" sz="1100" dirty="0"/>
          </a:p>
        </p:txBody>
      </p:sp>
      <p:sp>
        <p:nvSpPr>
          <p:cNvPr id="8" name="Shape 5"/>
          <p:cNvSpPr/>
          <p:nvPr/>
        </p:nvSpPr>
        <p:spPr>
          <a:xfrm>
            <a:off x="8321040" y="3749040"/>
            <a:ext cx="3474720" cy="2194560"/>
          </a:xfrm>
          <a:prstGeom prst="roundRect">
            <a:avLst>
              <a:gd name="adj" fmla="val 3333"/>
            </a:avLst>
          </a:prstGeom>
          <a:solidFill>
            <a:srgbClr val="FCEDEB"/>
          </a:solidFill>
          <a:ln w="12700">
            <a:solidFill>
              <a:srgbClr val="C0433F"/>
            </a:solidFill>
            <a:prstDash val="solid"/>
          </a:ln>
        </p:spPr>
        <p:txBody>
          <a:bodyPr/>
          <a:lstStyle/>
          <a:p>
            <a:endParaRPr lang="en-US"/>
          </a:p>
        </p:txBody>
      </p:sp>
      <p:sp>
        <p:nvSpPr>
          <p:cNvPr id="9" name="Text 6"/>
          <p:cNvSpPr/>
          <p:nvPr/>
        </p:nvSpPr>
        <p:spPr>
          <a:xfrm>
            <a:off x="8458200" y="3886200"/>
            <a:ext cx="3200400" cy="320040"/>
          </a:xfrm>
          <a:prstGeom prst="rect">
            <a:avLst/>
          </a:prstGeom>
          <a:noFill/>
          <a:ln/>
        </p:spPr>
        <p:txBody>
          <a:bodyPr wrap="square" lIns="0" tIns="0" rIns="0" bIns="0" rtlCol="0" anchor="ctr"/>
          <a:lstStyle/>
          <a:p>
            <a:pPr marL="0" indent="0">
              <a:buNone/>
            </a:pPr>
            <a:r>
              <a:rPr lang="en-US" sz="1200" b="1" dirty="0">
                <a:solidFill>
                  <a:srgbClr val="C0433F"/>
                </a:solidFill>
                <a:latin typeface="Calibri" pitchFamily="34" charset="0"/>
                <a:ea typeface="Calibri" pitchFamily="34" charset="-122"/>
                <a:cs typeface="Calibri" pitchFamily="34" charset="-120"/>
              </a:rPr>
              <a:t>⚠ Struggle clusters</a:t>
            </a:r>
            <a:endParaRPr lang="en-US" sz="1200" dirty="0"/>
          </a:p>
        </p:txBody>
      </p:sp>
      <p:sp>
        <p:nvSpPr>
          <p:cNvPr id="10" name="Text 7"/>
          <p:cNvSpPr/>
          <p:nvPr/>
        </p:nvSpPr>
        <p:spPr>
          <a:xfrm>
            <a:off x="8503920" y="4251960"/>
            <a:ext cx="3108960" cy="169164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Contract plant labor  54%
Permits  60%
Research and Development  74%
Operating Lease  89%
</a:t>
            </a:r>
            <a:r>
              <a:rPr lang="en-US" sz="1000" i="1" dirty="0">
                <a:solidFill>
                  <a:srgbClr val="5A6472"/>
                </a:solidFill>
                <a:latin typeface="Calibri" pitchFamily="34" charset="0"/>
                <a:ea typeface="Calibri" pitchFamily="34" charset="-122"/>
                <a:cs typeface="Calibri" pitchFamily="34" charset="-120"/>
              </a:rPr>
              <a:t>→ Share EXTC/MIC codes with other clusters. Prime candidates for LLM disambiguation or richer embeddings.</a:t>
            </a:r>
            <a:endParaRPr lang="en-US" sz="1100" dirty="0"/>
          </a:p>
        </p:txBody>
      </p:sp>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2" name="Text 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20 /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Predictions Go Wrong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confusion pairs the LLM is best positioned to fix</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286000"/>
          </a:xfrm>
          <a:prstGeom prst="roundRect">
            <a:avLst>
              <a:gd name="adj" fmla="val 3200"/>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100" b="1" kern="0" spc="400" dirty="0">
                <a:solidFill>
                  <a:srgbClr val="CADCFC"/>
                </a:solidFill>
                <a:latin typeface="Calibri" pitchFamily="34" charset="0"/>
                <a:ea typeface="Calibri" pitchFamily="34" charset="-122"/>
                <a:cs typeface="Calibri" pitchFamily="34" charset="-120"/>
              </a:rPr>
              <a:t>The pattern</a:t>
            </a:r>
            <a:endParaRPr lang="en-US" sz="1100" dirty="0"/>
          </a:p>
        </p:txBody>
      </p:sp>
      <p:sp>
        <p:nvSpPr>
          <p:cNvPr id="7" name="Text 4"/>
          <p:cNvSpPr/>
          <p:nvPr/>
        </p:nvSpPr>
        <p:spPr>
          <a:xfrm>
            <a:off x="8458200" y="1874520"/>
            <a:ext cx="320040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 plant labor is a sink</a:t>
            </a:r>
            <a:endParaRPr lang="en-US" sz="1700" dirty="0"/>
          </a:p>
        </p:txBody>
      </p:sp>
      <p:sp>
        <p:nvSpPr>
          <p:cNvPr id="8" name="Text 5"/>
          <p:cNvSpPr/>
          <p:nvPr/>
        </p:nvSpPr>
        <p:spPr>
          <a:xfrm>
            <a:off x="8458200" y="2423160"/>
            <a:ext cx="3200400" cy="1280160"/>
          </a:xfrm>
          <a:prstGeom prst="rect">
            <a:avLst/>
          </a:prstGeom>
          <a:noFill/>
          <a:ln/>
        </p:spPr>
        <p:txBody>
          <a:bodyPr wrap="square" lIns="0" tIns="0" rIns="0" bIns="0" rtlCol="0" anchor="t"/>
          <a:lstStyle/>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4 of the top 8 misroutings all flow into Contract plant labor. It shares MIC=COEOTHER with 6+ other clusters — structured features alone can't tell them apart.
</a:t>
            </a:r>
            <a:r>
              <a:rPr lang="en-US" sz="1100" b="1" i="1" dirty="0">
                <a:solidFill>
                  <a:srgbClr val="FFFFFF"/>
                </a:solidFill>
                <a:latin typeface="Calibri" pitchFamily="34" charset="0"/>
                <a:ea typeface="Calibri" pitchFamily="34" charset="-122"/>
                <a:cs typeface="Calibri" pitchFamily="34" charset="-120"/>
              </a:rPr>
              <a:t>Result: overconfident false positives to a single category.</a:t>
            </a:r>
            <a:endParaRPr lang="en-US" sz="1100" dirty="0"/>
          </a:p>
        </p:txBody>
      </p:sp>
      <p:sp>
        <p:nvSpPr>
          <p:cNvPr id="9" name="Shape 6"/>
          <p:cNvSpPr/>
          <p:nvPr/>
        </p:nvSpPr>
        <p:spPr>
          <a:xfrm>
            <a:off x="8321040" y="3886200"/>
            <a:ext cx="3474720" cy="2103120"/>
          </a:xfrm>
          <a:prstGeom prst="roundRect">
            <a:avLst>
              <a:gd name="adj" fmla="val 3478"/>
            </a:avLst>
          </a:prstGeom>
          <a:solidFill>
            <a:srgbClr val="E8F5EF"/>
          </a:solidFill>
          <a:ln w="12700">
            <a:solidFill>
              <a:srgbClr val="2A9D8F"/>
            </a:solidFill>
            <a:prstDash val="solid"/>
          </a:ln>
        </p:spPr>
        <p:txBody>
          <a:bodyPr/>
          <a:lstStyle/>
          <a:p>
            <a:endParaRPr lang="en-US"/>
          </a:p>
        </p:txBody>
      </p:sp>
      <p:sp>
        <p:nvSpPr>
          <p:cNvPr id="10" name="Text 7"/>
          <p:cNvSpPr/>
          <p:nvPr/>
        </p:nvSpPr>
        <p:spPr>
          <a:xfrm>
            <a:off x="8458200" y="4023360"/>
            <a:ext cx="3200400" cy="320040"/>
          </a:xfrm>
          <a:prstGeom prst="rect">
            <a:avLst/>
          </a:prstGeom>
          <a:noFill/>
          <a:ln/>
        </p:spPr>
        <p:txBody>
          <a:bodyPr wrap="square" lIns="0" tIns="0" rIns="0" bIns="0" rtlCol="0" anchor="ctr"/>
          <a:lstStyle/>
          <a:p>
            <a:pPr marL="0" indent="0">
              <a:buNone/>
            </a:pPr>
            <a:r>
              <a:rPr lang="en-US" sz="1100" b="1" kern="0" spc="400" dirty="0">
                <a:solidFill>
                  <a:srgbClr val="2A9D8F"/>
                </a:solidFill>
                <a:latin typeface="Calibri" pitchFamily="34" charset="0"/>
                <a:ea typeface="Calibri" pitchFamily="34" charset="-122"/>
                <a:cs typeface="Calibri" pitchFamily="34" charset="-120"/>
              </a:rPr>
              <a:t>Why LLM helps here</a:t>
            </a:r>
            <a:endParaRPr lang="en-US" sz="1100" dirty="0"/>
          </a:p>
        </p:txBody>
      </p:sp>
      <p:sp>
        <p:nvSpPr>
          <p:cNvPr id="11" name="Text 8"/>
          <p:cNvSpPr/>
          <p:nvPr/>
        </p:nvSpPr>
        <p:spPr>
          <a:xfrm>
            <a:off x="8458200" y="4297680"/>
            <a:ext cx="3200400" cy="45720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Descriptions differ</a:t>
            </a:r>
            <a:endParaRPr lang="en-US" sz="1700" dirty="0"/>
          </a:p>
        </p:txBody>
      </p:sp>
      <p:sp>
        <p:nvSpPr>
          <p:cNvPr id="12" name="Text 9"/>
          <p:cNvSpPr/>
          <p:nvPr/>
        </p:nvSpPr>
        <p:spPr>
          <a:xfrm>
            <a:off x="8458200" y="4754880"/>
            <a:ext cx="3200400" cy="118872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"Weekly lawn maintenance" vs "MASTEC crew hours" look the same in EXTC/MIC but read differently. The LLM+RAG retrieves the right labeled precedent.
</a:t>
            </a:r>
            <a:r>
              <a:rPr lang="en-US" sz="1100" i="1" dirty="0">
                <a:solidFill>
                  <a:srgbClr val="5A6472"/>
                </a:solidFill>
                <a:latin typeface="Calibri" pitchFamily="34" charset="0"/>
                <a:ea typeface="Calibri" pitchFamily="34" charset="-122"/>
                <a:cs typeface="Calibri" pitchFamily="34" charset="-120"/>
              </a:rPr>
              <a:t>This is exactly the +62 pp lift showing up at the pair level.</a:t>
            </a:r>
            <a:endParaRPr lang="en-US" sz="1100" dirty="0"/>
          </a:p>
        </p:txBody>
      </p:sp>
      <p:sp>
        <p:nvSpPr>
          <p:cNvPr id="13" name="Text 1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4" name="Text 11"/>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Rules vs ML on the Same Records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retire-rule question, answered with data</a:t>
            </a:r>
            <a:endParaRPr lang="en-US" sz="1400" dirty="0"/>
          </a:p>
        </p:txBody>
      </p:sp>
      <p:sp>
        <p:nvSpPr>
          <p:cNvPr id="4" name="Shape 2"/>
          <p:cNvSpPr/>
          <p:nvPr/>
        </p:nvSpPr>
        <p:spPr>
          <a:xfrm>
            <a:off x="457200" y="1554480"/>
            <a:ext cx="1124712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640080" y="1737360"/>
            <a:ext cx="108813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Rule accuracy  89.77%    ·    ML accuracy on same rows  89.81%    ·    Agreement rate  99.92%</a:t>
            </a:r>
            <a:endParaRPr lang="en-US" sz="2200" dirty="0"/>
          </a:p>
        </p:txBody>
      </p:sp>
      <p:sp>
        <p:nvSpPr>
          <p:cNvPr id="6" name="Text 4"/>
          <p:cNvSpPr/>
          <p:nvPr/>
        </p:nvSpPr>
        <p:spPr>
          <a:xfrm>
            <a:off x="640080" y="2331720"/>
            <a:ext cx="10881360" cy="457200"/>
          </a:xfrm>
          <a:prstGeom prst="rect">
            <a:avLst/>
          </a:prstGeom>
          <a:noFill/>
          <a:ln/>
        </p:spPr>
        <p:txBody>
          <a:bodyPr wrap="square" lIns="0" tIns="0" rIns="0" bIns="0"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On the ~180K rule-matched rows across 24 months, the ML model reproduces the rule engine's output almost perfectly.</a:t>
            </a:r>
            <a:endParaRPr lang="en-US" sz="1400" dirty="0"/>
          </a:p>
        </p:txBody>
      </p:sp>
      <p:sp>
        <p:nvSpPr>
          <p:cNvPr id="7" name="Shape 5"/>
          <p:cNvSpPr/>
          <p:nvPr/>
        </p:nvSpPr>
        <p:spPr>
          <a:xfrm>
            <a:off x="45720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8" name="Text 6"/>
          <p:cNvSpPr/>
          <p:nvPr/>
        </p:nvSpPr>
        <p:spPr>
          <a:xfrm>
            <a:off x="640080" y="3246120"/>
            <a:ext cx="525780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Rule × ML  outcome breakdown</a:t>
            </a:r>
            <a:endParaRPr lang="en-US" sz="1300" dirty="0"/>
          </a:p>
        </p:txBody>
      </p:sp>
      <p:sp>
        <p:nvSpPr>
          <p:cNvPr id="9" name="Text 7"/>
          <p:cNvSpPr/>
          <p:nvPr/>
        </p:nvSpPr>
        <p:spPr>
          <a:xfrm>
            <a:off x="731520" y="374904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correct</a:t>
            </a:r>
            <a:endParaRPr lang="en-US" sz="1300" dirty="0"/>
          </a:p>
        </p:txBody>
      </p:sp>
      <p:sp>
        <p:nvSpPr>
          <p:cNvPr id="10" name="Text 8"/>
          <p:cNvSpPr/>
          <p:nvPr/>
        </p:nvSpPr>
        <p:spPr>
          <a:xfrm>
            <a:off x="4709160" y="3749040"/>
            <a:ext cx="1097280" cy="411480"/>
          </a:xfrm>
          <a:prstGeom prst="rect">
            <a:avLst/>
          </a:prstGeom>
          <a:noFill/>
          <a:ln/>
        </p:spPr>
        <p:txBody>
          <a:bodyPr wrap="square" lIns="0" tIns="0" rIns="0" bIns="0" rtlCol="0" anchor="ctr"/>
          <a:lstStyle/>
          <a:p>
            <a:pPr marL="0" indent="0" algn="r">
              <a:buNone/>
            </a:pPr>
            <a:r>
              <a:rPr lang="en-US" sz="1800" b="1" dirty="0">
                <a:solidFill>
                  <a:srgbClr val="2A9D8F"/>
                </a:solidFill>
                <a:latin typeface="Cambria" pitchFamily="34" charset="0"/>
                <a:ea typeface="Cambria" pitchFamily="34" charset="-122"/>
                <a:cs typeface="Cambria" pitchFamily="34" charset="-120"/>
              </a:rPr>
              <a:t>~5</a:t>
            </a:r>
            <a:r>
              <a:rPr lang="en-US" b="1" dirty="0">
                <a:solidFill>
                  <a:srgbClr val="2A9D8F"/>
                </a:solidFill>
                <a:latin typeface="Cambria" pitchFamily="34" charset="0"/>
                <a:ea typeface="Cambria" pitchFamily="34" charset="-122"/>
                <a:cs typeface="Cambria" pitchFamily="34" charset="-120"/>
              </a:rPr>
              <a:t>9</a:t>
            </a:r>
            <a:r>
              <a:rPr lang="en-US" sz="1800" b="1" dirty="0">
                <a:solidFill>
                  <a:srgbClr val="2A9D8F"/>
                </a:solidFill>
                <a:latin typeface="Cambria" pitchFamily="34" charset="0"/>
                <a:ea typeface="Cambria" pitchFamily="34" charset="-122"/>
                <a:cs typeface="Cambria" pitchFamily="34" charset="-120"/>
              </a:rPr>
              <a:t>2K</a:t>
            </a:r>
            <a:endParaRPr lang="en-US" sz="1800" dirty="0"/>
          </a:p>
        </p:txBody>
      </p:sp>
      <p:sp>
        <p:nvSpPr>
          <p:cNvPr id="11" name="Text 9"/>
          <p:cNvSpPr/>
          <p:nvPr/>
        </p:nvSpPr>
        <p:spPr>
          <a:xfrm>
            <a:off x="731520" y="425196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wrong</a:t>
            </a:r>
            <a:endParaRPr lang="en-US" sz="1300" dirty="0"/>
          </a:p>
        </p:txBody>
      </p:sp>
      <p:sp>
        <p:nvSpPr>
          <p:cNvPr id="12" name="Text 10"/>
          <p:cNvSpPr/>
          <p:nvPr/>
        </p:nvSpPr>
        <p:spPr>
          <a:xfrm>
            <a:off x="4709160" y="4251960"/>
            <a:ext cx="1097280" cy="411480"/>
          </a:xfrm>
          <a:prstGeom prst="rect">
            <a:avLst/>
          </a:prstGeom>
          <a:noFill/>
          <a:ln/>
        </p:spPr>
        <p:txBody>
          <a:bodyPr wrap="square" lIns="0" tIns="0" rIns="0" bIns="0" rtlCol="0" anchor="ctr"/>
          <a:lstStyle/>
          <a:p>
            <a:pPr marL="0" indent="0" algn="r">
              <a:buNone/>
            </a:pPr>
            <a:r>
              <a:rPr lang="en-US" sz="1800" b="1" dirty="0">
                <a:solidFill>
                  <a:srgbClr val="C0433F"/>
                </a:solidFill>
                <a:latin typeface="Cambria" pitchFamily="34" charset="0"/>
                <a:ea typeface="Cambria" pitchFamily="34" charset="-122"/>
                <a:cs typeface="Cambria" pitchFamily="34" charset="-120"/>
              </a:rPr>
              <a:t>~1K</a:t>
            </a:r>
            <a:endParaRPr lang="en-US" sz="1800" dirty="0"/>
          </a:p>
        </p:txBody>
      </p:sp>
      <p:sp>
        <p:nvSpPr>
          <p:cNvPr id="13" name="Text 11"/>
          <p:cNvSpPr/>
          <p:nvPr/>
        </p:nvSpPr>
        <p:spPr>
          <a:xfrm>
            <a:off x="731520" y="475488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Rule correct, ML wrong</a:t>
            </a:r>
            <a:endParaRPr lang="en-US" sz="1300" dirty="0"/>
          </a:p>
        </p:txBody>
      </p:sp>
      <p:sp>
        <p:nvSpPr>
          <p:cNvPr id="14" name="Text 12"/>
          <p:cNvSpPr/>
          <p:nvPr/>
        </p:nvSpPr>
        <p:spPr>
          <a:xfrm>
            <a:off x="4709160" y="475488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~18</a:t>
            </a:r>
            <a:r>
              <a:rPr lang="en-US" b="1" dirty="0">
                <a:solidFill>
                  <a:srgbClr val="5A6472"/>
                </a:solidFill>
                <a:latin typeface="Cambria" pitchFamily="34" charset="0"/>
                <a:ea typeface="Cambria" pitchFamily="34" charset="-122"/>
                <a:cs typeface="Cambria" pitchFamily="34" charset="-120"/>
              </a:rPr>
              <a:t>K</a:t>
            </a:r>
            <a:endParaRPr lang="en-US" sz="1800" dirty="0"/>
          </a:p>
        </p:txBody>
      </p:sp>
      <p:sp>
        <p:nvSpPr>
          <p:cNvPr id="15" name="Text 13"/>
          <p:cNvSpPr/>
          <p:nvPr/>
        </p:nvSpPr>
        <p:spPr>
          <a:xfrm>
            <a:off x="731520" y="525780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ML correct, Rule wrong</a:t>
            </a:r>
            <a:endParaRPr lang="en-US" sz="1300" dirty="0"/>
          </a:p>
        </p:txBody>
      </p:sp>
      <p:sp>
        <p:nvSpPr>
          <p:cNvPr id="16" name="Text 14"/>
          <p:cNvSpPr/>
          <p:nvPr/>
        </p:nvSpPr>
        <p:spPr>
          <a:xfrm>
            <a:off x="4709160" y="525780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a:t>
            </a:r>
            <a:r>
              <a:rPr lang="en-US" b="1" dirty="0">
                <a:solidFill>
                  <a:srgbClr val="5A6472"/>
                </a:solidFill>
                <a:latin typeface="Cambria" pitchFamily="34" charset="0"/>
                <a:ea typeface="Cambria" pitchFamily="34" charset="-122"/>
                <a:cs typeface="Cambria" pitchFamily="34" charset="-120"/>
              </a:rPr>
              <a:t>2k</a:t>
            </a:r>
            <a:endParaRPr lang="en-US" sz="1800" dirty="0"/>
          </a:p>
        </p:txBody>
      </p:sp>
      <p:sp>
        <p:nvSpPr>
          <p:cNvPr id="17" name="Shape 15"/>
          <p:cNvSpPr/>
          <p:nvPr/>
        </p:nvSpPr>
        <p:spPr>
          <a:xfrm>
            <a:off x="626364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18" name="Text 16"/>
          <p:cNvSpPr/>
          <p:nvPr/>
        </p:nvSpPr>
        <p:spPr>
          <a:xfrm>
            <a:off x="6446520" y="3246120"/>
            <a:ext cx="530352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What this means</a:t>
            </a:r>
            <a:endParaRPr lang="en-US" sz="1300" dirty="0"/>
          </a:p>
        </p:txBody>
      </p:sp>
      <p:sp>
        <p:nvSpPr>
          <p:cNvPr id="19" name="Text 17"/>
          <p:cNvSpPr/>
          <p:nvPr/>
        </p:nvSpPr>
        <p:spPr>
          <a:xfrm>
            <a:off x="6446520" y="3566160"/>
            <a:ext cx="5303520" cy="2377440"/>
          </a:xfrm>
          <a:prstGeom prst="rect">
            <a:avLst/>
          </a:prstGeom>
          <a:noFill/>
          <a:ln/>
        </p:spPr>
        <p:txBody>
          <a:bodyPr wrap="square" lIns="0" tIns="0" rIns="0" bIns="0" rtlCol="0" anchor="t"/>
          <a:lstStyle/>
          <a:p>
            <a:pPr marL="0" indent="0">
              <a:spcAft>
                <a:spcPts val="400"/>
              </a:spcAft>
              <a:buNone/>
            </a:pPr>
            <a:r>
              <a:rPr lang="en-US" sz="1200" b="1" dirty="0">
                <a:solidFill>
                  <a:srgbClr val="1A1A2E"/>
                </a:solidFill>
                <a:latin typeface="Calibri" pitchFamily="34" charset="0"/>
                <a:ea typeface="Calibri" pitchFamily="34" charset="-122"/>
                <a:cs typeface="Calibri" pitchFamily="34" charset="-120"/>
              </a:rPr>
              <a:t>The ML model has learned everything the rules encode.
</a:t>
            </a:r>
            <a:r>
              <a:rPr lang="en-US" sz="1200" dirty="0">
                <a:solidFill>
                  <a:srgbClr val="1A1A2E"/>
                </a:solidFill>
                <a:latin typeface="Calibri" pitchFamily="34" charset="0"/>
                <a:ea typeface="Calibri" pitchFamily="34" charset="-122"/>
                <a:cs typeface="Calibri" pitchFamily="34" charset="-120"/>
              </a:rPr>
              <a:t>Rules stay because they're auditable, deterministic, and give analysts an explainable trace. But on any cluster where rules encode a clean pattern, the ML would produce the same answer.
Retire-rule candidate flag: </a:t>
            </a:r>
            <a:r>
              <a:rPr lang="en-US" sz="1200" b="1" dirty="0">
                <a:solidFill>
                  <a:srgbClr val="2A9D8F"/>
                </a:solidFill>
                <a:latin typeface="Calibri" pitchFamily="34" charset="0"/>
                <a:ea typeface="Calibri" pitchFamily="34" charset="-122"/>
                <a:cs typeface="Calibri" pitchFamily="34" charset="-120"/>
              </a:rPr>
              <a:t>YES  </a:t>
            </a:r>
            <a:r>
              <a:rPr lang="en-US" sz="1200" dirty="0">
                <a:solidFill>
                  <a:srgbClr val="1A1A2E"/>
                </a:solidFill>
                <a:latin typeface="Calibri" pitchFamily="34" charset="0"/>
                <a:ea typeface="Calibri" pitchFamily="34" charset="-122"/>
                <a:cs typeface="Calibri" pitchFamily="34" charset="-120"/>
              </a:rPr>
              <a:t>(ML ≥ rule accuracy).
</a:t>
            </a:r>
            <a:r>
              <a:rPr lang="en-US" sz="1100" i="1" dirty="0">
                <a:solidFill>
                  <a:srgbClr val="5A6472"/>
                </a:solidFill>
                <a:latin typeface="Calibri" pitchFamily="34" charset="0"/>
                <a:ea typeface="Calibri" pitchFamily="34" charset="-122"/>
                <a:cs typeface="Calibri" pitchFamily="34" charset="-120"/>
              </a:rPr>
              <a:t>In prod, the ~18K rows where both are wrong are the ones where LLM adds the value — that's exactly the +62 pp lift from the previous slide.</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22 /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Drives the Predictions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Text (TF-IDF) does most of the work — structured features are backup</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7680960" y="150876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680960" y="4572000"/>
            <a:ext cx="4114800" cy="1417320"/>
          </a:xfrm>
          <a:prstGeom prst="roundRect">
            <a:avLst>
              <a:gd name="adj" fmla="val 5161"/>
            </a:avLst>
          </a:prstGeom>
          <a:solidFill>
            <a:srgbClr val="FFFFFF"/>
          </a:solidFill>
          <a:ln w="6350">
            <a:solidFill>
              <a:srgbClr val="D6DDE8"/>
            </a:solidFill>
            <a:prstDash val="solid"/>
          </a:ln>
        </p:spPr>
        <p:txBody>
          <a:bodyPr/>
          <a:lstStyle/>
          <a:p>
            <a:endParaRPr lang="en-US"/>
          </a:p>
        </p:txBody>
      </p:sp>
      <p:sp>
        <p:nvSpPr>
          <p:cNvPr id="7" name="Text 3"/>
          <p:cNvSpPr/>
          <p:nvPr/>
        </p:nvSpPr>
        <p:spPr>
          <a:xfrm>
            <a:off x="7818120" y="4663440"/>
            <a:ext cx="384048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Why this matters</a:t>
            </a:r>
            <a:endParaRPr lang="en-US" sz="1100" dirty="0"/>
          </a:p>
        </p:txBody>
      </p:sp>
      <p:sp>
        <p:nvSpPr>
          <p:cNvPr id="8" name="Text 4"/>
          <p:cNvSpPr/>
          <p:nvPr/>
        </p:nvSpPr>
        <p:spPr>
          <a:xfrm>
            <a:off x="7818120" y="4937760"/>
            <a:ext cx="3840480" cy="100584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Descriptions are the signal.  A better text encoder (GTE-Large from your existing RAG stack) should lift accuracy more than more categorical features would.</a:t>
            </a:r>
            <a:endParaRPr lang="en-US" sz="1000" dirty="0"/>
          </a:p>
        </p:txBody>
      </p:sp>
      <p:sp>
        <p:nvSpPr>
          <p:cNvPr id="9"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0" name="Text 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LLM Prompt Anatomy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What goes to the LLM per invoice, and how big each piece is</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500" b="1" dirty="0">
                <a:solidFill>
                  <a:srgbClr val="1A1A2E"/>
                </a:solidFill>
                <a:latin typeface="Cambria" pitchFamily="34" charset="0"/>
                <a:ea typeface="Cambria" pitchFamily="34" charset="-122"/>
                <a:cs typeface="Cambria" pitchFamily="34" charset="-120"/>
              </a:rPr>
              <a:t>Per-invoice token budget</a:t>
            </a:r>
            <a:endParaRPr lang="en-US" sz="1500" dirty="0"/>
          </a:p>
        </p:txBody>
      </p:sp>
      <p:sp>
        <p:nvSpPr>
          <p:cNvPr id="6" name="Text 4"/>
          <p:cNvSpPr/>
          <p:nvPr/>
        </p:nvSpPr>
        <p:spPr>
          <a:xfrm>
            <a:off x="731520" y="219456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System prompt</a:t>
            </a:r>
            <a:endParaRPr lang="en-US" sz="1200" dirty="0"/>
          </a:p>
        </p:txBody>
      </p:sp>
      <p:sp>
        <p:nvSpPr>
          <p:cNvPr id="7" name="Text 5"/>
          <p:cNvSpPr/>
          <p:nvPr/>
        </p:nvSpPr>
        <p:spPr>
          <a:xfrm>
            <a:off x="731520" y="246888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task spec + JSON output schema</a:t>
            </a:r>
            <a:endParaRPr lang="en-US" sz="900" dirty="0"/>
          </a:p>
        </p:txBody>
      </p:sp>
      <p:sp>
        <p:nvSpPr>
          <p:cNvPr id="8" name="Shape 6"/>
          <p:cNvSpPr/>
          <p:nvPr/>
        </p:nvSpPr>
        <p:spPr>
          <a:xfrm>
            <a:off x="2377440" y="2304288"/>
            <a:ext cx="1440180" cy="365760"/>
          </a:xfrm>
          <a:prstGeom prst="roundRect">
            <a:avLst>
              <a:gd name="adj" fmla="val 12500"/>
            </a:avLst>
          </a:prstGeom>
          <a:solidFill>
            <a:srgbClr val="3D5A80"/>
          </a:solidFill>
          <a:ln w="12700">
            <a:solidFill>
              <a:srgbClr val="3D5A80"/>
            </a:solidFill>
            <a:prstDash val="solid"/>
          </a:ln>
        </p:spPr>
        <p:txBody>
          <a:bodyPr/>
          <a:lstStyle/>
          <a:p>
            <a:endParaRPr lang="en-US"/>
          </a:p>
        </p:txBody>
      </p:sp>
      <p:sp>
        <p:nvSpPr>
          <p:cNvPr id="9" name="Text 7"/>
          <p:cNvSpPr/>
          <p:nvPr/>
        </p:nvSpPr>
        <p:spPr>
          <a:xfrm>
            <a:off x="5029200" y="230428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210 tokens</a:t>
            </a:r>
            <a:endParaRPr lang="en-US" sz="1100" dirty="0"/>
          </a:p>
        </p:txBody>
      </p:sp>
      <p:sp>
        <p:nvSpPr>
          <p:cNvPr id="10" name="Text 8"/>
          <p:cNvSpPr/>
          <p:nvPr/>
        </p:nvSpPr>
        <p:spPr>
          <a:xfrm>
            <a:off x="731520" y="297180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RAG context</a:t>
            </a:r>
            <a:endParaRPr lang="en-US" sz="1200" dirty="0"/>
          </a:p>
        </p:txBody>
      </p:sp>
      <p:sp>
        <p:nvSpPr>
          <p:cNvPr id="11" name="Text 9"/>
          <p:cNvSpPr/>
          <p:nvPr/>
        </p:nvSpPr>
        <p:spPr>
          <a:xfrm>
            <a:off x="731520" y="324612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5 retrieved labeled invoices</a:t>
            </a:r>
            <a:endParaRPr lang="en-US" sz="900" dirty="0"/>
          </a:p>
        </p:txBody>
      </p:sp>
      <p:sp>
        <p:nvSpPr>
          <p:cNvPr id="12" name="Shape 10"/>
          <p:cNvSpPr/>
          <p:nvPr/>
        </p:nvSpPr>
        <p:spPr>
          <a:xfrm>
            <a:off x="2377440" y="3081528"/>
            <a:ext cx="3086100" cy="365760"/>
          </a:xfrm>
          <a:prstGeom prst="roundRect">
            <a:avLst>
              <a:gd name="adj" fmla="val 12500"/>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5029200" y="308152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450 tokens</a:t>
            </a:r>
            <a:endParaRPr lang="en-US" sz="1100" dirty="0"/>
          </a:p>
        </p:txBody>
      </p:sp>
      <p:sp>
        <p:nvSpPr>
          <p:cNvPr id="14" name="Text 12"/>
          <p:cNvSpPr/>
          <p:nvPr/>
        </p:nvSpPr>
        <p:spPr>
          <a:xfrm>
            <a:off x="731520" y="374904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Query invoice</a:t>
            </a:r>
            <a:endParaRPr lang="en-US" sz="1200" dirty="0"/>
          </a:p>
        </p:txBody>
      </p:sp>
      <p:sp>
        <p:nvSpPr>
          <p:cNvPr id="15" name="Text 13"/>
          <p:cNvSpPr/>
          <p:nvPr/>
        </p:nvSpPr>
        <p:spPr>
          <a:xfrm>
            <a:off x="731520" y="402336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description + vendor + EXTC + MIC</a:t>
            </a:r>
            <a:endParaRPr lang="en-US" sz="900" dirty="0"/>
          </a:p>
        </p:txBody>
      </p:sp>
      <p:sp>
        <p:nvSpPr>
          <p:cNvPr id="16" name="Shape 14"/>
          <p:cNvSpPr/>
          <p:nvPr/>
        </p:nvSpPr>
        <p:spPr>
          <a:xfrm>
            <a:off x="2377440" y="3858768"/>
            <a:ext cx="617220" cy="365760"/>
          </a:xfrm>
          <a:prstGeom prst="roundRect">
            <a:avLst>
              <a:gd name="adj" fmla="val 12500"/>
            </a:avLst>
          </a:prstGeom>
          <a:solidFill>
            <a:srgbClr val="6C89B8"/>
          </a:solidFill>
          <a:ln w="12700">
            <a:solidFill>
              <a:srgbClr val="6C89B8"/>
            </a:solidFill>
            <a:prstDash val="solid"/>
          </a:ln>
        </p:spPr>
        <p:txBody>
          <a:bodyPr/>
          <a:lstStyle/>
          <a:p>
            <a:endParaRPr lang="en-US"/>
          </a:p>
        </p:txBody>
      </p:sp>
      <p:sp>
        <p:nvSpPr>
          <p:cNvPr id="17" name="Text 15"/>
          <p:cNvSpPr/>
          <p:nvPr/>
        </p:nvSpPr>
        <p:spPr>
          <a:xfrm>
            <a:off x="5029200" y="385876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90 tokens</a:t>
            </a:r>
            <a:endParaRPr lang="en-US" sz="1100" dirty="0"/>
          </a:p>
        </p:txBody>
      </p:sp>
      <p:sp>
        <p:nvSpPr>
          <p:cNvPr id="18" name="Text 16"/>
          <p:cNvSpPr/>
          <p:nvPr/>
        </p:nvSpPr>
        <p:spPr>
          <a:xfrm>
            <a:off x="731520" y="452628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Output (JSON)</a:t>
            </a:r>
            <a:endParaRPr lang="en-US" sz="1200" dirty="0"/>
          </a:p>
        </p:txBody>
      </p:sp>
      <p:sp>
        <p:nvSpPr>
          <p:cNvPr id="19" name="Text 17"/>
          <p:cNvSpPr/>
          <p:nvPr/>
        </p:nvSpPr>
        <p:spPr>
          <a:xfrm>
            <a:off x="731520" y="480060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category + confidence + reasoning</a:t>
            </a:r>
            <a:endParaRPr lang="en-US" sz="900" dirty="0"/>
          </a:p>
        </p:txBody>
      </p:sp>
      <p:sp>
        <p:nvSpPr>
          <p:cNvPr id="20" name="Shape 18"/>
          <p:cNvSpPr/>
          <p:nvPr/>
        </p:nvSpPr>
        <p:spPr>
          <a:xfrm>
            <a:off x="2377440" y="4636008"/>
            <a:ext cx="480060" cy="365760"/>
          </a:xfrm>
          <a:prstGeom prst="roundRect">
            <a:avLst>
              <a:gd name="adj" fmla="val 12500"/>
            </a:avLst>
          </a:prstGeom>
          <a:solidFill>
            <a:srgbClr val="E9A63A"/>
          </a:solidFill>
          <a:ln w="12700">
            <a:solidFill>
              <a:srgbClr val="E9A63A"/>
            </a:solidFill>
            <a:prstDash val="solid"/>
          </a:ln>
        </p:spPr>
        <p:txBody>
          <a:bodyPr/>
          <a:lstStyle/>
          <a:p>
            <a:endParaRPr lang="en-US"/>
          </a:p>
        </p:txBody>
      </p:sp>
      <p:sp>
        <p:nvSpPr>
          <p:cNvPr id="21" name="Text 19"/>
          <p:cNvSpPr/>
          <p:nvPr/>
        </p:nvSpPr>
        <p:spPr>
          <a:xfrm>
            <a:off x="5029200" y="463600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70 tokens</a:t>
            </a:r>
            <a:endParaRPr lang="en-US" sz="1100" dirty="0"/>
          </a:p>
        </p:txBody>
      </p:sp>
      <p:sp>
        <p:nvSpPr>
          <p:cNvPr id="22" name="Shape 20"/>
          <p:cNvSpPr/>
          <p:nvPr/>
        </p:nvSpPr>
        <p:spPr>
          <a:xfrm>
            <a:off x="731520" y="5394960"/>
            <a:ext cx="5074920" cy="0"/>
          </a:xfrm>
          <a:prstGeom prst="line">
            <a:avLst/>
          </a:prstGeom>
          <a:noFill/>
          <a:ln w="12700">
            <a:solidFill>
              <a:srgbClr val="D6DDE8"/>
            </a:solidFill>
            <a:prstDash val="solid"/>
          </a:ln>
        </p:spPr>
        <p:txBody>
          <a:bodyPr/>
          <a:lstStyle/>
          <a:p>
            <a:endParaRPr lang="en-US"/>
          </a:p>
        </p:txBody>
      </p:sp>
      <p:sp>
        <p:nvSpPr>
          <p:cNvPr id="23" name="Text 21"/>
          <p:cNvSpPr/>
          <p:nvPr/>
        </p:nvSpPr>
        <p:spPr>
          <a:xfrm>
            <a:off x="731520" y="5532120"/>
            <a:ext cx="2743200" cy="36576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Total per call</a:t>
            </a:r>
            <a:endParaRPr lang="en-US" sz="1300" dirty="0"/>
          </a:p>
        </p:txBody>
      </p:sp>
      <p:sp>
        <p:nvSpPr>
          <p:cNvPr id="24" name="Text 22"/>
          <p:cNvSpPr/>
          <p:nvPr/>
        </p:nvSpPr>
        <p:spPr>
          <a:xfrm>
            <a:off x="3200400" y="5532120"/>
            <a:ext cx="2606040" cy="365760"/>
          </a:xfrm>
          <a:prstGeom prst="rect">
            <a:avLst/>
          </a:prstGeom>
          <a:noFill/>
          <a:ln/>
        </p:spPr>
        <p:txBody>
          <a:bodyPr wrap="square" lIns="0" tIns="0" rIns="0" bIns="0" rtlCol="0" anchor="ctr"/>
          <a:lstStyle/>
          <a:p>
            <a:pPr marL="0" indent="0" algn="r">
              <a:buNone/>
            </a:pPr>
            <a:r>
              <a:rPr lang="en-US" sz="1500" b="1" dirty="0">
                <a:solidFill>
                  <a:srgbClr val="1E2761"/>
                </a:solidFill>
                <a:latin typeface="Cambria" pitchFamily="34" charset="0"/>
                <a:ea typeface="Cambria" pitchFamily="34" charset="-122"/>
                <a:cs typeface="Cambria" pitchFamily="34" charset="-120"/>
              </a:rPr>
              <a:t>~820 tokens</a:t>
            </a:r>
            <a:endParaRPr lang="en-US" sz="1500" dirty="0"/>
          </a:p>
        </p:txBody>
      </p:sp>
      <p:sp>
        <p:nvSpPr>
          <p:cNvPr id="25" name="Shape 23"/>
          <p:cNvSpPr/>
          <p:nvPr/>
        </p:nvSpPr>
        <p:spPr>
          <a:xfrm>
            <a:off x="6263640" y="1463040"/>
            <a:ext cx="5623560" cy="4480560"/>
          </a:xfrm>
          <a:prstGeom prst="roundRect">
            <a:avLst>
              <a:gd name="adj" fmla="val 1633"/>
            </a:avLst>
          </a:prstGeom>
          <a:solidFill>
            <a:srgbClr val="12163B"/>
          </a:solidFill>
          <a:ln w="12700">
            <a:solidFill>
              <a:srgbClr val="12163B"/>
            </a:solidFill>
            <a:prstDash val="solid"/>
          </a:ln>
        </p:spPr>
        <p:txBody>
          <a:bodyPr/>
          <a:lstStyle/>
          <a:p>
            <a:endParaRPr lang="en-US"/>
          </a:p>
        </p:txBody>
      </p:sp>
      <p:sp>
        <p:nvSpPr>
          <p:cNvPr id="26" name="Text 24"/>
          <p:cNvSpPr/>
          <p:nvPr/>
        </p:nvSpPr>
        <p:spPr>
          <a:xfrm>
            <a:off x="6446520" y="1645920"/>
            <a:ext cx="5303520" cy="365760"/>
          </a:xfrm>
          <a:prstGeom prst="rect">
            <a:avLst/>
          </a:prstGeom>
          <a:noFill/>
          <a:ln/>
        </p:spPr>
        <p:txBody>
          <a:bodyPr wrap="square" lIns="0" tIns="0" rIns="0" bIns="0"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Prompt template  (Claude Haiku 4.5)</a:t>
            </a:r>
            <a:endParaRPr lang="en-US" sz="1300" dirty="0"/>
          </a:p>
        </p:txBody>
      </p:sp>
      <p:sp>
        <p:nvSpPr>
          <p:cNvPr id="27" name="Text 25"/>
          <p:cNvSpPr/>
          <p:nvPr/>
        </p:nvSpPr>
        <p:spPr>
          <a:xfrm>
            <a:off x="6446520" y="2057400"/>
            <a:ext cx="5257800" cy="3840480"/>
          </a:xfrm>
          <a:prstGeom prst="rect">
            <a:avLst/>
          </a:prstGeom>
          <a:noFill/>
          <a:ln/>
        </p:spPr>
        <p:txBody>
          <a:bodyPr wrap="square" lIns="0" tIns="0" rIns="0" bIns="0" rtlCol="0" anchor="t"/>
          <a:lstStyle/>
          <a:p>
            <a:pPr marL="0" indent="0">
              <a:buNone/>
            </a:pPr>
            <a:r>
              <a:rPr lang="en-US" sz="900" b="1" kern="0" spc="300" dirty="0">
                <a:solidFill>
                  <a:srgbClr val="E9A63A"/>
                </a:solidFill>
                <a:latin typeface="Courier New" pitchFamily="34" charset="0"/>
                <a:ea typeface="Courier New" pitchFamily="34" charset="-122"/>
                <a:cs typeface="Courier New" pitchFamily="34" charset="-120"/>
              </a:rPr>
              <a:t>SYSTEM
</a:t>
            </a:r>
            <a:r>
              <a:rPr lang="en-US" sz="900" dirty="0">
                <a:solidFill>
                  <a:srgbClr val="CADCFC"/>
                </a:solidFill>
                <a:latin typeface="Courier New" pitchFamily="34" charset="0"/>
                <a:ea typeface="Courier New" pitchFamily="34" charset="-122"/>
                <a:cs typeface="Courier New" pitchFamily="34" charset="-120"/>
              </a:rPr>
              <a:t>You classify AT&amp;T AP invoices into one of
17 tax categories. Use retrieved similar
invoices as reference. Respond as JSON:
{category, confidence, reasoning}.
</a:t>
            </a:r>
            <a:r>
              <a:rPr lang="en-US" sz="900" b="1" kern="0" spc="300" dirty="0">
                <a:solidFill>
                  <a:srgbClr val="E9A63A"/>
                </a:solidFill>
                <a:latin typeface="Courier New" pitchFamily="34" charset="0"/>
                <a:ea typeface="Courier New" pitchFamily="34" charset="-122"/>
                <a:cs typeface="Courier New" pitchFamily="34" charset="-120"/>
              </a:rPr>
              <a:t>RETRIEVED EXAMPLES  (top-5 by GTE-Large)
</a:t>
            </a:r>
            <a:r>
              <a:rPr lang="en-US" sz="900" dirty="0">
                <a:solidFill>
                  <a:srgbClr val="CADCFC"/>
                </a:solidFill>
                <a:latin typeface="Courier New" pitchFamily="34" charset="0"/>
                <a:ea typeface="Courier New" pitchFamily="34" charset="-122"/>
                <a:cs typeface="Courier New" pitchFamily="34" charset="-120"/>
              </a:rPr>
              <a:t>1. desc="CISCO capital lease Q3"
   vendor=CISCO SYSTEMS CAPITAL
   extc=69C mic=CEQ → Capital Lease
2. desc="office rental Q3"
   vendor=CBRE INC
   extc=69A mic=COEOTHER → Operating Lease
...
</a:t>
            </a:r>
            <a:r>
              <a:rPr lang="en-US" sz="900" b="1" kern="0" spc="300" dirty="0">
                <a:solidFill>
                  <a:srgbClr val="E9A63A"/>
                </a:solidFill>
                <a:latin typeface="Courier New" pitchFamily="34" charset="0"/>
                <a:ea typeface="Courier New" pitchFamily="34" charset="-122"/>
                <a:cs typeface="Courier New" pitchFamily="34" charset="-120"/>
              </a:rPr>
              <a:t>QUERY INVOICE
</a:t>
            </a:r>
            <a:r>
              <a:rPr lang="en-US" sz="900" dirty="0">
                <a:solidFill>
                  <a:srgbClr val="CADCFC"/>
                </a:solidFill>
                <a:latin typeface="Courier New" pitchFamily="34" charset="0"/>
                <a:ea typeface="Courier New" pitchFamily="34" charset="-122"/>
                <a:cs typeface="Courier New" pitchFamily="34" charset="-120"/>
              </a:rPr>
              <a:t>desc="transceiver shipment Q4"</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vendor=CISCO SYSTEMS INC</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extc=45A mic=NEQ003 amount=12,450 USD</a:t>
            </a:r>
            <a:endParaRPr lang="en-US" sz="900" dirty="0"/>
          </a:p>
          <a:p>
            <a:pPr marL="0" indent="0">
              <a:buNone/>
            </a:pP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Classify.</a:t>
            </a:r>
            <a:endParaRPr lang="en-US" sz="900" dirty="0"/>
          </a:p>
        </p:txBody>
      </p:sp>
      <p:sp>
        <p:nvSpPr>
          <p:cNvPr id="28" name="Text 2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Real numbers depend on retrieval size and prompt design. These are typical for a 5-example RAG configuration with a compact system prompt.</a:t>
            </a:r>
            <a:endParaRPr lang="en-US" sz="1100" dirty="0"/>
          </a:p>
        </p:txBody>
      </p:sp>
      <p:sp>
        <p:nvSpPr>
          <p:cNvPr id="29" name="Text 2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0" name="Text 2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Production Readiness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Fast enough for daily runs, well-suited to scheduling</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6304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6" name="Text 3"/>
          <p:cNvSpPr/>
          <p:nvPr/>
        </p:nvSpPr>
        <p:spPr>
          <a:xfrm>
            <a:off x="7818120" y="1783080"/>
            <a:ext cx="3840480" cy="595274"/>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~10 min</a:t>
            </a:r>
            <a:endParaRPr lang="en-US" sz="4800" dirty="0"/>
          </a:p>
        </p:txBody>
      </p:sp>
      <p:sp>
        <p:nvSpPr>
          <p:cNvPr id="7" name="Text 4"/>
          <p:cNvSpPr/>
          <p:nvPr/>
        </p:nvSpPr>
        <p:spPr>
          <a:xfrm>
            <a:off x="7818120" y="224256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Full-window rescore</a:t>
            </a:r>
            <a:endParaRPr lang="en-US" sz="1300" dirty="0"/>
          </a:p>
        </p:txBody>
      </p:sp>
      <p:sp>
        <p:nvSpPr>
          <p:cNvPr id="8" name="Text 5"/>
          <p:cNvSpPr/>
          <p:nvPr/>
        </p:nvSpPr>
        <p:spPr>
          <a:xfrm>
            <a:off x="7818120" y="252603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240K invoices end-to-end</a:t>
            </a:r>
            <a:endParaRPr lang="en-US" sz="1000" dirty="0"/>
          </a:p>
        </p:txBody>
      </p:sp>
      <p:sp>
        <p:nvSpPr>
          <p:cNvPr id="9" name="Shape 6"/>
          <p:cNvSpPr/>
          <p:nvPr/>
        </p:nvSpPr>
        <p:spPr>
          <a:xfrm>
            <a:off x="7680960" y="301752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0" name="Text 7"/>
          <p:cNvSpPr/>
          <p:nvPr/>
        </p:nvSpPr>
        <p:spPr>
          <a:xfrm>
            <a:off x="7818120" y="3337560"/>
            <a:ext cx="3840480" cy="595274"/>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~400/sec</a:t>
            </a:r>
            <a:endParaRPr lang="en-US" sz="4800" dirty="0"/>
          </a:p>
        </p:txBody>
      </p:sp>
      <p:sp>
        <p:nvSpPr>
          <p:cNvPr id="11" name="Text 8"/>
          <p:cNvSpPr/>
          <p:nvPr/>
        </p:nvSpPr>
        <p:spPr>
          <a:xfrm>
            <a:off x="7818120" y="379704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Throughput</a:t>
            </a:r>
            <a:endParaRPr lang="en-US" sz="1300" dirty="0"/>
          </a:p>
        </p:txBody>
      </p:sp>
      <p:sp>
        <p:nvSpPr>
          <p:cNvPr id="12" name="Text 9"/>
          <p:cNvSpPr/>
          <p:nvPr/>
        </p:nvSpPr>
        <p:spPr>
          <a:xfrm>
            <a:off x="7818120" y="408051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records processed per second</a:t>
            </a:r>
            <a:endParaRPr lang="en-US" sz="1000" dirty="0"/>
          </a:p>
        </p:txBody>
      </p:sp>
      <p:sp>
        <p:nvSpPr>
          <p:cNvPr id="13" name="Shape 10"/>
          <p:cNvSpPr/>
          <p:nvPr/>
        </p:nvSpPr>
        <p:spPr>
          <a:xfrm>
            <a:off x="7680960" y="457200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4" name="Text 11"/>
          <p:cNvSpPr/>
          <p:nvPr/>
        </p:nvSpPr>
        <p:spPr>
          <a:xfrm>
            <a:off x="7818120" y="4892040"/>
            <a:ext cx="3840480" cy="595274"/>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&lt; 45 min</a:t>
            </a:r>
            <a:endParaRPr lang="en-US" sz="4800" dirty="0"/>
          </a:p>
        </p:txBody>
      </p:sp>
      <p:sp>
        <p:nvSpPr>
          <p:cNvPr id="15" name="Text 12"/>
          <p:cNvSpPr/>
          <p:nvPr/>
        </p:nvSpPr>
        <p:spPr>
          <a:xfrm>
            <a:off x="7818120" y="535152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For 1M</a:t>
            </a:r>
            <a:endParaRPr lang="en-US" sz="1300" dirty="0"/>
          </a:p>
        </p:txBody>
      </p:sp>
      <p:sp>
        <p:nvSpPr>
          <p:cNvPr id="16" name="Text 13"/>
          <p:cNvSpPr/>
          <p:nvPr/>
        </p:nvSpPr>
        <p:spPr>
          <a:xfrm>
            <a:off x="7818120" y="563499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extrapolated on same hardware</a:t>
            </a:r>
            <a:endParaRPr lang="en-US" sz="1000" dirty="0"/>
          </a:p>
        </p:txBody>
      </p:sp>
      <p:sp>
        <p:nvSpPr>
          <p:cNvPr id="17" name="Text 14"/>
          <p:cNvSpPr/>
          <p:nvPr/>
        </p:nvSpPr>
        <p:spPr>
          <a:xfrm>
            <a:off x="457200" y="6035040"/>
            <a:ext cx="11247120" cy="32004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Training dominates runtime and only reruns monthly. Daily inference is bottlenecked by LLM latency, not compute — batch the API calls asynchronously to stay under SLA.</a:t>
            </a:r>
            <a:endParaRPr lang="en-US" sz="1100" dirty="0"/>
          </a:p>
        </p:txBody>
      </p:sp>
      <p:sp>
        <p:nvSpPr>
          <p:cNvPr id="18"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9" name="Text 1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25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2892</Words>
  <Application>Microsoft Office PowerPoint</Application>
  <PresentationFormat>Widescreen</PresentationFormat>
  <Paragraphs>245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AT and 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ATIMS AP Tax Pipeline Evaluation</dc:title>
  <dc:subject>PptxGenJS Presentation</dc:subject>
  <dc:creator>Shashank Vadyala</dc:creator>
  <cp:lastModifiedBy>REDDY VADYALA, SHASHANK</cp:lastModifiedBy>
  <cp:revision>2</cp:revision>
  <dcterms:created xsi:type="dcterms:W3CDTF">2026-07-27T17:20:33Z</dcterms:created>
  <dcterms:modified xsi:type="dcterms:W3CDTF">2026-07-27T17:33:05Z</dcterms:modified>
</cp:coreProperties>
</file>