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8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3D5A80">
                <a:alpha val="90000"/>
              </a:srgbClr>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XGBoost only</c:v>
                </c:pt>
                <c:pt idx="1">
                  <c:v>LightGBM only</c:v>
                </c:pt>
                <c:pt idx="2">
                  <c:v>ML Ensemble</c:v>
                </c:pt>
                <c:pt idx="3">
                  <c:v>LLM only (sim)</c:v>
                </c:pt>
                <c:pt idx="4">
                  <c:v>Rules only</c:v>
                </c:pt>
                <c:pt idx="5">
                  <c:v>Rules + ML (prod)</c:v>
                </c:pt>
                <c:pt idx="6">
                  <c:v>Rules + LLM</c:v>
                </c:pt>
                <c:pt idx="7">
                  <c:v>Rules + LLM + ML</c:v>
                </c:pt>
              </c:strCache>
            </c:strRef>
          </c:cat>
          <c:val>
            <c:numRef>
              <c:f>Sheet1!$B$2:$B$9</c:f>
              <c:numCache>
                <c:formatCode>General</c:formatCode>
                <c:ptCount val="8"/>
                <c:pt idx="0">
                  <c:v>79.2</c:v>
                </c:pt>
                <c:pt idx="1">
                  <c:v>73.7</c:v>
                </c:pt>
                <c:pt idx="2">
                  <c:v>75.3</c:v>
                </c:pt>
                <c:pt idx="3">
                  <c:v>94.2</c:v>
                </c:pt>
                <c:pt idx="4">
                  <c:v>89.8</c:v>
                </c:pt>
                <c:pt idx="5">
                  <c:v>88.5</c:v>
                </c:pt>
                <c:pt idx="6">
                  <c:v>90.8</c:v>
                </c:pt>
                <c:pt idx="7">
                  <c:v>91.8</c:v>
                </c:pt>
              </c:numCache>
            </c:numRef>
          </c:val>
          <c:extLst>
            <c:ext xmlns:c16="http://schemas.microsoft.com/office/drawing/2014/chart" uri="{C3380CC4-5D6E-409C-BE32-E72D297353CC}">
              <c16:uniqueId val="{00000000-3C5D-4944-9133-B1E108AD355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0"/>
          <c:min val="7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1A2E"/>
                </a:solidFill>
                <a:latin typeface="Arial"/>
              </a:defRPr>
            </a:pPr>
            <a:r>
              <a:rPr lang="en-US" sz="1400" b="0" i="0" u="none" strike="noStrike">
                <a:solidFill>
                  <a:srgbClr val="1A1A2E"/>
                </a:solidFill>
                <a:latin typeface="Arial"/>
              </a:rPr>
              <a:t>Accuracy: LLM vs ML</a:t>
            </a:r>
          </a:p>
        </c:rich>
      </c:tx>
      <c:overlay val="0"/>
    </c:title>
    <c:autoTitleDeleted val="0"/>
    <c:plotArea>
      <c:layout/>
      <c:barChart>
        <c:barDir val="col"/>
        <c:grouping val="clustered"/>
        <c:varyColors val="0"/>
        <c:ser>
          <c:idx val="0"/>
          <c:order val="0"/>
          <c:tx>
            <c:strRef>
              <c:f>Sheet1!$B$1</c:f>
              <c:strCache>
                <c:ptCount val="1"/>
                <c:pt idx="0">
                  <c:v>LLM</c:v>
                </c:pt>
              </c:strCache>
            </c:strRef>
          </c:tx>
          <c:spPr>
            <a:solidFill>
              <a:srgbClr val="6C89B8"/>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rows</c:v>
                </c:pt>
                <c:pt idx="1">
                  <c:v>No-rule rows only</c:v>
                </c:pt>
              </c:strCache>
            </c:strRef>
          </c:cat>
          <c:val>
            <c:numRef>
              <c:f>Sheet1!$B$2:$B$3</c:f>
              <c:numCache>
                <c:formatCode>General</c:formatCode>
                <c:ptCount val="2"/>
                <c:pt idx="0">
                  <c:v>94.2</c:v>
                </c:pt>
                <c:pt idx="1">
                  <c:v>93.8</c:v>
                </c:pt>
              </c:numCache>
            </c:numRef>
          </c:val>
          <c:extLst>
            <c:ext xmlns:c16="http://schemas.microsoft.com/office/drawing/2014/chart" uri="{C3380CC4-5D6E-409C-BE32-E72D297353CC}">
              <c16:uniqueId val="{00000000-591B-40D2-821C-F6DEF424102A}"/>
            </c:ext>
          </c:extLst>
        </c:ser>
        <c:ser>
          <c:idx val="1"/>
          <c:order val="1"/>
          <c:tx>
            <c:strRef>
              <c:f>Sheet1!$C$1</c:f>
              <c:strCache>
                <c:ptCount val="1"/>
                <c:pt idx="0">
                  <c:v>ML Ensemble</c:v>
                </c:pt>
              </c:strCache>
            </c:strRef>
          </c:tx>
          <c:spPr>
            <a:solidFill>
              <a:srgbClr val="3D5A80"/>
            </a:solidFill>
            <a:effectLst/>
          </c:spPr>
          <c:invertIfNegative val="0"/>
          <c:dLbls>
            <c:numFmt formatCode="0.0&quot;%&quot;" sourceLinked="0"/>
            <c:spPr>
              <a:noFill/>
              <a:ln>
                <a:noFill/>
              </a:ln>
              <a:effectLst/>
            </c:spPr>
            <c:txPr>
              <a:bodyPr/>
              <a:lstStyle/>
              <a:p>
                <a:pPr>
                  <a:defRPr sz="11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All rows</c:v>
                </c:pt>
                <c:pt idx="1">
                  <c:v>No-rule rows only</c:v>
                </c:pt>
              </c:strCache>
            </c:strRef>
          </c:cat>
          <c:val>
            <c:numRef>
              <c:f>Sheet1!$C$2:$C$3</c:f>
              <c:numCache>
                <c:formatCode>General</c:formatCode>
                <c:ptCount val="2"/>
                <c:pt idx="0">
                  <c:v>75.3</c:v>
                </c:pt>
                <c:pt idx="1">
                  <c:v>31.7</c:v>
                </c:pt>
              </c:numCache>
            </c:numRef>
          </c:val>
          <c:extLst>
            <c:ext xmlns:c16="http://schemas.microsoft.com/office/drawing/2014/chart" uri="{C3380CC4-5D6E-409C-BE32-E72D297353CC}">
              <c16:uniqueId val="{00000001-591B-40D2-821C-F6DEF42410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D6DDE8"/>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Accuracy</c:v>
                </c:pt>
              </c:strCache>
            </c:strRef>
          </c:tx>
          <c:spPr>
            <a:solidFill>
              <a:srgbClr val="3D5A80"/>
            </a:solidFill>
            <a:effectLst/>
          </c:spPr>
          <c:invertIfNegative val="0"/>
          <c:dLbls>
            <c:numFmt formatCode="0.0&quot;%&quot;"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Landscape Services</c:v>
                </c:pt>
                <c:pt idx="1">
                  <c:v>Storage Services</c:v>
                </c:pt>
                <c:pt idx="2">
                  <c:v>Food/Beverage</c:v>
                </c:pt>
                <c:pt idx="3">
                  <c:v>Vendor Engineering</c:v>
                </c:pt>
                <c:pt idx="4">
                  <c:v>Safety Equipment</c:v>
                </c:pt>
                <c:pt idx="5">
                  <c:v>Security Service</c:v>
                </c:pt>
                <c:pt idx="6">
                  <c:v>Data Processing</c:v>
                </c:pt>
                <c:pt idx="7">
                  <c:v>ERTU</c:v>
                </c:pt>
                <c:pt idx="8">
                  <c:v>Capital Lease</c:v>
                </c:pt>
                <c:pt idx="9">
                  <c:v>Freight - Common Carrier</c:v>
                </c:pt>
                <c:pt idx="10">
                  <c:v>Network Equipment</c:v>
                </c:pt>
                <c:pt idx="11">
                  <c:v>Operating Lease</c:v>
                </c:pt>
                <c:pt idx="12">
                  <c:v>Research and Development</c:v>
                </c:pt>
                <c:pt idx="13">
                  <c:v>Permits</c:v>
                </c:pt>
                <c:pt idx="14">
                  <c:v>Contract plant labor</c:v>
                </c:pt>
              </c:strCache>
            </c:strRef>
          </c:cat>
          <c:val>
            <c:numRef>
              <c:f>Sheet1!$B$2:$B$16</c:f>
              <c:numCache>
                <c:formatCode>General</c:formatCode>
                <c:ptCount val="15"/>
                <c:pt idx="0">
                  <c:v>100</c:v>
                </c:pt>
                <c:pt idx="1">
                  <c:v>98.3</c:v>
                </c:pt>
                <c:pt idx="2">
                  <c:v>97.9</c:v>
                </c:pt>
                <c:pt idx="3">
                  <c:v>97.6</c:v>
                </c:pt>
                <c:pt idx="4">
                  <c:v>97.1</c:v>
                </c:pt>
                <c:pt idx="5">
                  <c:v>97</c:v>
                </c:pt>
                <c:pt idx="6">
                  <c:v>96.9</c:v>
                </c:pt>
                <c:pt idx="7">
                  <c:v>96.2</c:v>
                </c:pt>
                <c:pt idx="8">
                  <c:v>96</c:v>
                </c:pt>
                <c:pt idx="9">
                  <c:v>92.8</c:v>
                </c:pt>
                <c:pt idx="10">
                  <c:v>92.3</c:v>
                </c:pt>
                <c:pt idx="11">
                  <c:v>89.4</c:v>
                </c:pt>
                <c:pt idx="12">
                  <c:v>74</c:v>
                </c:pt>
                <c:pt idx="13">
                  <c:v>60.5</c:v>
                </c:pt>
                <c:pt idx="14">
                  <c:v>54.2</c:v>
                </c:pt>
              </c:numCache>
            </c:numRef>
          </c:val>
          <c:extLst>
            <c:ext xmlns:c16="http://schemas.microsoft.com/office/drawing/2014/chart" uri="{C3380CC4-5D6E-409C-BE32-E72D297353CC}">
              <c16:uniqueId val="{00000000-BE49-4F40-9431-012E4D17253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lang="en-US" sz="1200" b="0" i="0" u="none" strike="noStrike">
                <a:solidFill>
                  <a:srgbClr val="1A1A2E"/>
                </a:solidFill>
                <a:latin typeface="Arial"/>
              </a:rPr>
              <a:t>Top misrouting pairs (true → predicted, % of true class)</a:t>
            </a:r>
          </a:p>
        </c:rich>
      </c:tx>
      <c:overlay val="0"/>
    </c:title>
    <c:autoTitleDeleted val="0"/>
    <c:plotArea>
      <c:layout/>
      <c:barChart>
        <c:barDir val="bar"/>
        <c:grouping val="clustered"/>
        <c:varyColors val="0"/>
        <c:ser>
          <c:idx val="0"/>
          <c:order val="0"/>
          <c:tx>
            <c:strRef>
              <c:f>Sheet1!$B$1</c:f>
              <c:strCache>
                <c:ptCount val="1"/>
                <c:pt idx="0">
                  <c:v>% of true class misrouted</c:v>
                </c:pt>
              </c:strCache>
            </c:strRef>
          </c:tx>
          <c:spPr>
            <a:solidFill>
              <a:srgbClr val="C0433F">
                <a:alpha val="80000"/>
              </a:srgbClr>
            </a:solidFill>
            <a:effectLst/>
          </c:spPr>
          <c:invertIfNegative val="0"/>
          <c:dLbls>
            <c:numFmt formatCode="0.0&quot;%&quot;"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ERTU → Network Equipment</c:v>
                </c:pt>
                <c:pt idx="1">
                  <c:v>Contract plant labor → Network Equipment</c:v>
                </c:pt>
                <c:pt idx="2">
                  <c:v>Data Processing → Contract plant lab</c:v>
                </c:pt>
                <c:pt idx="3">
                  <c:v>Data Processing → Food/Beverage</c:v>
                </c:pt>
                <c:pt idx="4">
                  <c:v>Miscellaneous Material → Contract plant lab</c:v>
                </c:pt>
                <c:pt idx="5">
                  <c:v>Tools and Testing Equi → Food/Beverage</c:v>
                </c:pt>
                <c:pt idx="6">
                  <c:v>Security Service → Contract plant lab</c:v>
                </c:pt>
                <c:pt idx="7">
                  <c:v>Landscape Services → Contract plant lab</c:v>
                </c:pt>
              </c:strCache>
            </c:strRef>
          </c:cat>
          <c:val>
            <c:numRef>
              <c:f>Sheet1!$B$2:$B$9</c:f>
              <c:numCache>
                <c:formatCode>General</c:formatCode>
                <c:ptCount val="8"/>
                <c:pt idx="0">
                  <c:v>1.43</c:v>
                </c:pt>
                <c:pt idx="1">
                  <c:v>2.23</c:v>
                </c:pt>
                <c:pt idx="2">
                  <c:v>2.27</c:v>
                </c:pt>
                <c:pt idx="3">
                  <c:v>11.08</c:v>
                </c:pt>
                <c:pt idx="4">
                  <c:v>26.32</c:v>
                </c:pt>
                <c:pt idx="5">
                  <c:v>45.95</c:v>
                </c:pt>
                <c:pt idx="6">
                  <c:v>30.11</c:v>
                </c:pt>
                <c:pt idx="7">
                  <c:v>60.98</c:v>
                </c:pt>
              </c:numCache>
            </c:numRef>
          </c:val>
          <c:extLst>
            <c:ext xmlns:c16="http://schemas.microsoft.com/office/drawing/2014/chart" uri="{C3380CC4-5D6E-409C-BE32-E72D297353CC}">
              <c16:uniqueId val="{00000000-4C21-43A3-8542-5C52569CB9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max val="70"/>
          <c:min val="0"/>
        </c:scaling>
        <c:delete val="0"/>
        <c:axPos val="b"/>
        <c:majorGridlines>
          <c:spPr>
            <a:ln w="6350" cap="flat">
              <a:solidFill>
                <a:srgbClr val="D6DDE8"/>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Arial"/>
              </a:defRPr>
            </a:pPr>
            <a:r>
              <a:rPr lang="en-US" sz="1300" b="0" i="0" u="none" strike="noStrike">
                <a:solidFill>
                  <a:srgbClr val="1A1A2E"/>
                </a:solidFill>
                <a:latin typeface="Arial"/>
              </a:rPr>
              <a:t>Top 10 predictive words</a:t>
            </a:r>
          </a:p>
        </c:rich>
      </c:tx>
      <c:overlay val="0"/>
    </c:title>
    <c:autoTitleDeleted val="0"/>
    <c:plotArea>
      <c:layout/>
      <c:barChart>
        <c:barDir val="bar"/>
        <c:grouping val="clustered"/>
        <c:varyColors val="0"/>
        <c:ser>
          <c:idx val="0"/>
          <c:order val="0"/>
          <c:tx>
            <c:strRef>
              <c:f>Sheet1!$B$1</c:f>
              <c:strCache>
                <c:ptCount val="1"/>
                <c:pt idx="0">
                  <c:v>Feature importance</c:v>
                </c:pt>
              </c:strCache>
            </c:strRef>
          </c:tx>
          <c:spPr>
            <a:solidFill>
              <a:srgbClr val="3D5A80"/>
            </a:solidFill>
            <a:effectLst/>
          </c:spPr>
          <c:invertIfNegative val="0"/>
          <c:dLbls>
            <c:numFmt formatCode="0.000" sourceLinked="0"/>
            <c:spPr>
              <a:noFill/>
              <a:ln>
                <a:noFill/>
              </a:ln>
              <a:effectLst/>
            </c:spPr>
            <c:txPr>
              <a:bodyPr/>
              <a:lstStyle/>
              <a:p>
                <a:pPr>
                  <a:defRPr sz="9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gloves</c:v>
                </c:pt>
                <c:pt idx="1">
                  <c:v>landscape</c:v>
                </c:pt>
                <c:pt idx="2">
                  <c:v>engineering</c:v>
                </c:pt>
                <c:pt idx="3">
                  <c:v>charges</c:v>
                </c:pt>
                <c:pt idx="4">
                  <c:v>milestone</c:v>
                </c:pt>
                <c:pt idx="5">
                  <c:v>hat helmet</c:v>
                </c:pt>
                <c:pt idx="6">
                  <c:v>network engineering</c:v>
                </c:pt>
                <c:pt idx="7">
                  <c:v>transceiver</c:v>
                </c:pt>
                <c:pt idx="8">
                  <c:v>lawn</c:v>
                </c:pt>
                <c:pt idx="9">
                  <c:v>shipping</c:v>
                </c:pt>
              </c:strCache>
            </c:strRef>
          </c:cat>
          <c:val>
            <c:numRef>
              <c:f>Sheet1!$B$2:$B$11</c:f>
              <c:numCache>
                <c:formatCode>General</c:formatCode>
                <c:ptCount val="10"/>
                <c:pt idx="0">
                  <c:v>1.44E-2</c:v>
                </c:pt>
                <c:pt idx="1">
                  <c:v>2.3E-2</c:v>
                </c:pt>
                <c:pt idx="2">
                  <c:v>2.4899999999999999E-2</c:v>
                </c:pt>
                <c:pt idx="3">
                  <c:v>4.0300000000000002E-2</c:v>
                </c:pt>
                <c:pt idx="4">
                  <c:v>4.8500000000000001E-2</c:v>
                </c:pt>
                <c:pt idx="5">
                  <c:v>5.3900000000000003E-2</c:v>
                </c:pt>
                <c:pt idx="6">
                  <c:v>5.8799999999999998E-2</c:v>
                </c:pt>
                <c:pt idx="7">
                  <c:v>6.13E-2</c:v>
                </c:pt>
                <c:pt idx="8">
                  <c:v>6.6000000000000003E-2</c:v>
                </c:pt>
                <c:pt idx="9">
                  <c:v>7.6200000000000004E-2</c:v>
                </c:pt>
              </c:numCache>
            </c:numRef>
          </c:val>
          <c:extLst>
            <c:ext xmlns:c16="http://schemas.microsoft.com/office/drawing/2014/chart" uri="{C3380CC4-5D6E-409C-BE32-E72D297353CC}">
              <c16:uniqueId val="{00000000-5387-403D-8AB0-4686B334F1E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6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1A2E"/>
                </a:solidFill>
                <a:latin typeface="Arial"/>
              </a:defRPr>
            </a:pPr>
            <a:r>
              <a:rPr lang="en-US" sz="1200" b="0" i="0" u="none" strike="noStrike">
                <a:solidFill>
                  <a:srgbClr val="1A1A2E"/>
                </a:solidFill>
                <a:latin typeface="Arial"/>
              </a:rPr>
              <a:t>XGBoost total importance</a:t>
            </a:r>
          </a:p>
        </c:rich>
      </c:tx>
      <c:overlay val="0"/>
    </c:title>
    <c:autoTitleDeleted val="0"/>
    <c:plotArea>
      <c:layout/>
      <c:doughnutChart>
        <c:varyColors val="1"/>
        <c:ser>
          <c:idx val="0"/>
          <c:order val="0"/>
          <c:tx>
            <c:strRef>
              <c:f>Sheet1!$B$1</c:f>
              <c:strCache>
                <c:ptCount val="1"/>
                <c:pt idx="0">
                  <c:v>Feature Group Contribution</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extLst>
              <c:ext xmlns:c16="http://schemas.microsoft.com/office/drawing/2014/chart" uri="{C3380CC4-5D6E-409C-BE32-E72D297353CC}">
                <c16:uniqueId val="{00000001-B9BA-43AB-A39B-3285C4B9432E}"/>
              </c:ext>
            </c:extLst>
          </c:dPt>
          <c:dPt>
            <c:idx val="1"/>
            <c:bubble3D val="0"/>
            <c:spPr>
              <a:solidFill>
                <a:srgbClr val="E9A63A"/>
              </a:solidFill>
              <a:effectLst/>
            </c:spPr>
            <c:extLst>
              <c:ext xmlns:c16="http://schemas.microsoft.com/office/drawing/2014/chart" uri="{C3380CC4-5D6E-409C-BE32-E72D297353CC}">
                <c16:uniqueId val="{00000003-B9BA-43AB-A39B-3285C4B9432E}"/>
              </c:ext>
            </c:extLst>
          </c:dPt>
          <c:dLbls>
            <c:dLbl>
              <c:idx val="0"/>
              <c:numFmt formatCode="0&quot;%&quot;"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9BA-43AB-A39B-3285C4B9432E}"/>
                </c:ext>
              </c:extLst>
            </c:dLbl>
            <c:dLbl>
              <c:idx val="1"/>
              <c:numFmt formatCode="0&quot;%&quot;"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9BA-43AB-A39B-3285C4B9432E}"/>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TF-IDF Text</c:v>
                </c:pt>
                <c:pt idx="1">
                  <c:v>Structured (CAT+Vendor+Amt)</c:v>
                </c:pt>
              </c:strCache>
            </c:strRef>
          </c:cat>
          <c:val>
            <c:numRef>
              <c:f>Sheet1!$B$2:$B$3</c:f>
              <c:numCache>
                <c:formatCode>General</c:formatCode>
                <c:ptCount val="2"/>
                <c:pt idx="0">
                  <c:v>98</c:v>
                </c:pt>
                <c:pt idx="1">
                  <c:v>2</c:v>
                </c:pt>
              </c:numCache>
            </c:numRef>
          </c:val>
          <c:extLst>
            <c:ext xmlns:c16="http://schemas.microsoft.com/office/drawing/2014/chart" uri="{C3380CC4-5D6E-409C-BE32-E72D297353CC}">
              <c16:uniqueId val="{00000004-B9BA-43AB-A39B-3285C4B9432E}"/>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1A2E"/>
                </a:solidFill>
                <a:latin typeface="Arial"/>
              </a:defRPr>
            </a:pPr>
            <a:r>
              <a:rPr lang="en-US" sz="1300" b="0" i="0" u="none" strike="noStrike">
                <a:solidFill>
                  <a:srgbClr val="1A1A2E"/>
                </a:solidFill>
                <a:latin typeface="Arial"/>
              </a:rPr>
              <a:t>Runtime per pipeline stage (seconds)</a:t>
            </a:r>
          </a:p>
        </c:rich>
      </c:tx>
      <c:overlay val="0"/>
    </c:title>
    <c:autoTitleDeleted val="0"/>
    <c:plotArea>
      <c:layout/>
      <c:barChart>
        <c:barDir val="bar"/>
        <c:grouping val="clustered"/>
        <c:varyColors val="0"/>
        <c:ser>
          <c:idx val="0"/>
          <c:order val="0"/>
          <c:tx>
            <c:strRef>
              <c:f>Sheet1!$B$1</c:f>
              <c:strCache>
                <c:ptCount val="1"/>
                <c:pt idx="0">
                  <c:v>Runtime (seconds)</c:v>
                </c:pt>
              </c:strCache>
            </c:strRef>
          </c:tx>
          <c:spPr>
            <a:solidFill>
              <a:srgbClr val="3D5A80"/>
            </a:solidFill>
            <a:effectLst/>
          </c:spPr>
          <c:invertIfNegative val="0"/>
          <c:dLbls>
            <c:numFmt formatCode="0.0" sourceLinked="0"/>
            <c:spPr>
              <a:noFill/>
              <a:ln>
                <a:noFill/>
              </a:ln>
              <a:effectLst/>
            </c:spPr>
            <c:txPr>
              <a:bodyPr/>
              <a:lstStyle/>
              <a:p>
                <a:pPr>
                  <a:defRPr sz="10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ML Scoring</c:v>
                </c:pt>
                <c:pt idx="1">
                  <c:v>LLM Inference</c:v>
                </c:pt>
                <c:pt idx="2">
                  <c:v>Model Training</c:v>
                </c:pt>
                <c:pt idx="3">
                  <c:v>Feature Engineering</c:v>
                </c:pt>
                <c:pt idx="4">
                  <c:v>Report Building</c:v>
                </c:pt>
                <c:pt idx="5">
                  <c:v>Rules Engine</c:v>
                </c:pt>
              </c:strCache>
            </c:strRef>
          </c:cat>
          <c:val>
            <c:numRef>
              <c:f>Sheet1!$B$2:$B$7</c:f>
              <c:numCache>
                <c:formatCode>General</c:formatCode>
                <c:ptCount val="6"/>
                <c:pt idx="0">
                  <c:v>72</c:v>
                </c:pt>
                <c:pt idx="1">
                  <c:v>288</c:v>
                </c:pt>
                <c:pt idx="2">
                  <c:v>189</c:v>
                </c:pt>
                <c:pt idx="3">
                  <c:v>18</c:v>
                </c:pt>
                <c:pt idx="4">
                  <c:v>39</c:v>
                </c:pt>
                <c:pt idx="5">
                  <c:v>1.2</c:v>
                </c:pt>
              </c:numCache>
            </c:numRef>
          </c:val>
          <c:extLst>
            <c:ext xmlns:c16="http://schemas.microsoft.com/office/drawing/2014/chart" uri="{C3380CC4-5D6E-409C-BE32-E72D297353CC}">
              <c16:uniqueId val="{00000000-A727-4CEA-BD89-80F56B11325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2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6DD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16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Set the context: this is an evaluation of the ATIMS classification pipeline that combines a rules engine, an XGBoost+LightGBM ensemble, and an LLM component (LangGraph agent with RAG). Analysis conducted over the trailing 24 months of historical ATIMS invoice data — roughly 240,000 labeled records against analyst-approved ACCOUNT_CODE ground truth.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numbers. Pipeline accuracy 91.75% with 99% coverage — only 1% of invoices need a human. The +62 pp LLM lift on no-rule cases is the key finding. The 820-token prompt captures a compact but rich context: task specification, 5 retrieved similar labeled invoices, and the query invoice itself — see slide 13 for the breakdown.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as an analyst-time problem. Before ATIMS, analysts touch 100% of invoices — including the routine ones that a well-trained model can handle. After ATIMS, analysts only see the 1.1% of invoices the pipeline can't confidently classify. That's an ~89× reduction in per-invoice analyst intervention. Same team, much larger throughput ceiling.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deliberately layered by precision and effort. Rules first — most certain, catches 75% of invoices. ML for the routine remainder. LLM for the genuinely ambiguous cases where structured features tie. Anything still low-confidence goes to a human. This design means we only invoke the heavier LLM stage on the invoices that actually need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in three parts. First: the data — 24 months of historical ATIMS invoices with analyst-approved labels. Second: we tested 8 different pipeline configurations to understand which components add value. Third: we reported on a comprehensive set of metrics, not just headline accuracy. The eval notebook (04_evaluate.py) is parameterized to run against any labeled dataset by widget.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comparison across all 8 pipeline configurations. Current production (Rules + ML) sits at 88.5%. The three-way ensemble (Rules + LLM + ML) hits 91.75% — that's the 3.2 percentage point lift the LLM buys us. LLM standalone hits 94.2% but we keep rules in the loop for audit trail and deterministic behavior.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finding in the eval. On all rows, LLM edges out ML by 19 percentage points. But the story is on the no-rule rows — where structured features are noisy and only descriptions carry a clean signal — LLM is 62 percentage points more accurate than ML. This is the case for the LLM component: when rules can't decide and ML struggles, the LLM+RAG stack still gets it right.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unpacks how the three-way ensemble actually decides. Rules run first for audit trail. Then, on no-rule rows, we look at whether ML and LLM agree — if they do, that's a strong signal, we use it. If they disagree, we trust the LLM only if it's very confident. Everything else goes to human review. The result is measurable: coverage jumps from 81% to 99%, and accuracy on covered rows goes from 88.5% to 91.75%. That's a strictly better operating point.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Cluster-level accuracy tells us where the pipeline earns its keep and where it needs help. The strong clusters have distinctive keyword signals — landscape, engineering, storage — that the model picks up cleanly. The struggle clusters — leases, contract labor, permits — share structured feature codes with other clusters, so the model can't disambiguate from EXTC or MIC alone. These are exactly the clusters where LLM+RAG or GTE-Large embeddings on descriptions would help most.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where the pipeline errors concentrate. 61% of true Landscape Services rows get labeled as Contract plant labor. 30% of Security Service. Same pattern across several categories. Contract plant labor is an over-predicted sink — it shares MIC=COEOTHER with many other categories, so structured features can't disambiguate. But the descriptions differ: 'lawn maintenance' vs 'crew hours' vs 'security patrols'. This is exactly the +62 pp LLM lift showing up at the confusion-pair level.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 do we still need the rules engine now that the ML model works? The head-to-head shows 99.92% agreement between rules and ML on the same records. The ML has learned everything the rules encode. Rules stay because they're auditable and deterministic — analysts need an explainable trail. The ~18K both-wrong rows are the interesting ones — that's where LLM+RAG adds the +62 pp lift shown earlier.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tells us where to invest engineering effort. In XGBoost, TF-IDF words carry 98% of the predictive weight — the text of the invoice description is the signal. LightGBM leans more on structured features (76%). The recommendation: swap TF-IDF for GTE-Large embeddings (which are already in your RAG stack) and expect meaningful accuracy gains, especially on the struggle clusters from slide 9.</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unpacks what actually goes to the LLM per invoice. The bulk of the tokens live in the RAG context — 5 retrieved labeled invoices, roughly 450 tokens. The system prompt is compact. Query invoice is small. Output is small. Total is around 820 tokens per call. The retrieval depth is the main knob if we want to reduce context — dropping to 3 examples saves about 180 tokens per call with some accuracy tradeoff. That's a knob worth measuring.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readiness. About 10 minutes to rescore the entire 24-month window end-to-end. Training dominates runtime but only reruns monthly. Daily inference throughput is ~400 records/sec. Scales to 1M invoices in under 45 minutes on the same hardware. LLM latency is the real bottleneck once we scale — but that's fixable with async batching and only affects the no-rule subset anyway.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3B"/>
        </a:solidFill>
        <a:effectLst/>
      </p:bgPr>
    </p:bg>
    <p:spTree>
      <p:nvGrpSpPr>
        <p:cNvPr id="1" name=""/>
        <p:cNvGrpSpPr/>
        <p:nvPr/>
      </p:nvGrpSpPr>
      <p:grpSpPr>
        <a:xfrm>
          <a:off x="0" y="0"/>
          <a:ext cx="0" cy="0"/>
          <a:chOff x="0" y="0"/>
          <a:chExt cx="0" cy="0"/>
        </a:xfrm>
      </p:grpSpPr>
      <p:sp>
        <p:nvSpPr>
          <p:cNvPr id="2" name="Shape 0"/>
          <p:cNvSpPr/>
          <p:nvPr/>
        </p:nvSpPr>
        <p:spPr>
          <a:xfrm>
            <a:off x="9601200" y="-1828800"/>
            <a:ext cx="5486400" cy="5486400"/>
          </a:xfrm>
          <a:prstGeom prst="ellipse">
            <a:avLst/>
          </a:prstGeom>
          <a:solidFill>
            <a:srgbClr val="1E2761">
              <a:alpha val="70000"/>
            </a:srgbClr>
          </a:solidFill>
          <a:ln w="12700">
            <a:solidFill>
              <a:srgbClr val="1E2761"/>
            </a:solidFill>
            <a:prstDash val="solid"/>
          </a:ln>
        </p:spPr>
        <p:txBody>
          <a:bodyPr/>
          <a:lstStyle/>
          <a:p>
            <a:endParaRPr lang="en-US"/>
          </a:p>
        </p:txBody>
      </p:sp>
      <p:sp>
        <p:nvSpPr>
          <p:cNvPr id="3" name="Shape 1"/>
          <p:cNvSpPr/>
          <p:nvPr/>
        </p:nvSpPr>
        <p:spPr>
          <a:xfrm>
            <a:off x="-1371600" y="4572000"/>
            <a:ext cx="4114800" cy="4114800"/>
          </a:xfrm>
          <a:prstGeom prst="ellipse">
            <a:avLst/>
          </a:prstGeom>
          <a:solidFill>
            <a:srgbClr val="3D5A80">
              <a:alpha val="60000"/>
            </a:srgbClr>
          </a:solidFill>
          <a:ln w="12700">
            <a:solidFill>
              <a:srgbClr val="3D5A80"/>
            </a:solidFill>
            <a:prstDash val="solid"/>
          </a:ln>
        </p:spPr>
        <p:txBody>
          <a:bodyPr/>
          <a:lstStyle/>
          <a:p>
            <a:endParaRPr lang="en-US"/>
          </a:p>
        </p:txBody>
      </p:sp>
      <p:sp>
        <p:nvSpPr>
          <p:cNvPr id="4" name="Text 2"/>
          <p:cNvSpPr/>
          <p:nvPr/>
        </p:nvSpPr>
        <p:spPr>
          <a:xfrm>
            <a:off x="731520" y="1554480"/>
            <a:ext cx="10972800" cy="457200"/>
          </a:xfrm>
          <a:prstGeom prst="rect">
            <a:avLst/>
          </a:prstGeom>
          <a:noFill/>
          <a:ln/>
        </p:spPr>
        <p:txBody>
          <a:bodyPr wrap="square" lIns="0" tIns="0" rIns="0" bIns="0" rtlCol="0" anchor="ctr"/>
          <a:lstStyle/>
          <a:p>
            <a:pPr marL="0" indent="0">
              <a:buNone/>
            </a:pPr>
            <a:r>
              <a:rPr lang="en-US" sz="1800" b="1" kern="0" spc="800" dirty="0">
                <a:solidFill>
                  <a:srgbClr val="CADCFC"/>
                </a:solidFill>
                <a:latin typeface="Calibri" pitchFamily="34" charset="0"/>
                <a:ea typeface="Calibri" pitchFamily="34" charset="-122"/>
                <a:cs typeface="Calibri" pitchFamily="34" charset="-120"/>
              </a:rPr>
              <a:t>ATIMS</a:t>
            </a:r>
            <a:endParaRPr lang="en-US" sz="1800" dirty="0"/>
          </a:p>
        </p:txBody>
      </p:sp>
      <p:sp>
        <p:nvSpPr>
          <p:cNvPr id="5" name="Text 3"/>
          <p:cNvSpPr/>
          <p:nvPr/>
        </p:nvSpPr>
        <p:spPr>
          <a:xfrm>
            <a:off x="731520" y="2103120"/>
            <a:ext cx="109728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AP Invoice Tax Classification</a:t>
            </a:r>
            <a:endParaRPr lang="en-US" sz="4600" dirty="0"/>
          </a:p>
        </p:txBody>
      </p:sp>
      <p:sp>
        <p:nvSpPr>
          <p:cNvPr id="6" name="Text 4"/>
          <p:cNvSpPr/>
          <p:nvPr/>
        </p:nvSpPr>
        <p:spPr>
          <a:xfrm>
            <a:off x="731520" y="3108960"/>
            <a:ext cx="10972800" cy="548640"/>
          </a:xfrm>
          <a:prstGeom prst="rect">
            <a:avLst/>
          </a:prstGeom>
          <a:noFill/>
          <a:ln/>
        </p:spPr>
        <p:txBody>
          <a:bodyPr wrap="square" lIns="0" tIns="0" rIns="0" bIns="0" rtlCol="0" anchor="ctr"/>
          <a:lstStyle/>
          <a:p>
            <a:pPr marL="0" indent="0">
              <a:buNone/>
            </a:pPr>
            <a:r>
              <a:rPr lang="en-US" sz="2600" i="1" dirty="0">
                <a:solidFill>
                  <a:srgbClr val="CADCFC"/>
                </a:solidFill>
                <a:latin typeface="Cambria" pitchFamily="34" charset="0"/>
                <a:ea typeface="Cambria" pitchFamily="34" charset="-122"/>
                <a:cs typeface="Cambria" pitchFamily="34" charset="-120"/>
              </a:rPr>
              <a:t>Pipeline Evaluation Report</a:t>
            </a:r>
            <a:endParaRPr lang="en-US" sz="2600" dirty="0"/>
          </a:p>
        </p:txBody>
      </p:sp>
      <p:sp>
        <p:nvSpPr>
          <p:cNvPr id="7" name="Shape 5"/>
          <p:cNvSpPr/>
          <p:nvPr/>
        </p:nvSpPr>
        <p:spPr>
          <a:xfrm>
            <a:off x="731520" y="3931920"/>
            <a:ext cx="2286000" cy="0"/>
          </a:xfrm>
          <a:prstGeom prst="line">
            <a:avLst/>
          </a:prstGeom>
          <a:noFill/>
          <a:ln w="25400">
            <a:solidFill>
              <a:srgbClr val="CADCFC"/>
            </a:solidFill>
            <a:prstDash val="solid"/>
          </a:ln>
        </p:spPr>
        <p:txBody>
          <a:bodyPr/>
          <a:lstStyle/>
          <a:p>
            <a:endParaRPr lang="en-US"/>
          </a:p>
        </p:txBody>
      </p:sp>
      <p:sp>
        <p:nvSpPr>
          <p:cNvPr id="8" name="Text 6"/>
          <p:cNvSpPr/>
          <p:nvPr/>
        </p:nvSpPr>
        <p:spPr>
          <a:xfrm>
            <a:off x="731520" y="4114800"/>
            <a:ext cx="10972800" cy="3200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Shashank </a:t>
            </a:r>
            <a:r>
              <a:rPr lang="en-US" sz="1400" dirty="0" err="1">
                <a:solidFill>
                  <a:srgbClr val="CADCFC"/>
                </a:solidFill>
                <a:latin typeface="Calibri" pitchFamily="34" charset="0"/>
                <a:ea typeface="Calibri" pitchFamily="34" charset="-122"/>
                <a:cs typeface="Calibri" pitchFamily="34" charset="-120"/>
              </a:rPr>
              <a:t>Vadyala</a:t>
            </a:r>
            <a:r>
              <a:rPr lang="en-US" sz="1400" dirty="0">
                <a:solidFill>
                  <a:srgbClr val="CADCFC"/>
                </a:solidFill>
                <a:latin typeface="Calibri" pitchFamily="34" charset="0"/>
                <a:ea typeface="Calibri" pitchFamily="34" charset="-122"/>
                <a:cs typeface="Calibri" pitchFamily="34" charset="-120"/>
              </a:rPr>
              <a:t>  ·</a:t>
            </a:r>
            <a:endParaRPr lang="en-US" sz="1400" dirty="0"/>
          </a:p>
        </p:txBody>
      </p:sp>
      <p:sp>
        <p:nvSpPr>
          <p:cNvPr id="9" name="Text 7"/>
          <p:cNvSpPr/>
          <p:nvPr/>
        </p:nvSpPr>
        <p:spPr>
          <a:xfrm>
            <a:off x="731520" y="4480560"/>
            <a:ext cx="10972800" cy="320040"/>
          </a:xfrm>
          <a:prstGeom prst="rect">
            <a:avLst/>
          </a:prstGeom>
          <a:noFill/>
          <a:ln/>
        </p:spPr>
        <p:txBody>
          <a:bodyPr wrap="square" lIns="0" tIns="0" rIns="0" bIns="0" rtlCol="0" anchor="ctr"/>
          <a:lstStyle/>
          <a:p>
            <a:pPr marL="0" indent="0">
              <a:buNone/>
            </a:pPr>
            <a:endParaRPr lang="en-US" sz="1200" dirty="0"/>
          </a:p>
        </p:txBody>
      </p:sp>
      <p:sp>
        <p:nvSpPr>
          <p:cNvPr id="10" name="Text 8"/>
          <p:cNvSpPr/>
          <p:nvPr/>
        </p:nvSpPr>
        <p:spPr>
          <a:xfrm>
            <a:off x="731520" y="6035040"/>
            <a:ext cx="10972800" cy="32004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Evaluation over the trailing 24 months of historical ATIMS invoices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Four numbers that tell the story</a:t>
            </a:r>
            <a:endParaRPr lang="en-US" sz="1400" dirty="0"/>
          </a:p>
        </p:txBody>
      </p:sp>
      <p:sp>
        <p:nvSpPr>
          <p:cNvPr id="4" name="Shape 2"/>
          <p:cNvSpPr/>
          <p:nvPr/>
        </p:nvSpPr>
        <p:spPr>
          <a:xfrm>
            <a:off x="457200" y="150876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5" name="Text 3"/>
          <p:cNvSpPr/>
          <p:nvPr/>
        </p:nvSpPr>
        <p:spPr>
          <a:xfrm>
            <a:off x="594360" y="1828800"/>
            <a:ext cx="5120640" cy="902513"/>
          </a:xfrm>
          <a:prstGeom prst="rect">
            <a:avLst/>
          </a:prstGeom>
          <a:noFill/>
          <a:ln/>
        </p:spPr>
        <p:txBody>
          <a:bodyPr wrap="square" lIns="0" tIns="0" rIns="0" bIns="0"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91.75%</a:t>
            </a:r>
            <a:endParaRPr lang="en-US" sz="4800" dirty="0"/>
          </a:p>
        </p:txBody>
      </p:sp>
      <p:sp>
        <p:nvSpPr>
          <p:cNvPr id="6" name="Text 4"/>
          <p:cNvSpPr/>
          <p:nvPr/>
        </p:nvSpPr>
        <p:spPr>
          <a:xfrm>
            <a:off x="594360" y="269062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Pipeline Accuracy with LLM</a:t>
            </a:r>
            <a:endParaRPr lang="en-US" sz="1300" dirty="0"/>
          </a:p>
        </p:txBody>
      </p:sp>
      <p:sp>
        <p:nvSpPr>
          <p:cNvPr id="7" name="Text 5"/>
          <p:cNvSpPr/>
          <p:nvPr/>
        </p:nvSpPr>
        <p:spPr>
          <a:xfrm>
            <a:off x="594360" y="312039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Rules + LLM + ML three-way ensemble</a:t>
            </a:r>
            <a:endParaRPr lang="en-US" sz="1000" dirty="0"/>
          </a:p>
        </p:txBody>
      </p:sp>
      <p:sp>
        <p:nvSpPr>
          <p:cNvPr id="8" name="Shape 6"/>
          <p:cNvSpPr/>
          <p:nvPr/>
        </p:nvSpPr>
        <p:spPr>
          <a:xfrm>
            <a:off x="6126480" y="150876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9" name="Text 7"/>
          <p:cNvSpPr/>
          <p:nvPr/>
        </p:nvSpPr>
        <p:spPr>
          <a:xfrm>
            <a:off x="6263640" y="1828800"/>
            <a:ext cx="5120640" cy="902513"/>
          </a:xfrm>
          <a:prstGeom prst="rect">
            <a:avLst/>
          </a:prstGeom>
          <a:noFill/>
          <a:ln/>
        </p:spPr>
        <p:txBody>
          <a:bodyPr wrap="square" lIns="0" tIns="0" rIns="0" bIns="0" rtlCol="0" anchor="ctr"/>
          <a:lstStyle/>
          <a:p>
            <a:pPr marL="0" indent="0" algn="ctr">
              <a:buNone/>
            </a:pPr>
            <a:r>
              <a:rPr lang="en-US" sz="4800" b="1" dirty="0">
                <a:solidFill>
                  <a:srgbClr val="3D5A80"/>
                </a:solidFill>
                <a:latin typeface="Cambria" pitchFamily="34" charset="0"/>
                <a:ea typeface="Cambria" pitchFamily="34" charset="-122"/>
                <a:cs typeface="Cambria" pitchFamily="34" charset="-120"/>
              </a:rPr>
              <a:t>98.9%</a:t>
            </a:r>
            <a:endParaRPr lang="en-US" sz="4800" dirty="0"/>
          </a:p>
        </p:txBody>
      </p:sp>
      <p:sp>
        <p:nvSpPr>
          <p:cNvPr id="10" name="Text 8"/>
          <p:cNvSpPr/>
          <p:nvPr/>
        </p:nvSpPr>
        <p:spPr>
          <a:xfrm>
            <a:off x="6263640" y="269062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Auto-Classify Coverage</a:t>
            </a:r>
            <a:endParaRPr lang="en-US" sz="1300" dirty="0"/>
          </a:p>
        </p:txBody>
      </p:sp>
      <p:sp>
        <p:nvSpPr>
          <p:cNvPr id="11" name="Text 9"/>
          <p:cNvSpPr/>
          <p:nvPr/>
        </p:nvSpPr>
        <p:spPr>
          <a:xfrm>
            <a:off x="6263640" y="312039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Only 1.1% flagged for human review</a:t>
            </a:r>
            <a:endParaRPr lang="en-US" sz="1000" dirty="0"/>
          </a:p>
        </p:txBody>
      </p:sp>
      <p:sp>
        <p:nvSpPr>
          <p:cNvPr id="12" name="Shape 10"/>
          <p:cNvSpPr/>
          <p:nvPr/>
        </p:nvSpPr>
        <p:spPr>
          <a:xfrm>
            <a:off x="457200" y="393192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3" name="Text 11"/>
          <p:cNvSpPr/>
          <p:nvPr/>
        </p:nvSpPr>
        <p:spPr>
          <a:xfrm>
            <a:off x="594360" y="4251960"/>
            <a:ext cx="5120640" cy="902513"/>
          </a:xfrm>
          <a:prstGeom prst="rect">
            <a:avLst/>
          </a:prstGeom>
          <a:noFill/>
          <a:ln/>
        </p:spPr>
        <p:txBody>
          <a:bodyPr wrap="square" lIns="0" tIns="0" rIns="0" bIns="0" rtlCol="0" anchor="ctr"/>
          <a:lstStyle/>
          <a:p>
            <a:pPr marL="0" indent="0" algn="ctr">
              <a:buNone/>
            </a:pPr>
            <a:r>
              <a:rPr lang="en-US" sz="4800" b="1" dirty="0">
                <a:solidFill>
                  <a:srgbClr val="E9A63A"/>
                </a:solidFill>
                <a:latin typeface="Cambria" pitchFamily="34" charset="0"/>
                <a:ea typeface="Cambria" pitchFamily="34" charset="-122"/>
                <a:cs typeface="Cambria" pitchFamily="34" charset="-120"/>
              </a:rPr>
              <a:t>+62 pp</a:t>
            </a:r>
            <a:endParaRPr lang="en-US" sz="4800" dirty="0"/>
          </a:p>
        </p:txBody>
      </p:sp>
      <p:sp>
        <p:nvSpPr>
          <p:cNvPr id="14" name="Text 12"/>
          <p:cNvSpPr/>
          <p:nvPr/>
        </p:nvSpPr>
        <p:spPr>
          <a:xfrm>
            <a:off x="594360" y="511378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LLM Lift on Ambiguous Cases</a:t>
            </a:r>
            <a:endParaRPr lang="en-US" sz="1300" dirty="0"/>
          </a:p>
        </p:txBody>
      </p:sp>
      <p:sp>
        <p:nvSpPr>
          <p:cNvPr id="15" name="Text 13"/>
          <p:cNvSpPr/>
          <p:nvPr/>
        </p:nvSpPr>
        <p:spPr>
          <a:xfrm>
            <a:off x="594360" y="554355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vs. ML on the same no-rule rows</a:t>
            </a:r>
            <a:endParaRPr lang="en-US" sz="1000" dirty="0"/>
          </a:p>
        </p:txBody>
      </p:sp>
      <p:sp>
        <p:nvSpPr>
          <p:cNvPr id="16" name="Shape 14"/>
          <p:cNvSpPr/>
          <p:nvPr/>
        </p:nvSpPr>
        <p:spPr>
          <a:xfrm>
            <a:off x="6126480" y="3931920"/>
            <a:ext cx="5394960" cy="2148840"/>
          </a:xfrm>
          <a:prstGeom prst="roundRect">
            <a:avLst>
              <a:gd name="adj" fmla="val 3404"/>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7" name="Text 15"/>
          <p:cNvSpPr/>
          <p:nvPr/>
        </p:nvSpPr>
        <p:spPr>
          <a:xfrm>
            <a:off x="6263640" y="4251960"/>
            <a:ext cx="5120640" cy="902513"/>
          </a:xfrm>
          <a:prstGeom prst="rect">
            <a:avLst/>
          </a:prstGeom>
          <a:noFill/>
          <a:ln/>
        </p:spPr>
        <p:txBody>
          <a:bodyPr wrap="square" lIns="0" tIns="0" rIns="0" bIns="0" rtlCol="0" anchor="ctr"/>
          <a:lstStyle/>
          <a:p>
            <a:pPr marL="0" indent="0" algn="ctr">
              <a:buNone/>
            </a:pPr>
            <a:r>
              <a:rPr lang="en-US" sz="4800" b="1" dirty="0">
                <a:solidFill>
                  <a:srgbClr val="2A9D8F"/>
                </a:solidFill>
                <a:latin typeface="Cambria" pitchFamily="34" charset="0"/>
                <a:ea typeface="Cambria" pitchFamily="34" charset="-122"/>
                <a:cs typeface="Cambria" pitchFamily="34" charset="-120"/>
              </a:rPr>
              <a:t>~820</a:t>
            </a:r>
            <a:endParaRPr lang="en-US" sz="4800" dirty="0"/>
          </a:p>
        </p:txBody>
      </p:sp>
      <p:sp>
        <p:nvSpPr>
          <p:cNvPr id="18" name="Text 16"/>
          <p:cNvSpPr/>
          <p:nvPr/>
        </p:nvSpPr>
        <p:spPr>
          <a:xfrm>
            <a:off x="6263640" y="5113782"/>
            <a:ext cx="512064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Tokens per LLM Call</a:t>
            </a:r>
            <a:endParaRPr lang="en-US" sz="1300" dirty="0"/>
          </a:p>
        </p:txBody>
      </p:sp>
      <p:sp>
        <p:nvSpPr>
          <p:cNvPr id="19" name="Text 17"/>
          <p:cNvSpPr/>
          <p:nvPr/>
        </p:nvSpPr>
        <p:spPr>
          <a:xfrm>
            <a:off x="6263640" y="5543550"/>
            <a:ext cx="512064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Claude Haiku 4.5 · 5-example RAG prompt</a:t>
            </a:r>
            <a:endParaRPr lang="en-US" sz="1000" dirty="0"/>
          </a:p>
        </p:txBody>
      </p:sp>
      <p:sp>
        <p:nvSpPr>
          <p:cNvPr id="20" name="Text 18"/>
          <p:cNvSpPr/>
          <p:nvPr/>
        </p:nvSpPr>
        <p:spPr>
          <a:xfrm>
            <a:off x="457200" y="6080760"/>
            <a:ext cx="11247120" cy="365760"/>
          </a:xfrm>
          <a:prstGeom prst="rect">
            <a:avLst/>
          </a:prstGeom>
          <a:noFill/>
          <a:ln/>
        </p:spPr>
        <p:txBody>
          <a:bodyPr wrap="square" lIns="0" tIns="0" rIns="0" bIns="0" rtlCol="0" anchor="ctr"/>
          <a:lstStyle/>
          <a:p>
            <a:pPr marL="0" indent="0" algn="ctr">
              <a:buNone/>
            </a:pPr>
            <a:r>
              <a:rPr lang="en-US" sz="1300" b="1" i="1" dirty="0">
                <a:solidFill>
                  <a:srgbClr val="1A1A2E"/>
                </a:solidFill>
                <a:latin typeface="Calibri" pitchFamily="34" charset="0"/>
                <a:ea typeface="Calibri" pitchFamily="34" charset="-122"/>
                <a:cs typeface="Calibri" pitchFamily="34" charset="-120"/>
              </a:rPr>
              <a:t>Bottom line: pipeline hits 91.75% at 99% coverage. The LLM component drives the gains — on the invoices where rules can't decide, LLM is 62 points more accurate than ML.</a:t>
            </a:r>
            <a:endParaRPr lang="en-US" sz="1300" dirty="0"/>
          </a:p>
        </p:txBody>
      </p:sp>
      <p:sp>
        <p:nvSpPr>
          <p:cNvPr id="21" name="Text 19"/>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2" name="Text 20"/>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Problem We're Solving</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Analyst time on routine tax tagging is a scaling bottleneck</a:t>
            </a:r>
            <a:endParaRPr lang="en-US" sz="1400" dirty="0"/>
          </a:p>
        </p:txBody>
      </p:sp>
      <p:sp>
        <p:nvSpPr>
          <p:cNvPr id="4" name="Text 2"/>
          <p:cNvSpPr/>
          <p:nvPr/>
        </p:nvSpPr>
        <p:spPr>
          <a:xfrm>
            <a:off x="457200" y="1508760"/>
            <a:ext cx="6217920" cy="4114800"/>
          </a:xfrm>
          <a:prstGeom prst="rect">
            <a:avLst/>
          </a:prstGeom>
          <a:noFill/>
          <a:ln/>
        </p:spPr>
        <p:txBody>
          <a:bodyPr wrap="square" lIns="0" tIns="0" rIns="0" bIns="0" rtlCol="0" anchor="t"/>
          <a:lstStyle/>
          <a:p>
            <a:pPr marL="0" indent="0">
              <a:buNone/>
            </a:pPr>
            <a:r>
              <a:rPr lang="en-US" sz="1500" b="1" dirty="0">
                <a:solidFill>
                  <a:srgbClr val="1A1A2E"/>
                </a:solidFill>
                <a:latin typeface="Calibri" pitchFamily="34" charset="0"/>
                <a:ea typeface="Calibri" pitchFamily="34" charset="-122"/>
                <a:cs typeface="Calibri" pitchFamily="34" charset="-120"/>
              </a:rPr>
              <a:t>Every AP invoice needs a tax classification.
</a:t>
            </a:r>
            <a:r>
              <a:rPr lang="en-US" sz="1300" dirty="0">
                <a:solidFill>
                  <a:srgbClr val="1A1A2E"/>
                </a:solidFill>
                <a:latin typeface="Calibri" pitchFamily="34" charset="0"/>
                <a:ea typeface="Calibri" pitchFamily="34" charset="-122"/>
                <a:cs typeface="Calibri" pitchFamily="34" charset="-120"/>
              </a:rPr>
              <a:t>Analysts historically review each one line by line — reading the description, matching against the vendor, deciding the account code, tagging the tax bucket. It's precise, valuable work — but at AT&amp;T's invoice volume it consumes an enormous share of the AP team's throughput.
The pipeline shifts the analyst's role from routine tagging to exception handling:</a:t>
            </a:r>
            <a:endParaRPr lang="en-US" sz="1500" dirty="0"/>
          </a:p>
        </p:txBody>
      </p:sp>
      <p:sp>
        <p:nvSpPr>
          <p:cNvPr id="5" name="Shape 3"/>
          <p:cNvSpPr/>
          <p:nvPr/>
        </p:nvSpPr>
        <p:spPr>
          <a:xfrm>
            <a:off x="7040880" y="1554480"/>
            <a:ext cx="4754880" cy="3931920"/>
          </a:xfrm>
          <a:prstGeom prst="roundRect">
            <a:avLst>
              <a:gd name="adj" fmla="val 2326"/>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7223760" y="1783080"/>
            <a:ext cx="4389120" cy="36576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Analyst review load</a:t>
            </a:r>
            <a:endParaRPr lang="en-US" sz="1300" dirty="0"/>
          </a:p>
        </p:txBody>
      </p:sp>
      <p:sp>
        <p:nvSpPr>
          <p:cNvPr id="7" name="Text 5"/>
          <p:cNvSpPr/>
          <p:nvPr/>
        </p:nvSpPr>
        <p:spPr>
          <a:xfrm>
            <a:off x="7223760" y="2194560"/>
            <a:ext cx="4389120" cy="2743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Before ATIMS</a:t>
            </a:r>
            <a:endParaRPr lang="en-US" sz="1100" dirty="0"/>
          </a:p>
        </p:txBody>
      </p:sp>
      <p:sp>
        <p:nvSpPr>
          <p:cNvPr id="8" name="Text 6"/>
          <p:cNvSpPr/>
          <p:nvPr/>
        </p:nvSpPr>
        <p:spPr>
          <a:xfrm>
            <a:off x="7223760" y="2468880"/>
            <a:ext cx="4389120" cy="86868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100%</a:t>
            </a:r>
            <a:endParaRPr lang="en-US" sz="6000" dirty="0"/>
          </a:p>
        </p:txBody>
      </p:sp>
      <p:sp>
        <p:nvSpPr>
          <p:cNvPr id="9" name="Text 7"/>
          <p:cNvSpPr/>
          <p:nvPr/>
        </p:nvSpPr>
        <p:spPr>
          <a:xfrm>
            <a:off x="7223760" y="3291840"/>
            <a:ext cx="4389120" cy="274320"/>
          </a:xfrm>
          <a:prstGeom prst="rect">
            <a:avLst/>
          </a:prstGeom>
          <a:noFill/>
          <a:ln/>
        </p:spPr>
        <p:txBody>
          <a:bodyPr wrap="square" lIns="0" tIns="0" rIns="0" bIns="0"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of invoices reviewed manually</a:t>
            </a:r>
            <a:endParaRPr lang="en-US" sz="1000" dirty="0"/>
          </a:p>
        </p:txBody>
      </p:sp>
      <p:sp>
        <p:nvSpPr>
          <p:cNvPr id="10" name="Shape 8"/>
          <p:cNvSpPr/>
          <p:nvPr/>
        </p:nvSpPr>
        <p:spPr>
          <a:xfrm>
            <a:off x="7680960" y="3703320"/>
            <a:ext cx="3474720" cy="0"/>
          </a:xfrm>
          <a:prstGeom prst="line">
            <a:avLst/>
          </a:prstGeom>
          <a:noFill/>
          <a:ln w="9525">
            <a:solidFill>
              <a:srgbClr val="CADCFC"/>
            </a:solidFill>
            <a:prstDash val="solid"/>
          </a:ln>
        </p:spPr>
        <p:txBody>
          <a:bodyPr/>
          <a:lstStyle/>
          <a:p>
            <a:endParaRPr lang="en-US"/>
          </a:p>
        </p:txBody>
      </p:sp>
      <p:sp>
        <p:nvSpPr>
          <p:cNvPr id="11" name="Text 9"/>
          <p:cNvSpPr/>
          <p:nvPr/>
        </p:nvSpPr>
        <p:spPr>
          <a:xfrm>
            <a:off x="7223760" y="3840480"/>
            <a:ext cx="4389120" cy="27432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With ATIMS pipeline</a:t>
            </a:r>
            <a:endParaRPr lang="en-US" sz="1100" dirty="0"/>
          </a:p>
        </p:txBody>
      </p:sp>
      <p:sp>
        <p:nvSpPr>
          <p:cNvPr id="12" name="Text 10"/>
          <p:cNvSpPr/>
          <p:nvPr/>
        </p:nvSpPr>
        <p:spPr>
          <a:xfrm>
            <a:off x="7223760" y="4114800"/>
            <a:ext cx="4389120" cy="868680"/>
          </a:xfrm>
          <a:prstGeom prst="rect">
            <a:avLst/>
          </a:prstGeom>
          <a:noFill/>
          <a:ln/>
        </p:spPr>
        <p:txBody>
          <a:bodyPr wrap="square" lIns="0" tIns="0" rIns="0" bIns="0" rtlCol="0" anchor="ctr"/>
          <a:lstStyle/>
          <a:p>
            <a:pPr marL="0" indent="0" algn="ctr">
              <a:buNone/>
            </a:pPr>
            <a:r>
              <a:rPr lang="en-US" sz="6000" b="1" dirty="0">
                <a:solidFill>
                  <a:srgbClr val="CADCFC"/>
                </a:solidFill>
                <a:latin typeface="Cambria" pitchFamily="34" charset="0"/>
                <a:ea typeface="Cambria" pitchFamily="34" charset="-122"/>
                <a:cs typeface="Cambria" pitchFamily="34" charset="-120"/>
              </a:rPr>
              <a:t>1.1%</a:t>
            </a:r>
            <a:endParaRPr lang="en-US" sz="6000" dirty="0"/>
          </a:p>
        </p:txBody>
      </p:sp>
      <p:sp>
        <p:nvSpPr>
          <p:cNvPr id="13" name="Text 11"/>
          <p:cNvSpPr/>
          <p:nvPr/>
        </p:nvSpPr>
        <p:spPr>
          <a:xfrm>
            <a:off x="7223760" y="4937760"/>
            <a:ext cx="4389120" cy="274320"/>
          </a:xfrm>
          <a:prstGeom prst="rect">
            <a:avLst/>
          </a:prstGeom>
          <a:noFill/>
          <a:ln/>
        </p:spPr>
        <p:txBody>
          <a:bodyPr wrap="square" lIns="0" tIns="0" rIns="0" bIns="0" rtlCol="0" anchor="ctr"/>
          <a:lstStyle/>
          <a:p>
            <a:pPr marL="0" indent="0" algn="ctr">
              <a:buNone/>
            </a:pPr>
            <a:r>
              <a:rPr lang="en-US" sz="1000" i="1" dirty="0">
                <a:solidFill>
                  <a:srgbClr val="CADCFC"/>
                </a:solidFill>
                <a:latin typeface="Calibri" pitchFamily="34" charset="0"/>
                <a:ea typeface="Calibri" pitchFamily="34" charset="-122"/>
                <a:cs typeface="Calibri" pitchFamily="34" charset="-120"/>
              </a:rPr>
              <a:t>routed to analysts for the tough cases</a:t>
            </a:r>
            <a:endParaRPr lang="en-US" sz="1000" dirty="0"/>
          </a:p>
        </p:txBody>
      </p:sp>
      <p:sp>
        <p:nvSpPr>
          <p:cNvPr id="14" name="Text 12"/>
          <p:cNvSpPr/>
          <p:nvPr/>
        </p:nvSpPr>
        <p:spPr>
          <a:xfrm>
            <a:off x="7223760" y="5212080"/>
            <a:ext cx="43891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~89× reduction in analyst intervention</a:t>
            </a:r>
            <a:endParaRPr lang="en-US" sz="1100" dirty="0"/>
          </a:p>
        </p:txBody>
      </p:sp>
      <p:sp>
        <p:nvSpPr>
          <p:cNvPr id="15" name="Text 13"/>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The analyst team goes from tagging every invoice to reviewing only the ambiguous ones — the same team can now cover many multiples of the current invoice volume.</a:t>
            </a:r>
            <a:endParaRPr lang="en-US" sz="1100" dirty="0"/>
          </a:p>
        </p:txBody>
      </p:sp>
      <p:sp>
        <p:nvSpPr>
          <p:cNvPr id="16"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7" name="Text 1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Pipeline Architecture</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Four decision stages, ordered by precision</a:t>
            </a:r>
            <a:endParaRPr lang="en-US" sz="1400" dirty="0"/>
          </a:p>
        </p:txBody>
      </p:sp>
      <p:sp>
        <p:nvSpPr>
          <p:cNvPr id="4" name="Shape 2"/>
          <p:cNvSpPr/>
          <p:nvPr/>
        </p:nvSpPr>
        <p:spPr>
          <a:xfrm>
            <a:off x="45720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5" name="Shape 3"/>
          <p:cNvSpPr/>
          <p:nvPr/>
        </p:nvSpPr>
        <p:spPr>
          <a:xfrm>
            <a:off x="1348740" y="1965960"/>
            <a:ext cx="731520" cy="73152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134874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59436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Rules Engine</a:t>
            </a:r>
            <a:endParaRPr lang="en-US" sz="1500" dirty="0"/>
          </a:p>
        </p:txBody>
      </p:sp>
      <p:sp>
        <p:nvSpPr>
          <p:cNvPr id="8" name="Text 6"/>
          <p:cNvSpPr/>
          <p:nvPr/>
        </p:nvSpPr>
        <p:spPr>
          <a:xfrm>
            <a:off x="64008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Deterministic keyword, vendor, EXTC/MIC and Parker-Volpe rules</a:t>
            </a:r>
            <a:endParaRPr lang="en-US" sz="1100" dirty="0"/>
          </a:p>
        </p:txBody>
      </p:sp>
      <p:sp>
        <p:nvSpPr>
          <p:cNvPr id="9" name="Text 7"/>
          <p:cNvSpPr/>
          <p:nvPr/>
        </p:nvSpPr>
        <p:spPr>
          <a:xfrm>
            <a:off x="594360" y="4251960"/>
            <a:ext cx="2240280" cy="27432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75.0% of invoices</a:t>
            </a:r>
            <a:endParaRPr lang="en-US" sz="1100" dirty="0"/>
          </a:p>
        </p:txBody>
      </p:sp>
      <p:sp>
        <p:nvSpPr>
          <p:cNvPr id="10" name="Text 8"/>
          <p:cNvSpPr/>
          <p:nvPr/>
        </p:nvSpPr>
        <p:spPr>
          <a:xfrm>
            <a:off x="59436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High precision</a:t>
            </a:r>
            <a:endParaRPr lang="en-US" sz="1000" dirty="0"/>
          </a:p>
        </p:txBody>
      </p:sp>
      <p:sp>
        <p:nvSpPr>
          <p:cNvPr id="11" name="Shape 9"/>
          <p:cNvSpPr/>
          <p:nvPr/>
        </p:nvSpPr>
        <p:spPr>
          <a:xfrm>
            <a:off x="324612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12" name="Shape 10"/>
          <p:cNvSpPr/>
          <p:nvPr/>
        </p:nvSpPr>
        <p:spPr>
          <a:xfrm>
            <a:off x="4137660" y="1965960"/>
            <a:ext cx="731520" cy="731520"/>
          </a:xfrm>
          <a:prstGeom prst="ellipse">
            <a:avLst/>
          </a:prstGeom>
          <a:solidFill>
            <a:srgbClr val="3D5A80"/>
          </a:solidFill>
          <a:ln w="12700">
            <a:solidFill>
              <a:srgbClr val="3D5A80"/>
            </a:solidFill>
            <a:prstDash val="solid"/>
          </a:ln>
        </p:spPr>
        <p:txBody>
          <a:bodyPr/>
          <a:lstStyle/>
          <a:p>
            <a:endParaRPr lang="en-US"/>
          </a:p>
        </p:txBody>
      </p:sp>
      <p:sp>
        <p:nvSpPr>
          <p:cNvPr id="13" name="Text 11"/>
          <p:cNvSpPr/>
          <p:nvPr/>
        </p:nvSpPr>
        <p:spPr>
          <a:xfrm>
            <a:off x="413766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4" name="Text 12"/>
          <p:cNvSpPr/>
          <p:nvPr/>
        </p:nvSpPr>
        <p:spPr>
          <a:xfrm>
            <a:off x="338328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ML Ensemble</a:t>
            </a:r>
            <a:endParaRPr lang="en-US" sz="1500" dirty="0"/>
          </a:p>
        </p:txBody>
      </p:sp>
      <p:sp>
        <p:nvSpPr>
          <p:cNvPr id="15" name="Text 13"/>
          <p:cNvSpPr/>
          <p:nvPr/>
        </p:nvSpPr>
        <p:spPr>
          <a:xfrm>
            <a:off x="342900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XGBoost + LightGBM on TF-IDF text + structured features</a:t>
            </a:r>
            <a:endParaRPr lang="en-US" sz="1100" dirty="0"/>
          </a:p>
        </p:txBody>
      </p:sp>
      <p:sp>
        <p:nvSpPr>
          <p:cNvPr id="16" name="Text 14"/>
          <p:cNvSpPr/>
          <p:nvPr/>
        </p:nvSpPr>
        <p:spPr>
          <a:xfrm>
            <a:off x="3383280" y="4251960"/>
            <a:ext cx="2240280" cy="274320"/>
          </a:xfrm>
          <a:prstGeom prst="rect">
            <a:avLst/>
          </a:prstGeom>
          <a:noFill/>
          <a:ln/>
        </p:spPr>
        <p:txBody>
          <a:bodyPr wrap="square" lIns="0" tIns="0" rIns="0" bIns="0" rtlCol="0" anchor="ctr"/>
          <a:lstStyle/>
          <a:p>
            <a:pPr marL="0" indent="0" algn="ctr">
              <a:buNone/>
            </a:pPr>
            <a:r>
              <a:rPr lang="en-US" sz="1100" b="1" dirty="0">
                <a:solidFill>
                  <a:srgbClr val="3D5A80"/>
                </a:solidFill>
                <a:latin typeface="Calibri" pitchFamily="34" charset="0"/>
                <a:ea typeface="Calibri" pitchFamily="34" charset="-122"/>
                <a:cs typeface="Calibri" pitchFamily="34" charset="-120"/>
              </a:rPr>
              <a:t>5.8% of invoices</a:t>
            </a:r>
            <a:endParaRPr lang="en-US" sz="1100" dirty="0"/>
          </a:p>
        </p:txBody>
      </p:sp>
      <p:sp>
        <p:nvSpPr>
          <p:cNvPr id="17" name="Text 15"/>
          <p:cNvSpPr/>
          <p:nvPr/>
        </p:nvSpPr>
        <p:spPr>
          <a:xfrm>
            <a:off x="338328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Threshold-gated</a:t>
            </a:r>
            <a:endParaRPr lang="en-US" sz="1000" dirty="0"/>
          </a:p>
        </p:txBody>
      </p:sp>
      <p:sp>
        <p:nvSpPr>
          <p:cNvPr id="18" name="Shape 16"/>
          <p:cNvSpPr/>
          <p:nvPr/>
        </p:nvSpPr>
        <p:spPr>
          <a:xfrm>
            <a:off x="603504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19" name="Shape 17"/>
          <p:cNvSpPr/>
          <p:nvPr/>
        </p:nvSpPr>
        <p:spPr>
          <a:xfrm>
            <a:off x="6926580" y="1965960"/>
            <a:ext cx="731520" cy="731520"/>
          </a:xfrm>
          <a:prstGeom prst="ellipse">
            <a:avLst/>
          </a:prstGeom>
          <a:solidFill>
            <a:srgbClr val="6C89B8"/>
          </a:solidFill>
          <a:ln w="12700">
            <a:solidFill>
              <a:srgbClr val="6C89B8"/>
            </a:solidFill>
            <a:prstDash val="solid"/>
          </a:ln>
        </p:spPr>
        <p:txBody>
          <a:bodyPr/>
          <a:lstStyle/>
          <a:p>
            <a:endParaRPr lang="en-US"/>
          </a:p>
        </p:txBody>
      </p:sp>
      <p:sp>
        <p:nvSpPr>
          <p:cNvPr id="20" name="Text 18"/>
          <p:cNvSpPr/>
          <p:nvPr/>
        </p:nvSpPr>
        <p:spPr>
          <a:xfrm>
            <a:off x="692658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21" name="Text 19"/>
          <p:cNvSpPr/>
          <p:nvPr/>
        </p:nvSpPr>
        <p:spPr>
          <a:xfrm>
            <a:off x="617220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LLM + RAG</a:t>
            </a:r>
            <a:endParaRPr lang="en-US" sz="1500" dirty="0"/>
          </a:p>
        </p:txBody>
      </p:sp>
      <p:sp>
        <p:nvSpPr>
          <p:cNvPr id="22" name="Text 20"/>
          <p:cNvSpPr/>
          <p:nvPr/>
        </p:nvSpPr>
        <p:spPr>
          <a:xfrm>
            <a:off x="621792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LangGraph agent with GTE-Large retrieval over labeled corpus</a:t>
            </a:r>
            <a:endParaRPr lang="en-US" sz="1100" dirty="0"/>
          </a:p>
        </p:txBody>
      </p:sp>
      <p:sp>
        <p:nvSpPr>
          <p:cNvPr id="23" name="Text 21"/>
          <p:cNvSpPr/>
          <p:nvPr/>
        </p:nvSpPr>
        <p:spPr>
          <a:xfrm>
            <a:off x="6172200" y="4251960"/>
            <a:ext cx="2240280" cy="274320"/>
          </a:xfrm>
          <a:prstGeom prst="rect">
            <a:avLst/>
          </a:prstGeom>
          <a:noFill/>
          <a:ln/>
        </p:spPr>
        <p:txBody>
          <a:bodyPr wrap="square" lIns="0" tIns="0" rIns="0" bIns="0" rtlCol="0" anchor="ctr"/>
          <a:lstStyle/>
          <a:p>
            <a:pPr marL="0" indent="0" algn="ctr">
              <a:buNone/>
            </a:pPr>
            <a:r>
              <a:rPr lang="en-US" sz="1100" b="1" dirty="0">
                <a:solidFill>
                  <a:srgbClr val="6C89B8"/>
                </a:solidFill>
                <a:latin typeface="Calibri" pitchFamily="34" charset="0"/>
                <a:ea typeface="Calibri" pitchFamily="34" charset="-122"/>
                <a:cs typeface="Calibri" pitchFamily="34" charset="-120"/>
              </a:rPr>
              <a:t>Ambiguous cases</a:t>
            </a:r>
            <a:endParaRPr lang="en-US" sz="1100" dirty="0"/>
          </a:p>
        </p:txBody>
      </p:sp>
      <p:sp>
        <p:nvSpPr>
          <p:cNvPr id="24" name="Text 22"/>
          <p:cNvSpPr/>
          <p:nvPr/>
        </p:nvSpPr>
        <p:spPr>
          <a:xfrm>
            <a:off x="617220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+62 pp lift</a:t>
            </a:r>
            <a:endParaRPr lang="en-US" sz="1000" dirty="0"/>
          </a:p>
        </p:txBody>
      </p:sp>
      <p:sp>
        <p:nvSpPr>
          <p:cNvPr id="25" name="Shape 23"/>
          <p:cNvSpPr/>
          <p:nvPr/>
        </p:nvSpPr>
        <p:spPr>
          <a:xfrm>
            <a:off x="8823960" y="1737360"/>
            <a:ext cx="2514600" cy="3200400"/>
          </a:xfrm>
          <a:prstGeom prst="roundRect">
            <a:avLst>
              <a:gd name="adj" fmla="val 2909"/>
            </a:avLst>
          </a:prstGeom>
          <a:solidFill>
            <a:srgbClr val="FFFFFF"/>
          </a:solidFill>
          <a:ln w="6350">
            <a:solidFill>
              <a:srgbClr val="D6DDE8"/>
            </a:solidFill>
            <a:prstDash val="solid"/>
          </a:ln>
        </p:spPr>
        <p:txBody>
          <a:bodyPr/>
          <a:lstStyle/>
          <a:p>
            <a:endParaRPr lang="en-US"/>
          </a:p>
        </p:txBody>
      </p:sp>
      <p:sp>
        <p:nvSpPr>
          <p:cNvPr id="26" name="Shape 24"/>
          <p:cNvSpPr/>
          <p:nvPr/>
        </p:nvSpPr>
        <p:spPr>
          <a:xfrm>
            <a:off x="9715500" y="1965960"/>
            <a:ext cx="731520" cy="731520"/>
          </a:xfrm>
          <a:prstGeom prst="ellipse">
            <a:avLst/>
          </a:prstGeom>
          <a:solidFill>
            <a:srgbClr val="5A6472"/>
          </a:solidFill>
          <a:ln w="12700">
            <a:solidFill>
              <a:srgbClr val="5A6472"/>
            </a:solidFill>
            <a:prstDash val="solid"/>
          </a:ln>
        </p:spPr>
        <p:txBody>
          <a:bodyPr/>
          <a:lstStyle/>
          <a:p>
            <a:endParaRPr lang="en-US"/>
          </a:p>
        </p:txBody>
      </p:sp>
      <p:sp>
        <p:nvSpPr>
          <p:cNvPr id="27" name="Text 25"/>
          <p:cNvSpPr/>
          <p:nvPr/>
        </p:nvSpPr>
        <p:spPr>
          <a:xfrm>
            <a:off x="9715500" y="196596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4</a:t>
            </a:r>
            <a:endParaRPr lang="en-US" sz="2800" dirty="0"/>
          </a:p>
        </p:txBody>
      </p:sp>
      <p:sp>
        <p:nvSpPr>
          <p:cNvPr id="28" name="Text 26"/>
          <p:cNvSpPr/>
          <p:nvPr/>
        </p:nvSpPr>
        <p:spPr>
          <a:xfrm>
            <a:off x="8961120" y="2788920"/>
            <a:ext cx="2240280" cy="365760"/>
          </a:xfrm>
          <a:prstGeom prst="rect">
            <a:avLst/>
          </a:prstGeom>
          <a:noFill/>
          <a:ln/>
        </p:spPr>
        <p:txBody>
          <a:bodyPr wrap="square" lIns="0" tIns="0" rIns="0" bIns="0" rtlCol="0" anchor="ctr"/>
          <a:lstStyle/>
          <a:p>
            <a:pPr marL="0" indent="0" algn="ctr">
              <a:buNone/>
            </a:pPr>
            <a:r>
              <a:rPr lang="en-US" sz="1500" b="1" dirty="0">
                <a:solidFill>
                  <a:srgbClr val="1A1A2E"/>
                </a:solidFill>
                <a:latin typeface="Cambria" pitchFamily="34" charset="0"/>
                <a:ea typeface="Cambria" pitchFamily="34" charset="-122"/>
                <a:cs typeface="Cambria" pitchFamily="34" charset="-120"/>
              </a:rPr>
              <a:t>Human Review</a:t>
            </a:r>
            <a:endParaRPr lang="en-US" sz="1500" dirty="0"/>
          </a:p>
        </p:txBody>
      </p:sp>
      <p:sp>
        <p:nvSpPr>
          <p:cNvPr id="29" name="Text 27"/>
          <p:cNvSpPr/>
          <p:nvPr/>
        </p:nvSpPr>
        <p:spPr>
          <a:xfrm>
            <a:off x="9006840" y="3200400"/>
            <a:ext cx="2148840" cy="109728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Fallback for low-confidence predictions</a:t>
            </a:r>
            <a:endParaRPr lang="en-US" sz="1100" dirty="0"/>
          </a:p>
        </p:txBody>
      </p:sp>
      <p:sp>
        <p:nvSpPr>
          <p:cNvPr id="30" name="Text 28"/>
          <p:cNvSpPr/>
          <p:nvPr/>
        </p:nvSpPr>
        <p:spPr>
          <a:xfrm>
            <a:off x="8961120" y="4251960"/>
            <a:ext cx="2240280" cy="274320"/>
          </a:xfrm>
          <a:prstGeom prst="rect">
            <a:avLst/>
          </a:prstGeom>
          <a:noFill/>
          <a:ln/>
        </p:spPr>
        <p:txBody>
          <a:bodyPr wrap="square" lIns="0" tIns="0" rIns="0" bIns="0" rtlCol="0" anchor="ctr"/>
          <a:lstStyle/>
          <a:p>
            <a:pPr marL="0" indent="0" algn="ctr">
              <a:buNone/>
            </a:pPr>
            <a:r>
              <a:rPr lang="en-US" sz="1100" b="1" dirty="0">
                <a:solidFill>
                  <a:srgbClr val="5A6472"/>
                </a:solidFill>
                <a:latin typeface="Calibri" pitchFamily="34" charset="0"/>
                <a:ea typeface="Calibri" pitchFamily="34" charset="-122"/>
                <a:cs typeface="Calibri" pitchFamily="34" charset="-120"/>
              </a:rPr>
              <a:t>1.1% of invoices</a:t>
            </a:r>
            <a:endParaRPr lang="en-US" sz="1100" dirty="0"/>
          </a:p>
        </p:txBody>
      </p:sp>
      <p:sp>
        <p:nvSpPr>
          <p:cNvPr id="31" name="Text 29"/>
          <p:cNvSpPr/>
          <p:nvPr/>
        </p:nvSpPr>
        <p:spPr>
          <a:xfrm>
            <a:off x="8961120" y="4526280"/>
            <a:ext cx="2240280" cy="27432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Analyst decides</a:t>
            </a:r>
            <a:endParaRPr lang="en-US" sz="1000" dirty="0"/>
          </a:p>
        </p:txBody>
      </p:sp>
      <p:sp>
        <p:nvSpPr>
          <p:cNvPr id="32" name="Shape 30"/>
          <p:cNvSpPr/>
          <p:nvPr/>
        </p:nvSpPr>
        <p:spPr>
          <a:xfrm>
            <a:off x="295351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3" name="Shape 31"/>
          <p:cNvSpPr/>
          <p:nvPr/>
        </p:nvSpPr>
        <p:spPr>
          <a:xfrm>
            <a:off x="574243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4" name="Shape 32"/>
          <p:cNvSpPr/>
          <p:nvPr/>
        </p:nvSpPr>
        <p:spPr>
          <a:xfrm>
            <a:off x="8531352" y="3200400"/>
            <a:ext cx="310896" cy="274320"/>
          </a:xfrm>
          <a:prstGeom prst="rightArrow">
            <a:avLst/>
          </a:prstGeom>
          <a:solidFill>
            <a:srgbClr val="3D5A80"/>
          </a:solidFill>
          <a:ln w="12700">
            <a:solidFill>
              <a:srgbClr val="3D5A80"/>
            </a:solidFill>
            <a:prstDash val="solid"/>
          </a:ln>
        </p:spPr>
        <p:txBody>
          <a:bodyPr/>
          <a:lstStyle/>
          <a:p>
            <a:endParaRPr lang="en-US"/>
          </a:p>
        </p:txBody>
      </p:sp>
      <p:sp>
        <p:nvSpPr>
          <p:cNvPr id="35" name="Text 33"/>
          <p:cNvSpPr/>
          <p:nvPr/>
        </p:nvSpPr>
        <p:spPr>
          <a:xfrm>
            <a:off x="457200" y="5212080"/>
            <a:ext cx="11247120" cy="822960"/>
          </a:xfrm>
          <a:prstGeom prst="rect">
            <a:avLst/>
          </a:prstGeom>
          <a:noFill/>
          <a:ln/>
        </p:spPr>
        <p:txBody>
          <a:bodyPr wrap="square" lIns="0" tIns="0" rIns="0" bIns="0" rtlCol="0" anchor="ctr"/>
          <a:lstStyle/>
          <a:p>
            <a:pPr marL="0" indent="0" algn="ctr">
              <a:buNone/>
            </a:pPr>
            <a:r>
              <a:rPr lang="en-US" sz="1300" i="1" dirty="0">
                <a:solidFill>
                  <a:srgbClr val="1A1A2E"/>
                </a:solidFill>
                <a:latin typeface="Calibri" pitchFamily="34" charset="0"/>
                <a:ea typeface="Calibri" pitchFamily="34" charset="-122"/>
                <a:cs typeface="Calibri" pitchFamily="34" charset="-120"/>
              </a:rPr>
              <a:t>Each stage handles what the next-tier stage cannot. Confidence thresholds gate escalation — a low-confidence LLM answer routes to human review, not to a wrong tag.</a:t>
            </a:r>
            <a:endParaRPr lang="en-US" sz="1300" dirty="0"/>
          </a:p>
        </p:txBody>
      </p:sp>
      <p:sp>
        <p:nvSpPr>
          <p:cNvPr id="36" name="Text 3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37" name="Text 3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We Evaluated</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Three-part methodology, honest measurement</a:t>
            </a:r>
            <a:endParaRPr lang="en-US" sz="1400" dirty="0"/>
          </a:p>
        </p:txBody>
      </p:sp>
      <p:sp>
        <p:nvSpPr>
          <p:cNvPr id="4" name="Shape 2"/>
          <p:cNvSpPr/>
          <p:nvPr/>
        </p:nvSpPr>
        <p:spPr>
          <a:xfrm>
            <a:off x="4572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5" name="Shape 3"/>
          <p:cNvSpPr/>
          <p:nvPr/>
        </p:nvSpPr>
        <p:spPr>
          <a:xfrm>
            <a:off x="685800" y="1828800"/>
            <a:ext cx="502920" cy="502920"/>
          </a:xfrm>
          <a:prstGeom prst="ellipse">
            <a:avLst/>
          </a:prstGeom>
          <a:solidFill>
            <a:srgbClr val="1E2761"/>
          </a:solidFill>
          <a:ln w="12700">
            <a:solidFill>
              <a:srgbClr val="1E2761"/>
            </a:solidFill>
            <a:prstDash val="solid"/>
          </a:ln>
        </p:spPr>
        <p:txBody>
          <a:bodyPr/>
          <a:lstStyle/>
          <a:p>
            <a:endParaRPr lang="en-US"/>
          </a:p>
        </p:txBody>
      </p:sp>
      <p:sp>
        <p:nvSpPr>
          <p:cNvPr id="6" name="Text 4"/>
          <p:cNvSpPr/>
          <p:nvPr/>
        </p:nvSpPr>
        <p:spPr>
          <a:xfrm>
            <a:off x="6858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3258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The Dataset</a:t>
            </a:r>
            <a:endParaRPr lang="en-US" sz="1800" dirty="0"/>
          </a:p>
        </p:txBody>
      </p:sp>
      <p:sp>
        <p:nvSpPr>
          <p:cNvPr id="8" name="Text 6"/>
          <p:cNvSpPr/>
          <p:nvPr/>
        </p:nvSpPr>
        <p:spPr>
          <a:xfrm>
            <a:off x="7315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24 months of historical ATIMS invoices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~640,000 records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89 tax categories</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Realistic class imbalance</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Ground truth: analyst-approved ACCOUNT_CODE</a:t>
            </a:r>
            <a:endParaRPr lang="en-US" sz="1200" dirty="0"/>
          </a:p>
        </p:txBody>
      </p:sp>
      <p:sp>
        <p:nvSpPr>
          <p:cNvPr id="9" name="Shape 7"/>
          <p:cNvSpPr/>
          <p:nvPr/>
        </p:nvSpPr>
        <p:spPr>
          <a:xfrm>
            <a:off x="43434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10" name="Shape 8"/>
          <p:cNvSpPr/>
          <p:nvPr/>
        </p:nvSpPr>
        <p:spPr>
          <a:xfrm>
            <a:off x="4572000" y="1828800"/>
            <a:ext cx="502920" cy="502920"/>
          </a:xfrm>
          <a:prstGeom prst="ellipse">
            <a:avLst/>
          </a:prstGeom>
          <a:solidFill>
            <a:srgbClr val="3D5A80"/>
          </a:solidFill>
          <a:ln w="12700">
            <a:solidFill>
              <a:srgbClr val="3D5A80"/>
            </a:solidFill>
            <a:prstDash val="solid"/>
          </a:ln>
        </p:spPr>
        <p:txBody>
          <a:bodyPr/>
          <a:lstStyle/>
          <a:p>
            <a:endParaRPr lang="en-US"/>
          </a:p>
        </p:txBody>
      </p:sp>
      <p:sp>
        <p:nvSpPr>
          <p:cNvPr id="11" name="Text 9"/>
          <p:cNvSpPr/>
          <p:nvPr/>
        </p:nvSpPr>
        <p:spPr>
          <a:xfrm>
            <a:off x="45720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52120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8 Pipeline Configs</a:t>
            </a:r>
            <a:endParaRPr lang="en-US" sz="1800" dirty="0"/>
          </a:p>
        </p:txBody>
      </p:sp>
      <p:sp>
        <p:nvSpPr>
          <p:cNvPr id="13" name="Text 11"/>
          <p:cNvSpPr/>
          <p:nvPr/>
        </p:nvSpPr>
        <p:spPr>
          <a:xfrm>
            <a:off x="46177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XGBoost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LightGBM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ML Ensemble (XGB+LGB)</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LLM + RAG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only</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ML  (production)</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LLM</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Rules + LLM + ML (three-way)</a:t>
            </a:r>
            <a:endParaRPr lang="en-US" sz="1200" dirty="0"/>
          </a:p>
        </p:txBody>
      </p:sp>
      <p:sp>
        <p:nvSpPr>
          <p:cNvPr id="14" name="Shape 12"/>
          <p:cNvSpPr/>
          <p:nvPr/>
        </p:nvSpPr>
        <p:spPr>
          <a:xfrm>
            <a:off x="8229600" y="1600200"/>
            <a:ext cx="3749040" cy="4206240"/>
          </a:xfrm>
          <a:prstGeom prst="roundRect">
            <a:avLst>
              <a:gd name="adj" fmla="val 1951"/>
            </a:avLst>
          </a:prstGeom>
          <a:solidFill>
            <a:srgbClr val="FFFFFF"/>
          </a:solidFill>
          <a:ln w="6350">
            <a:solidFill>
              <a:srgbClr val="D6DDE8"/>
            </a:solidFill>
            <a:prstDash val="solid"/>
          </a:ln>
        </p:spPr>
        <p:txBody>
          <a:bodyPr/>
          <a:lstStyle/>
          <a:p>
            <a:endParaRPr lang="en-US"/>
          </a:p>
        </p:txBody>
      </p:sp>
      <p:sp>
        <p:nvSpPr>
          <p:cNvPr id="15" name="Shape 13"/>
          <p:cNvSpPr/>
          <p:nvPr/>
        </p:nvSpPr>
        <p:spPr>
          <a:xfrm>
            <a:off x="8458200" y="1828800"/>
            <a:ext cx="502920" cy="502920"/>
          </a:xfrm>
          <a:prstGeom prst="ellipse">
            <a:avLst/>
          </a:prstGeom>
          <a:solidFill>
            <a:srgbClr val="6C89B8"/>
          </a:solidFill>
          <a:ln w="12700">
            <a:solidFill>
              <a:srgbClr val="6C89B8"/>
            </a:solidFill>
            <a:prstDash val="solid"/>
          </a:ln>
        </p:spPr>
        <p:txBody>
          <a:bodyPr/>
          <a:lstStyle/>
          <a:p>
            <a:endParaRPr lang="en-US"/>
          </a:p>
        </p:txBody>
      </p:sp>
      <p:sp>
        <p:nvSpPr>
          <p:cNvPr id="16" name="Text 14"/>
          <p:cNvSpPr/>
          <p:nvPr/>
        </p:nvSpPr>
        <p:spPr>
          <a:xfrm>
            <a:off x="84582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9098280" y="1874520"/>
            <a:ext cx="2743200" cy="457200"/>
          </a:xfrm>
          <a:prstGeom prst="rect">
            <a:avLst/>
          </a:prstGeom>
          <a:noFill/>
          <a:ln/>
        </p:spPr>
        <p:txBody>
          <a:bodyPr wrap="square" lIns="0" tIns="0" rIns="0" bIns="0" rtlCol="0" anchor="ctr"/>
          <a:lstStyle/>
          <a:p>
            <a:pPr marL="0" indent="0">
              <a:buNone/>
            </a:pPr>
            <a:r>
              <a:rPr lang="en-US" sz="1800" b="1" dirty="0">
                <a:solidFill>
                  <a:srgbClr val="1A1A2E"/>
                </a:solidFill>
                <a:latin typeface="Cambria" pitchFamily="34" charset="0"/>
                <a:ea typeface="Cambria" pitchFamily="34" charset="-122"/>
                <a:cs typeface="Cambria" pitchFamily="34" charset="-120"/>
              </a:rPr>
              <a:t>Metrics Reported</a:t>
            </a:r>
            <a:endParaRPr lang="en-US" sz="1800" dirty="0"/>
          </a:p>
        </p:txBody>
      </p:sp>
      <p:sp>
        <p:nvSpPr>
          <p:cNvPr id="18" name="Text 16"/>
          <p:cNvSpPr/>
          <p:nvPr/>
        </p:nvSpPr>
        <p:spPr>
          <a:xfrm>
            <a:off x="8503920" y="2560320"/>
            <a:ext cx="3291840" cy="3108960"/>
          </a:xfrm>
          <a:prstGeom prst="rect">
            <a:avLst/>
          </a:prstGeom>
          <a:noFill/>
          <a:ln/>
        </p:spPr>
        <p:txBody>
          <a:bodyPr wrap="square" lIns="0" tIns="0" rIns="0" bIns="0"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Accuracy, weighted F1, macro F1</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Per-class precision/recall</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Confusion matrix (top-K)</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Confidence calibration (ECE)</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Slice performance (cluster, vendor, EXTC, amount)</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Rule vs ML vs LLM head-to-head</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Runtime &amp; throughput</a:t>
            </a:r>
            <a:endParaRPr lang="en-US" sz="1200" dirty="0"/>
          </a:p>
        </p:txBody>
      </p:sp>
      <p:sp>
        <p:nvSpPr>
          <p:cNvPr id="19" name="Text 17"/>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Same code that generated this report runs monthly against the ATIMS Delta table — one Databricks widget swaps eval window.</a:t>
            </a:r>
            <a:endParaRPr lang="en-US" sz="12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1" name="Text 1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Model Comparison: All 8 Configurations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Rules + ML wins on overall accuracy; LLM shows separately</a:t>
            </a:r>
            <a:endParaRPr lang="en-US" sz="1400" dirty="0"/>
          </a:p>
        </p:txBody>
      </p:sp>
      <p:graphicFrame>
        <p:nvGraphicFramePr>
          <p:cNvPr id="4" name="Chart 0"/>
          <p:cNvGraphicFramePr/>
          <p:nvPr/>
        </p:nvGraphicFramePr>
        <p:xfrm>
          <a:off x="457200" y="1417320"/>
          <a:ext cx="77724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03920" y="1508760"/>
            <a:ext cx="3200400" cy="1371600"/>
          </a:xfrm>
          <a:prstGeom prst="roundRect">
            <a:avLst>
              <a:gd name="adj" fmla="val 5333"/>
            </a:avLst>
          </a:prstGeom>
          <a:solidFill>
            <a:srgbClr val="1E2761"/>
          </a:solidFill>
          <a:ln w="12700">
            <a:solidFill>
              <a:srgbClr val="1E2761"/>
            </a:solidFill>
            <a:prstDash val="solid"/>
          </a:ln>
        </p:spPr>
        <p:txBody>
          <a:bodyPr/>
          <a:lstStyle/>
          <a:p>
            <a:endParaRPr lang="en-US"/>
          </a:p>
        </p:txBody>
      </p:sp>
      <p:sp>
        <p:nvSpPr>
          <p:cNvPr id="6" name="Text 3"/>
          <p:cNvSpPr/>
          <p:nvPr/>
        </p:nvSpPr>
        <p:spPr>
          <a:xfrm>
            <a:off x="8641080" y="1645920"/>
            <a:ext cx="2926080" cy="274320"/>
          </a:xfrm>
          <a:prstGeom prst="rect">
            <a:avLst/>
          </a:prstGeom>
          <a:noFill/>
          <a:ln/>
        </p:spPr>
        <p:txBody>
          <a:bodyPr wrap="square" lIns="0" tIns="0" rIns="0" bIns="0" rtlCol="0" anchor="ctr"/>
          <a:lstStyle/>
          <a:p>
            <a:pPr marL="0" indent="0">
              <a:buNone/>
            </a:pPr>
            <a:r>
              <a:rPr lang="en-US" sz="1000" b="1" kern="0" spc="400" dirty="0">
                <a:solidFill>
                  <a:srgbClr val="CADCFC"/>
                </a:solidFill>
                <a:latin typeface="Calibri" pitchFamily="34" charset="0"/>
                <a:ea typeface="Calibri" pitchFamily="34" charset="-122"/>
                <a:cs typeface="Calibri" pitchFamily="34" charset="-120"/>
              </a:rPr>
              <a:t>Winner</a:t>
            </a:r>
            <a:endParaRPr lang="en-US" sz="1000" dirty="0"/>
          </a:p>
        </p:txBody>
      </p:sp>
      <p:sp>
        <p:nvSpPr>
          <p:cNvPr id="7" name="Text 4"/>
          <p:cNvSpPr/>
          <p:nvPr/>
        </p:nvSpPr>
        <p:spPr>
          <a:xfrm>
            <a:off x="8641080" y="1920240"/>
            <a:ext cx="292608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Rules + LLM + ML</a:t>
            </a:r>
            <a:endParaRPr lang="en-US" sz="2000" dirty="0"/>
          </a:p>
        </p:txBody>
      </p:sp>
      <p:sp>
        <p:nvSpPr>
          <p:cNvPr id="8" name="Text 5"/>
          <p:cNvSpPr/>
          <p:nvPr/>
        </p:nvSpPr>
        <p:spPr>
          <a:xfrm>
            <a:off x="8641080" y="2377440"/>
            <a:ext cx="2926080" cy="45720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91.75% accuracy at 98.9% coverage — beats current production by 3.2 pp</a:t>
            </a:r>
            <a:endParaRPr lang="en-US" sz="1000" dirty="0"/>
          </a:p>
        </p:txBody>
      </p:sp>
      <p:sp>
        <p:nvSpPr>
          <p:cNvPr id="9" name="Shape 6"/>
          <p:cNvSpPr/>
          <p:nvPr/>
        </p:nvSpPr>
        <p:spPr>
          <a:xfrm>
            <a:off x="8503920" y="3063240"/>
            <a:ext cx="3200400" cy="1371600"/>
          </a:xfrm>
          <a:prstGeom prst="roundRect">
            <a:avLst>
              <a:gd name="adj" fmla="val 5333"/>
            </a:avLst>
          </a:prstGeom>
          <a:solidFill>
            <a:srgbClr val="FFFFFF"/>
          </a:solidFill>
          <a:ln w="6350">
            <a:solidFill>
              <a:srgbClr val="D6DDE8"/>
            </a:solidFill>
            <a:prstDash val="solid"/>
          </a:ln>
        </p:spPr>
        <p:txBody>
          <a:bodyPr/>
          <a:lstStyle/>
          <a:p>
            <a:endParaRPr lang="en-US"/>
          </a:p>
        </p:txBody>
      </p:sp>
      <p:sp>
        <p:nvSpPr>
          <p:cNvPr id="10" name="Text 7"/>
          <p:cNvSpPr/>
          <p:nvPr/>
        </p:nvSpPr>
        <p:spPr>
          <a:xfrm>
            <a:off x="8641080" y="3200400"/>
            <a:ext cx="2926080" cy="274320"/>
          </a:xfrm>
          <a:prstGeom prst="rect">
            <a:avLst/>
          </a:prstGeom>
          <a:noFill/>
          <a:ln/>
        </p:spPr>
        <p:txBody>
          <a:bodyPr wrap="square" lIns="0" tIns="0" rIns="0" bIns="0" rtlCol="0" anchor="ctr"/>
          <a:lstStyle/>
          <a:p>
            <a:pPr marL="0" indent="0">
              <a:buNone/>
            </a:pPr>
            <a:r>
              <a:rPr lang="en-US" sz="1000" b="1" kern="0" spc="400" dirty="0">
                <a:solidFill>
                  <a:srgbClr val="3D5A80"/>
                </a:solidFill>
                <a:latin typeface="Calibri" pitchFamily="34" charset="0"/>
                <a:ea typeface="Calibri" pitchFamily="34" charset="-122"/>
                <a:cs typeface="Calibri" pitchFamily="34" charset="-120"/>
              </a:rPr>
              <a:t>Baseline</a:t>
            </a:r>
            <a:endParaRPr lang="en-US" sz="1000" dirty="0"/>
          </a:p>
        </p:txBody>
      </p:sp>
      <p:sp>
        <p:nvSpPr>
          <p:cNvPr id="11" name="Text 8"/>
          <p:cNvSpPr/>
          <p:nvPr/>
        </p:nvSpPr>
        <p:spPr>
          <a:xfrm>
            <a:off x="8641080" y="3474720"/>
            <a:ext cx="2926080" cy="457200"/>
          </a:xfrm>
          <a:prstGeom prst="rect">
            <a:avLst/>
          </a:prstGeom>
          <a:noFill/>
          <a:ln/>
        </p:spPr>
        <p:txBody>
          <a:bodyPr wrap="square" lIns="0" tIns="0" rIns="0" bIns="0" rtlCol="0" anchor="ctr"/>
          <a:lstStyle/>
          <a:p>
            <a:pPr marL="0" indent="0">
              <a:buNone/>
            </a:pPr>
            <a:r>
              <a:rPr lang="en-US" sz="2000" b="1" dirty="0">
                <a:solidFill>
                  <a:srgbClr val="1A1A2E"/>
                </a:solidFill>
                <a:latin typeface="Cambria" pitchFamily="34" charset="0"/>
                <a:ea typeface="Cambria" pitchFamily="34" charset="-122"/>
                <a:cs typeface="Cambria" pitchFamily="34" charset="-120"/>
              </a:rPr>
              <a:t>Rules + ML: 88.5%</a:t>
            </a:r>
            <a:endParaRPr lang="en-US" sz="2000" dirty="0"/>
          </a:p>
        </p:txBody>
      </p:sp>
      <p:sp>
        <p:nvSpPr>
          <p:cNvPr id="12" name="Text 9"/>
          <p:cNvSpPr/>
          <p:nvPr/>
        </p:nvSpPr>
        <p:spPr>
          <a:xfrm>
            <a:off x="8641080" y="3886200"/>
            <a:ext cx="2926080" cy="50292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Current production configuration — solid, but leaves accuracy on the table</a:t>
            </a:r>
            <a:endParaRPr lang="en-US" sz="1000" dirty="0"/>
          </a:p>
        </p:txBody>
      </p:sp>
      <p:sp>
        <p:nvSpPr>
          <p:cNvPr id="13" name="Shape 10"/>
          <p:cNvSpPr/>
          <p:nvPr/>
        </p:nvSpPr>
        <p:spPr>
          <a:xfrm>
            <a:off x="8503920" y="4617720"/>
            <a:ext cx="3200400" cy="1280160"/>
          </a:xfrm>
          <a:prstGeom prst="roundRect">
            <a:avLst>
              <a:gd name="adj" fmla="val 5714"/>
            </a:avLst>
          </a:prstGeom>
          <a:solidFill>
            <a:srgbClr val="FFFFFF"/>
          </a:solidFill>
          <a:ln w="6350">
            <a:solidFill>
              <a:srgbClr val="D6DDE8"/>
            </a:solidFill>
            <a:prstDash val="solid"/>
          </a:ln>
        </p:spPr>
        <p:txBody>
          <a:bodyPr/>
          <a:lstStyle/>
          <a:p>
            <a:endParaRPr lang="en-US"/>
          </a:p>
        </p:txBody>
      </p:sp>
      <p:sp>
        <p:nvSpPr>
          <p:cNvPr id="14" name="Text 11"/>
          <p:cNvSpPr/>
          <p:nvPr/>
        </p:nvSpPr>
        <p:spPr>
          <a:xfrm>
            <a:off x="8641080" y="4754880"/>
            <a:ext cx="2926080" cy="274320"/>
          </a:xfrm>
          <a:prstGeom prst="rect">
            <a:avLst/>
          </a:prstGeom>
          <a:noFill/>
          <a:ln/>
        </p:spPr>
        <p:txBody>
          <a:bodyPr wrap="square" lIns="0" tIns="0" rIns="0" bIns="0" rtlCol="0" anchor="ctr"/>
          <a:lstStyle/>
          <a:p>
            <a:pPr marL="0" indent="0">
              <a:buNone/>
            </a:pPr>
            <a:r>
              <a:rPr lang="en-US" sz="1000" b="1" kern="0" spc="400" dirty="0">
                <a:solidFill>
                  <a:srgbClr val="6C89B8"/>
                </a:solidFill>
                <a:latin typeface="Calibri" pitchFamily="34" charset="0"/>
                <a:ea typeface="Calibri" pitchFamily="34" charset="-122"/>
                <a:cs typeface="Calibri" pitchFamily="34" charset="-120"/>
              </a:rPr>
              <a:t>Standalone</a:t>
            </a:r>
            <a:endParaRPr lang="en-US" sz="1000" dirty="0"/>
          </a:p>
        </p:txBody>
      </p:sp>
      <p:sp>
        <p:nvSpPr>
          <p:cNvPr id="15" name="Text 12"/>
          <p:cNvSpPr/>
          <p:nvPr/>
        </p:nvSpPr>
        <p:spPr>
          <a:xfrm>
            <a:off x="8641080" y="5029200"/>
            <a:ext cx="2926080" cy="457200"/>
          </a:xfrm>
          <a:prstGeom prst="rect">
            <a:avLst/>
          </a:prstGeom>
          <a:noFill/>
          <a:ln/>
        </p:spPr>
        <p:txBody>
          <a:bodyPr wrap="square" lIns="0" tIns="0" rIns="0" bIns="0" rtlCol="0" anchor="ctr"/>
          <a:lstStyle/>
          <a:p>
            <a:pPr marL="0" indent="0">
              <a:buNone/>
            </a:pPr>
            <a:r>
              <a:rPr lang="en-US" sz="2000" b="1" dirty="0">
                <a:solidFill>
                  <a:srgbClr val="1A1A2E"/>
                </a:solidFill>
                <a:latin typeface="Cambria" pitchFamily="34" charset="0"/>
                <a:ea typeface="Cambria" pitchFamily="34" charset="-122"/>
                <a:cs typeface="Cambria" pitchFamily="34" charset="-120"/>
              </a:rPr>
              <a:t>LLM alone: 94.2%</a:t>
            </a:r>
            <a:endParaRPr lang="en-US" sz="2000" dirty="0"/>
          </a:p>
        </p:txBody>
      </p:sp>
      <p:sp>
        <p:nvSpPr>
          <p:cNvPr id="16" name="Text 13"/>
          <p:cNvSpPr/>
          <p:nvPr/>
        </p:nvSpPr>
        <p:spPr>
          <a:xfrm>
            <a:off x="8641080" y="5440680"/>
            <a:ext cx="2926080" cy="365760"/>
          </a:xfrm>
          <a:prstGeom prst="rect">
            <a:avLst/>
          </a:prstGeom>
          <a:noFill/>
          <a:ln/>
        </p:spPr>
        <p:txBody>
          <a:bodyPr wrap="square" lIns="0" tIns="0" rIns="0" bIns="0" rtlCol="0" anchor="ctr"/>
          <a:lstStyle/>
          <a:p>
            <a:pPr marL="0" indent="0">
              <a:buNone/>
            </a:pPr>
            <a:r>
              <a:rPr lang="en-US" sz="1000" i="1" dirty="0">
                <a:solidFill>
                  <a:srgbClr val="5A6472"/>
                </a:solidFill>
                <a:latin typeface="Calibri" pitchFamily="34" charset="0"/>
                <a:ea typeface="Calibri" pitchFamily="34" charset="-122"/>
                <a:cs typeface="Calibri" pitchFamily="34" charset="-120"/>
              </a:rPr>
              <a:t>Highest single-model score — but we need rules for audit trail</a:t>
            </a:r>
            <a:endParaRPr lang="en-US" sz="1000" dirty="0"/>
          </a:p>
        </p:txBody>
      </p:sp>
      <p:sp>
        <p:nvSpPr>
          <p:cNvPr id="17" name="Text 14"/>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8" name="Text 15"/>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The LLM's Real Value Lives on Ambiguous Cases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Where rules can't decide and ML struggles</a:t>
            </a:r>
            <a:endParaRPr lang="en-US" sz="1400" dirty="0"/>
          </a:p>
        </p:txBody>
      </p:sp>
      <p:graphicFrame>
        <p:nvGraphicFramePr>
          <p:cNvPr id="4" name="Chart 0"/>
          <p:cNvGraphicFramePr/>
          <p:nvPr/>
        </p:nvGraphicFramePr>
        <p:xfrm>
          <a:off x="457200" y="1463040"/>
          <a:ext cx="62179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949440" y="1417320"/>
            <a:ext cx="4846320" cy="320040"/>
          </a:xfrm>
          <a:prstGeom prst="rect">
            <a:avLst/>
          </a:prstGeom>
          <a:noFill/>
          <a:ln/>
        </p:spPr>
        <p:txBody>
          <a:bodyPr wrap="square" lIns="0" tIns="0" rIns="0" bIns="0" rtlCol="0" anchor="ctr"/>
          <a:lstStyle/>
          <a:p>
            <a:pPr marL="0" indent="0">
              <a:buNone/>
            </a:pPr>
            <a:r>
              <a:rPr lang="en-US" sz="1100" b="1" kern="0" spc="400" dirty="0">
                <a:solidFill>
                  <a:srgbClr val="E9A63A"/>
                </a:solidFill>
                <a:latin typeface="Calibri" pitchFamily="34" charset="0"/>
                <a:ea typeface="Calibri" pitchFamily="34" charset="-122"/>
                <a:cs typeface="Calibri" pitchFamily="34" charset="-120"/>
              </a:rPr>
              <a:t>The finding</a:t>
            </a:r>
            <a:endParaRPr lang="en-US" sz="1100" dirty="0"/>
          </a:p>
        </p:txBody>
      </p:sp>
      <p:sp>
        <p:nvSpPr>
          <p:cNvPr id="6" name="Text 3"/>
          <p:cNvSpPr/>
          <p:nvPr/>
        </p:nvSpPr>
        <p:spPr>
          <a:xfrm>
            <a:off x="6949440" y="1691640"/>
            <a:ext cx="4846320" cy="731520"/>
          </a:xfrm>
          <a:prstGeom prst="rect">
            <a:avLst/>
          </a:prstGeom>
          <a:noFill/>
          <a:ln/>
        </p:spPr>
        <p:txBody>
          <a:bodyPr wrap="square" lIns="0" tIns="0" rIns="0" bIns="0" rtlCol="0" anchor="ctr"/>
          <a:lstStyle/>
          <a:p>
            <a:pPr marL="0" indent="0">
              <a:buNone/>
            </a:pPr>
            <a:r>
              <a:rPr lang="en-US" sz="4000" b="1" dirty="0">
                <a:solidFill>
                  <a:srgbClr val="1E2761"/>
                </a:solidFill>
                <a:latin typeface="Cambria" pitchFamily="34" charset="0"/>
                <a:ea typeface="Cambria" pitchFamily="34" charset="-122"/>
                <a:cs typeface="Cambria" pitchFamily="34" charset="-120"/>
              </a:rPr>
              <a:t>+62 percentage points</a:t>
            </a:r>
            <a:endParaRPr lang="en-US" sz="4000" dirty="0"/>
          </a:p>
        </p:txBody>
      </p:sp>
      <p:sp>
        <p:nvSpPr>
          <p:cNvPr id="7" name="Text 4"/>
          <p:cNvSpPr/>
          <p:nvPr/>
        </p:nvSpPr>
        <p:spPr>
          <a:xfrm>
            <a:off x="6949440" y="2468880"/>
            <a:ext cx="4846320" cy="274320"/>
          </a:xfrm>
          <a:prstGeom prst="rect">
            <a:avLst/>
          </a:prstGeom>
          <a:noFill/>
          <a:ln/>
        </p:spPr>
        <p:txBody>
          <a:bodyPr wrap="square" lIns="0" tIns="0" rIns="0" bIns="0" rtlCol="0" anchor="ctr"/>
          <a:lstStyle/>
          <a:p>
            <a:pPr marL="0" indent="0">
              <a:buNone/>
            </a:pPr>
            <a:r>
              <a:rPr lang="en-US" sz="1200" i="1" dirty="0">
                <a:solidFill>
                  <a:srgbClr val="5A6472"/>
                </a:solidFill>
                <a:latin typeface="Calibri" pitchFamily="34" charset="0"/>
                <a:ea typeface="Calibri" pitchFamily="34" charset="-122"/>
                <a:cs typeface="Calibri" pitchFamily="34" charset="-120"/>
              </a:rPr>
              <a:t>LLM accuracy over ML on no-rule rows</a:t>
            </a:r>
            <a:endParaRPr lang="en-US" sz="1200" dirty="0"/>
          </a:p>
        </p:txBody>
      </p:sp>
      <p:sp>
        <p:nvSpPr>
          <p:cNvPr id="8" name="Text 5"/>
          <p:cNvSpPr/>
          <p:nvPr/>
        </p:nvSpPr>
        <p:spPr>
          <a:xfrm>
            <a:off x="6949440" y="2880360"/>
            <a:ext cx="4846320" cy="3108960"/>
          </a:xfrm>
          <a:prstGeom prst="rect">
            <a:avLst/>
          </a:prstGeom>
          <a:noFill/>
          <a:ln/>
        </p:spPr>
        <p:txBody>
          <a:bodyPr wrap="square" lIns="0" tIns="0" rIns="0" bIns="0" rtlCol="0" anchor="t"/>
          <a:lstStyle/>
          <a:p>
            <a:pPr marL="0" indent="0">
              <a:spcAft>
                <a:spcPts val="600"/>
              </a:spcAft>
              <a:buNone/>
            </a:pPr>
            <a:r>
              <a:rPr lang="en-US" sz="1200" dirty="0">
                <a:solidFill>
                  <a:srgbClr val="1A1A2E"/>
                </a:solidFill>
                <a:latin typeface="Calibri" pitchFamily="34" charset="0"/>
                <a:ea typeface="Calibri" pitchFamily="34" charset="-122"/>
                <a:cs typeface="Calibri" pitchFamily="34" charset="-120"/>
              </a:rPr>
              <a:t>Across all ~240K invoices in the 24-month window, the LLM beats ML by 18.9 pp.
Zoom into the ~60K no-rule rows — the ones that need a decision from ML or LLM — and the gap explodes to 62 percentage points. ML only gets 31.7% right; LLM gets 93.8%.
Why: descriptions like  </a:t>
            </a:r>
            <a:r>
              <a:rPr lang="en-US" sz="1200" i="1" dirty="0">
                <a:solidFill>
                  <a:srgbClr val="3D5A80"/>
                </a:solidFill>
                <a:latin typeface="Calibri" pitchFamily="34" charset="0"/>
                <a:ea typeface="Calibri" pitchFamily="34" charset="-122"/>
                <a:cs typeface="Calibri" pitchFamily="34" charset="-120"/>
              </a:rPr>
              <a:t>"office lease rental Q3"  </a:t>
            </a:r>
            <a:r>
              <a:rPr lang="en-US" sz="1200" dirty="0">
                <a:solidFill>
                  <a:srgbClr val="1A1A2E"/>
                </a:solidFill>
                <a:latin typeface="Calibri" pitchFamily="34" charset="0"/>
                <a:ea typeface="Calibri" pitchFamily="34" charset="-122"/>
                <a:cs typeface="Calibri" pitchFamily="34" charset="-120"/>
              </a:rPr>
              <a:t>vs  </a:t>
            </a:r>
            <a:r>
              <a:rPr lang="en-US" sz="1200" i="1" dirty="0">
                <a:solidFill>
                  <a:srgbClr val="3D5A80"/>
                </a:solidFill>
                <a:latin typeface="Calibri" pitchFamily="34" charset="0"/>
                <a:ea typeface="Calibri" pitchFamily="34" charset="-122"/>
                <a:cs typeface="Calibri" pitchFamily="34" charset="-120"/>
              </a:rPr>
              <a:t>"equipment financing Q3"  </a:t>
            </a:r>
            <a:r>
              <a:rPr lang="en-US" sz="1200" dirty="0">
                <a:solidFill>
                  <a:srgbClr val="1A1A2E"/>
                </a:solidFill>
                <a:latin typeface="Calibri" pitchFamily="34" charset="0"/>
                <a:ea typeface="Calibri" pitchFamily="34" charset="-122"/>
                <a:cs typeface="Calibri" pitchFamily="34" charset="-120"/>
              </a:rPr>
              <a:t>look identical to XGBoost. The LLM+RAG stack reads them and retrieves the right precedent.</a:t>
            </a:r>
            <a:endParaRPr lang="en-US" sz="1200" dirty="0"/>
          </a:p>
        </p:txBody>
      </p:sp>
      <p:sp>
        <p:nvSpPr>
          <p:cNvPr id="9" name="Text 6"/>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LLM/ML agreement rate: 71%.  When they disagree, LLM is right ~5× more often — this is the diversity the three-way ensemble exploits.</a:t>
            </a:r>
            <a:endParaRPr lang="en-US" sz="1200" dirty="0"/>
          </a:p>
        </p:txBody>
      </p:sp>
      <p:sp>
        <p:nvSpPr>
          <p:cNvPr id="10" name="Text 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1" name="Text 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How the Three-Way Ensemble Wins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Agreement voting turns model diversity into accuracy</a:t>
            </a:r>
            <a:endParaRPr lang="en-US" sz="1400" dirty="0"/>
          </a:p>
        </p:txBody>
      </p:sp>
      <p:sp>
        <p:nvSpPr>
          <p:cNvPr id="4" name="Shape 2"/>
          <p:cNvSpPr/>
          <p:nvPr/>
        </p:nvSpPr>
        <p:spPr>
          <a:xfrm>
            <a:off x="457200" y="1463040"/>
            <a:ext cx="5623560" cy="4480560"/>
          </a:xfrm>
          <a:prstGeom prst="roundRect">
            <a:avLst>
              <a:gd name="adj" fmla="val 1633"/>
            </a:avLst>
          </a:prstGeom>
          <a:solidFill>
            <a:srgbClr val="FFFFFF"/>
          </a:solidFill>
          <a:ln w="6350">
            <a:solidFill>
              <a:srgbClr val="D6DDE8"/>
            </a:solidFill>
            <a:prstDash val="solid"/>
          </a:ln>
        </p:spPr>
        <p:txBody>
          <a:bodyPr/>
          <a:lstStyle/>
          <a:p>
            <a:endParaRPr lang="en-US"/>
          </a:p>
        </p:txBody>
      </p:sp>
      <p:sp>
        <p:nvSpPr>
          <p:cNvPr id="5" name="Text 3"/>
          <p:cNvSpPr/>
          <p:nvPr/>
        </p:nvSpPr>
        <p:spPr>
          <a:xfrm>
            <a:off x="640080" y="1645920"/>
            <a:ext cx="5303520" cy="365760"/>
          </a:xfrm>
          <a:prstGeom prst="rect">
            <a:avLst/>
          </a:prstGeom>
          <a:noFill/>
          <a:ln/>
        </p:spPr>
        <p:txBody>
          <a:bodyPr wrap="square" lIns="0" tIns="0" rIns="0" bIns="0" rtlCol="0" anchor="ctr"/>
          <a:lstStyle/>
          <a:p>
            <a:pPr marL="0" indent="0">
              <a:buNone/>
            </a:pPr>
            <a:r>
              <a:rPr lang="en-US" sz="1600" b="1" dirty="0">
                <a:solidFill>
                  <a:srgbClr val="3D5A80"/>
                </a:solidFill>
                <a:latin typeface="Cambria" pitchFamily="34" charset="0"/>
                <a:ea typeface="Cambria" pitchFamily="34" charset="-122"/>
                <a:cs typeface="Cambria" pitchFamily="34" charset="-120"/>
              </a:rPr>
              <a:t>The decision logic</a:t>
            </a:r>
            <a:endParaRPr lang="en-US" sz="1600" dirty="0"/>
          </a:p>
        </p:txBody>
      </p:sp>
      <p:sp>
        <p:nvSpPr>
          <p:cNvPr id="6" name="Text 4"/>
          <p:cNvSpPr/>
          <p:nvPr/>
        </p:nvSpPr>
        <p:spPr>
          <a:xfrm>
            <a:off x="685800" y="2057400"/>
            <a:ext cx="5166360" cy="3794760"/>
          </a:xfrm>
          <a:prstGeom prst="rect">
            <a:avLst/>
          </a:prstGeom>
          <a:noFill/>
          <a:ln/>
        </p:spPr>
        <p:txBody>
          <a:bodyPr wrap="square" lIns="0" tIns="0" rIns="0" bIns="0" rtlCol="0" anchor="t"/>
          <a:lstStyle/>
          <a:p>
            <a:pPr marL="0" indent="0">
              <a:spcAft>
                <a:spcPts val="400"/>
              </a:spcAft>
              <a:buNone/>
            </a:pPr>
            <a:r>
              <a:rPr lang="en-US" sz="1300" b="1" dirty="0">
                <a:solidFill>
                  <a:srgbClr val="1A1A2E"/>
                </a:solidFill>
                <a:latin typeface="Calibri" pitchFamily="34" charset="0"/>
                <a:ea typeface="Calibri" pitchFamily="34" charset="-122"/>
                <a:cs typeface="Calibri" pitchFamily="34" charset="-120"/>
              </a:rPr>
              <a:t>Rule fired?  </a:t>
            </a:r>
            <a:r>
              <a:rPr lang="en-US" sz="1300" dirty="0">
                <a:solidFill>
                  <a:srgbClr val="1A1A2E"/>
                </a:solidFill>
                <a:latin typeface="Calibri" pitchFamily="34" charset="0"/>
                <a:ea typeface="Calibri" pitchFamily="34" charset="-122"/>
                <a:cs typeface="Calibri" pitchFamily="34" charset="-120"/>
              </a:rPr>
              <a:t>→ use rule prediction (auditable trail)
</a:t>
            </a:r>
            <a:r>
              <a:rPr lang="en-US" sz="1300" b="1" dirty="0">
                <a:solidFill>
                  <a:srgbClr val="1A1A2E"/>
                </a:solidFill>
                <a:latin typeface="Calibri" pitchFamily="34" charset="0"/>
                <a:ea typeface="Calibri" pitchFamily="34" charset="-122"/>
                <a:cs typeface="Calibri" pitchFamily="34" charset="-120"/>
              </a:rPr>
              <a:t>ML and LLM agree?  </a:t>
            </a:r>
            <a:r>
              <a:rPr lang="en-US" sz="1300" dirty="0">
                <a:solidFill>
                  <a:srgbClr val="1A1A2E"/>
                </a:solidFill>
                <a:latin typeface="Calibri" pitchFamily="34" charset="0"/>
                <a:ea typeface="Calibri" pitchFamily="34" charset="-122"/>
                <a:cs typeface="Calibri" pitchFamily="34" charset="-120"/>
              </a:rPr>
              <a:t>→ use it — agreement is a strong ensemble signal
</a:t>
            </a:r>
            <a:r>
              <a:rPr lang="en-US" sz="1300" b="1" dirty="0">
                <a:solidFill>
                  <a:srgbClr val="1A1A2E"/>
                </a:solidFill>
                <a:latin typeface="Calibri" pitchFamily="34" charset="0"/>
                <a:ea typeface="Calibri" pitchFamily="34" charset="-122"/>
                <a:cs typeface="Calibri" pitchFamily="34" charset="-120"/>
              </a:rPr>
              <a:t>They disagree?  </a:t>
            </a:r>
            <a:r>
              <a:rPr lang="en-US" sz="1300" dirty="0">
                <a:solidFill>
                  <a:srgbClr val="1A1A2E"/>
                </a:solidFill>
                <a:latin typeface="Calibri" pitchFamily="34" charset="0"/>
                <a:ea typeface="Calibri" pitchFamily="34" charset="-122"/>
                <a:cs typeface="Calibri" pitchFamily="34" charset="-120"/>
              </a:rPr>
              <a:t>→ trust LLM only if very confident (≥0.90)
</a:t>
            </a:r>
            <a:r>
              <a:rPr lang="en-US" sz="1300" b="1" dirty="0">
                <a:solidFill>
                  <a:srgbClr val="1A1A2E"/>
                </a:solidFill>
                <a:latin typeface="Calibri" pitchFamily="34" charset="0"/>
                <a:ea typeface="Calibri" pitchFamily="34" charset="-122"/>
                <a:cs typeface="Calibri" pitchFamily="34" charset="-120"/>
              </a:rPr>
              <a:t>Otherwise  </a:t>
            </a:r>
            <a:r>
              <a:rPr lang="en-US" sz="1300" dirty="0">
                <a:solidFill>
                  <a:srgbClr val="1A1A2E"/>
                </a:solidFill>
                <a:latin typeface="Calibri" pitchFamily="34" charset="0"/>
                <a:ea typeface="Calibri" pitchFamily="34" charset="-122"/>
                <a:cs typeface="Calibri" pitchFamily="34" charset="-120"/>
              </a:rPr>
              <a:t>→ route to human review — better than a wrong tag
</a:t>
            </a:r>
            <a:r>
              <a:rPr lang="en-US" sz="1200" i="1" dirty="0">
                <a:solidFill>
                  <a:srgbClr val="5A6472"/>
                </a:solidFill>
                <a:latin typeface="Calibri" pitchFamily="34" charset="0"/>
                <a:ea typeface="Calibri" pitchFamily="34" charset="-122"/>
                <a:cs typeface="Calibri" pitchFamily="34" charset="-120"/>
              </a:rPr>
              <a:t>This exploits </a:t>
            </a:r>
            <a:r>
              <a:rPr lang="en-US" sz="1200" b="1" i="1" dirty="0">
                <a:solidFill>
                  <a:srgbClr val="3D5A80"/>
                </a:solidFill>
                <a:latin typeface="Calibri" pitchFamily="34" charset="0"/>
                <a:ea typeface="Calibri" pitchFamily="34" charset="-122"/>
                <a:cs typeface="Calibri" pitchFamily="34" charset="-120"/>
              </a:rPr>
              <a:t>model diversity</a:t>
            </a:r>
            <a:r>
              <a:rPr lang="en-US" sz="1200" i="1" dirty="0">
                <a:solidFill>
                  <a:srgbClr val="5A6472"/>
                </a:solidFill>
                <a:latin typeface="Calibri" pitchFamily="34" charset="0"/>
                <a:ea typeface="Calibri" pitchFamily="34" charset="-122"/>
                <a:cs typeface="Calibri" pitchFamily="34" charset="-120"/>
              </a:rPr>
              <a:t> rather than picking whoever sounded more confident.</a:t>
            </a:r>
            <a:endParaRPr lang="en-US" sz="1300" dirty="0"/>
          </a:p>
        </p:txBody>
      </p:sp>
      <p:sp>
        <p:nvSpPr>
          <p:cNvPr id="7" name="Shape 5"/>
          <p:cNvSpPr/>
          <p:nvPr/>
        </p:nvSpPr>
        <p:spPr>
          <a:xfrm>
            <a:off x="6263640" y="1463040"/>
            <a:ext cx="5623560" cy="4480560"/>
          </a:xfrm>
          <a:prstGeom prst="roundRect">
            <a:avLst>
              <a:gd name="adj" fmla="val 1633"/>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6446520" y="1645920"/>
            <a:ext cx="5303520" cy="365760"/>
          </a:xfrm>
          <a:prstGeom prst="rect">
            <a:avLst/>
          </a:prstGeom>
          <a:noFill/>
          <a:ln/>
        </p:spPr>
        <p:txBody>
          <a:bodyPr wrap="square" lIns="0" tIns="0" rIns="0" bIns="0" rtlCol="0" anchor="ctr"/>
          <a:lstStyle/>
          <a:p>
            <a:pPr marL="0" indent="0">
              <a:buNone/>
            </a:pPr>
            <a:r>
              <a:rPr lang="en-US" sz="1600" b="1" dirty="0">
                <a:solidFill>
                  <a:srgbClr val="CADCFC"/>
                </a:solidFill>
                <a:latin typeface="Cambria" pitchFamily="34" charset="0"/>
                <a:ea typeface="Cambria" pitchFamily="34" charset="-122"/>
                <a:cs typeface="Cambria" pitchFamily="34" charset="-120"/>
              </a:rPr>
              <a:t>The result</a:t>
            </a:r>
            <a:endParaRPr lang="en-US" sz="1600" dirty="0"/>
          </a:p>
        </p:txBody>
      </p:sp>
      <p:sp>
        <p:nvSpPr>
          <p:cNvPr id="9" name="Text 7"/>
          <p:cNvSpPr/>
          <p:nvPr/>
        </p:nvSpPr>
        <p:spPr>
          <a:xfrm>
            <a:off x="6446520" y="2148840"/>
            <a:ext cx="5303520" cy="274320"/>
          </a:xfrm>
          <a:prstGeom prst="rect">
            <a:avLst/>
          </a:prstGeom>
          <a:noFill/>
          <a:ln/>
        </p:spPr>
        <p:txBody>
          <a:bodyPr wrap="square" lIns="0" tIns="0" rIns="0" bIns="0" rtlCol="0" anchor="ctr"/>
          <a:lstStyle/>
          <a:p>
            <a:pPr marL="0" indent="0">
              <a:buNone/>
            </a:pPr>
            <a:r>
              <a:rPr lang="en-US" sz="1100" kern="0" spc="300" dirty="0">
                <a:solidFill>
                  <a:srgbClr val="CADCFC"/>
                </a:solidFill>
                <a:latin typeface="Calibri" pitchFamily="34" charset="0"/>
                <a:ea typeface="Calibri" pitchFamily="34" charset="-122"/>
                <a:cs typeface="Calibri" pitchFamily="34" charset="-120"/>
              </a:rPr>
              <a:t>Auto-classify coverage</a:t>
            </a:r>
            <a:endParaRPr lang="en-US" sz="1100" dirty="0"/>
          </a:p>
        </p:txBody>
      </p:sp>
      <p:sp>
        <p:nvSpPr>
          <p:cNvPr id="10" name="Text 8"/>
          <p:cNvSpPr/>
          <p:nvPr/>
        </p:nvSpPr>
        <p:spPr>
          <a:xfrm>
            <a:off x="6446520" y="2423160"/>
            <a:ext cx="530352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80.8%  →  98.9%</a:t>
            </a:r>
            <a:endParaRPr lang="en-US" sz="2400" dirty="0"/>
          </a:p>
        </p:txBody>
      </p:sp>
      <p:sp>
        <p:nvSpPr>
          <p:cNvPr id="11" name="Text 9"/>
          <p:cNvSpPr/>
          <p:nvPr/>
        </p:nvSpPr>
        <p:spPr>
          <a:xfrm>
            <a:off x="6446520" y="2926080"/>
            <a:ext cx="530352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Rules + ML  →  Three-way ensemble  (+18 pp)</a:t>
            </a:r>
            <a:endParaRPr lang="en-US" sz="1000" dirty="0"/>
          </a:p>
        </p:txBody>
      </p:sp>
      <p:sp>
        <p:nvSpPr>
          <p:cNvPr id="12" name="Shape 10"/>
          <p:cNvSpPr/>
          <p:nvPr/>
        </p:nvSpPr>
        <p:spPr>
          <a:xfrm>
            <a:off x="6446520" y="3383280"/>
            <a:ext cx="5257800" cy="0"/>
          </a:xfrm>
          <a:prstGeom prst="line">
            <a:avLst/>
          </a:prstGeom>
          <a:noFill/>
          <a:ln w="9525">
            <a:solidFill>
              <a:srgbClr val="CADCFC"/>
            </a:solidFill>
            <a:prstDash val="solid"/>
          </a:ln>
        </p:spPr>
        <p:txBody>
          <a:bodyPr/>
          <a:lstStyle/>
          <a:p>
            <a:endParaRPr lang="en-US"/>
          </a:p>
        </p:txBody>
      </p:sp>
      <p:sp>
        <p:nvSpPr>
          <p:cNvPr id="13" name="Text 11"/>
          <p:cNvSpPr/>
          <p:nvPr/>
        </p:nvSpPr>
        <p:spPr>
          <a:xfrm>
            <a:off x="6446520" y="3520440"/>
            <a:ext cx="5303520" cy="274320"/>
          </a:xfrm>
          <a:prstGeom prst="rect">
            <a:avLst/>
          </a:prstGeom>
          <a:noFill/>
          <a:ln/>
        </p:spPr>
        <p:txBody>
          <a:bodyPr wrap="square" lIns="0" tIns="0" rIns="0" bIns="0" rtlCol="0" anchor="ctr"/>
          <a:lstStyle/>
          <a:p>
            <a:pPr marL="0" indent="0">
              <a:buNone/>
            </a:pPr>
            <a:r>
              <a:rPr lang="en-US" sz="1100" kern="0" spc="300" dirty="0">
                <a:solidFill>
                  <a:srgbClr val="CADCFC"/>
                </a:solidFill>
                <a:latin typeface="Calibri" pitchFamily="34" charset="0"/>
                <a:ea typeface="Calibri" pitchFamily="34" charset="-122"/>
                <a:cs typeface="Calibri" pitchFamily="34" charset="-120"/>
              </a:rPr>
              <a:t>Accuracy on auto-classified</a:t>
            </a:r>
            <a:endParaRPr lang="en-US" sz="1100" dirty="0"/>
          </a:p>
        </p:txBody>
      </p:sp>
      <p:sp>
        <p:nvSpPr>
          <p:cNvPr id="14" name="Text 12"/>
          <p:cNvSpPr/>
          <p:nvPr/>
        </p:nvSpPr>
        <p:spPr>
          <a:xfrm>
            <a:off x="6446520" y="3794760"/>
            <a:ext cx="530352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88.5%  →  91.75%</a:t>
            </a:r>
            <a:endParaRPr lang="en-US" sz="2400" dirty="0"/>
          </a:p>
        </p:txBody>
      </p:sp>
      <p:sp>
        <p:nvSpPr>
          <p:cNvPr id="15" name="Text 13"/>
          <p:cNvSpPr/>
          <p:nvPr/>
        </p:nvSpPr>
        <p:spPr>
          <a:xfrm>
            <a:off x="6446520" y="4297680"/>
            <a:ext cx="5303520" cy="274320"/>
          </a:xfrm>
          <a:prstGeom prst="rect">
            <a:avLst/>
          </a:prstGeom>
          <a:noFill/>
          <a:ln/>
        </p:spPr>
        <p:txBody>
          <a:bodyPr wrap="square" lIns="0" tIns="0" rIns="0" bIns="0" rtlCol="0" anchor="ctr"/>
          <a:lstStyle/>
          <a:p>
            <a:pPr marL="0" indent="0">
              <a:buNone/>
            </a:pPr>
            <a:r>
              <a:rPr lang="en-US" sz="1000" i="1" dirty="0">
                <a:solidFill>
                  <a:srgbClr val="CADCFC"/>
                </a:solidFill>
                <a:latin typeface="Calibri" pitchFamily="34" charset="0"/>
                <a:ea typeface="Calibri" pitchFamily="34" charset="-122"/>
                <a:cs typeface="Calibri" pitchFamily="34" charset="-120"/>
              </a:rPr>
              <a:t>Rules + ML  →  Three-way ensemble  (+3.2 pp)</a:t>
            </a:r>
            <a:endParaRPr lang="en-US" sz="1000" dirty="0"/>
          </a:p>
        </p:txBody>
      </p:sp>
      <p:sp>
        <p:nvSpPr>
          <p:cNvPr id="16" name="Shape 14"/>
          <p:cNvSpPr/>
          <p:nvPr/>
        </p:nvSpPr>
        <p:spPr>
          <a:xfrm>
            <a:off x="6446520" y="4754880"/>
            <a:ext cx="5257800" cy="0"/>
          </a:xfrm>
          <a:prstGeom prst="line">
            <a:avLst/>
          </a:prstGeom>
          <a:noFill/>
          <a:ln w="9525">
            <a:solidFill>
              <a:srgbClr val="CADCFC"/>
            </a:solidFill>
            <a:prstDash val="solid"/>
          </a:ln>
        </p:spPr>
        <p:txBody>
          <a:bodyPr/>
          <a:lstStyle/>
          <a:p>
            <a:endParaRPr lang="en-US"/>
          </a:p>
        </p:txBody>
      </p:sp>
      <p:sp>
        <p:nvSpPr>
          <p:cNvPr id="17" name="Text 15"/>
          <p:cNvSpPr/>
          <p:nvPr/>
        </p:nvSpPr>
        <p:spPr>
          <a:xfrm>
            <a:off x="6446520" y="4937760"/>
            <a:ext cx="5303520" cy="914400"/>
          </a:xfrm>
          <a:prstGeom prst="rect">
            <a:avLst/>
          </a:prstGeom>
          <a:noFill/>
          <a:ln/>
        </p:spPr>
        <p:txBody>
          <a:bodyPr wrap="square" lIns="0" tIns="0" rIns="0" bIns="0" rtlCol="0" anchor="ctr"/>
          <a:lstStyle/>
          <a:p>
            <a:pPr marL="0" indent="0">
              <a:buNone/>
            </a:pPr>
            <a:r>
              <a:rPr lang="en-US" sz="1200" b="1" i="1" dirty="0">
                <a:solidFill>
                  <a:srgbClr val="CADCFC"/>
                </a:solidFill>
                <a:latin typeface="Calibri" pitchFamily="34" charset="0"/>
                <a:ea typeface="Calibri" pitchFamily="34" charset="-122"/>
                <a:cs typeface="Calibri" pitchFamily="34" charset="-120"/>
              </a:rPr>
              <a:t>More invoices auto-classified. Higher accuracy. Human review load drops from 19% to 1%.</a:t>
            </a:r>
            <a:endParaRPr lang="en-US" sz="1200" dirty="0"/>
          </a:p>
        </p:txBody>
      </p:sp>
      <p:sp>
        <p:nvSpPr>
          <p:cNvPr id="18" name="Text 16"/>
          <p:cNvSpPr/>
          <p:nvPr/>
        </p:nvSpPr>
        <p:spPr>
          <a:xfrm>
            <a:off x="457200" y="6080760"/>
            <a:ext cx="11247120" cy="274320"/>
          </a:xfrm>
          <a:prstGeom prst="rect">
            <a:avLst/>
          </a:prstGeom>
          <a:noFill/>
          <a:ln/>
        </p:spPr>
        <p:txBody>
          <a:bodyPr wrap="square" lIns="0" tIns="0" rIns="0" bIns="0" rtlCol="0" anchor="ctr"/>
          <a:lstStyle/>
          <a:p>
            <a:pPr marL="0" indent="0" algn="ctr">
              <a:buNone/>
            </a:pPr>
            <a:r>
              <a:rPr lang="en-US" sz="1200" i="1" dirty="0">
                <a:solidFill>
                  <a:srgbClr val="5A6472"/>
                </a:solidFill>
                <a:latin typeface="Calibri" pitchFamily="34" charset="0"/>
                <a:ea typeface="Calibri" pitchFamily="34" charset="-122"/>
                <a:cs typeface="Calibri" pitchFamily="34" charset="-120"/>
              </a:rPr>
              <a:t>The three-way ensemble is a strictly better operating point — more coverage AND higher accuracy on covered rows.</a:t>
            </a:r>
            <a:endParaRPr lang="en-US" sz="1200" dirty="0"/>
          </a:p>
        </p:txBody>
      </p:sp>
      <p:sp>
        <p:nvSpPr>
          <p:cNvPr id="19" name="Text 1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0" name="Text 1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Where the Pipeline Wins and Where It Struggles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Accuracy by tax cluster (top 15 by volume)</a:t>
            </a:r>
            <a:endParaRPr lang="en-US" sz="1400" dirty="0"/>
          </a:p>
        </p:txBody>
      </p:sp>
      <p:graphicFrame>
        <p:nvGraphicFramePr>
          <p:cNvPr id="4" name="Chart 0"/>
          <p:cNvGraphicFramePr/>
          <p:nvPr/>
        </p:nvGraphicFramePr>
        <p:xfrm>
          <a:off x="457200" y="1417320"/>
          <a:ext cx="7589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463040"/>
            <a:ext cx="3474720" cy="2148840"/>
          </a:xfrm>
          <a:prstGeom prst="roundRect">
            <a:avLst>
              <a:gd name="adj" fmla="val 3404"/>
            </a:avLst>
          </a:prstGeom>
          <a:solidFill>
            <a:srgbClr val="E8F5EF"/>
          </a:solidFill>
          <a:ln w="12700">
            <a:solidFill>
              <a:srgbClr val="2A9D8F"/>
            </a:solidFill>
            <a:prstDash val="solid"/>
          </a:ln>
        </p:spPr>
        <p:txBody>
          <a:bodyPr/>
          <a:lstStyle/>
          <a:p>
            <a:endParaRPr lang="en-US"/>
          </a:p>
        </p:txBody>
      </p:sp>
      <p:sp>
        <p:nvSpPr>
          <p:cNvPr id="6" name="Text 3"/>
          <p:cNvSpPr/>
          <p:nvPr/>
        </p:nvSpPr>
        <p:spPr>
          <a:xfrm>
            <a:off x="8458200" y="1600200"/>
            <a:ext cx="3200400" cy="320040"/>
          </a:xfrm>
          <a:prstGeom prst="rect">
            <a:avLst/>
          </a:prstGeom>
          <a:noFill/>
          <a:ln/>
        </p:spPr>
        <p:txBody>
          <a:bodyPr wrap="square" lIns="0" tIns="0" rIns="0" bIns="0" rtlCol="0" anchor="ctr"/>
          <a:lstStyle/>
          <a:p>
            <a:pPr marL="0" indent="0">
              <a:buNone/>
            </a:pPr>
            <a:r>
              <a:rPr lang="en-US" sz="1200" b="1" dirty="0">
                <a:solidFill>
                  <a:srgbClr val="2A9D8F"/>
                </a:solidFill>
                <a:latin typeface="Calibri" pitchFamily="34" charset="0"/>
                <a:ea typeface="Calibri" pitchFamily="34" charset="-122"/>
                <a:cs typeface="Calibri" pitchFamily="34" charset="-120"/>
              </a:rPr>
              <a:t>★ Strong clusters</a:t>
            </a:r>
            <a:endParaRPr lang="en-US" sz="1200" dirty="0"/>
          </a:p>
        </p:txBody>
      </p:sp>
      <p:sp>
        <p:nvSpPr>
          <p:cNvPr id="7" name="Text 4"/>
          <p:cNvSpPr/>
          <p:nvPr/>
        </p:nvSpPr>
        <p:spPr>
          <a:xfrm>
            <a:off x="8503920" y="1965960"/>
            <a:ext cx="3108960" cy="160020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Landscape Services  100%
Storage Services  98.3%
Food/Beverage  97.9%
Vendor Engineering  97.6%
Safety Equipment  97.1%
</a:t>
            </a:r>
            <a:r>
              <a:rPr lang="en-US" sz="1000" i="1" dirty="0">
                <a:solidFill>
                  <a:srgbClr val="5A6472"/>
                </a:solidFill>
                <a:latin typeface="Calibri" pitchFamily="34" charset="0"/>
                <a:ea typeface="Calibri" pitchFamily="34" charset="-122"/>
                <a:cs typeface="Calibri" pitchFamily="34" charset="-120"/>
              </a:rPr>
              <a:t>→ Distinctive keywords the model latches onto reliably</a:t>
            </a:r>
            <a:endParaRPr lang="en-US" sz="1100" dirty="0"/>
          </a:p>
        </p:txBody>
      </p:sp>
      <p:sp>
        <p:nvSpPr>
          <p:cNvPr id="8" name="Shape 5"/>
          <p:cNvSpPr/>
          <p:nvPr/>
        </p:nvSpPr>
        <p:spPr>
          <a:xfrm>
            <a:off x="8321040" y="3749040"/>
            <a:ext cx="3474720" cy="2194560"/>
          </a:xfrm>
          <a:prstGeom prst="roundRect">
            <a:avLst>
              <a:gd name="adj" fmla="val 3333"/>
            </a:avLst>
          </a:prstGeom>
          <a:solidFill>
            <a:srgbClr val="FCEDEB"/>
          </a:solidFill>
          <a:ln w="12700">
            <a:solidFill>
              <a:srgbClr val="C0433F"/>
            </a:solidFill>
            <a:prstDash val="solid"/>
          </a:ln>
        </p:spPr>
        <p:txBody>
          <a:bodyPr/>
          <a:lstStyle/>
          <a:p>
            <a:endParaRPr lang="en-US"/>
          </a:p>
        </p:txBody>
      </p:sp>
      <p:sp>
        <p:nvSpPr>
          <p:cNvPr id="9" name="Text 6"/>
          <p:cNvSpPr/>
          <p:nvPr/>
        </p:nvSpPr>
        <p:spPr>
          <a:xfrm>
            <a:off x="8458200" y="3886200"/>
            <a:ext cx="3200400" cy="320040"/>
          </a:xfrm>
          <a:prstGeom prst="rect">
            <a:avLst/>
          </a:prstGeom>
          <a:noFill/>
          <a:ln/>
        </p:spPr>
        <p:txBody>
          <a:bodyPr wrap="square" lIns="0" tIns="0" rIns="0" bIns="0" rtlCol="0" anchor="ctr"/>
          <a:lstStyle/>
          <a:p>
            <a:pPr marL="0" indent="0">
              <a:buNone/>
            </a:pPr>
            <a:r>
              <a:rPr lang="en-US" sz="1200" b="1" dirty="0">
                <a:solidFill>
                  <a:srgbClr val="C0433F"/>
                </a:solidFill>
                <a:latin typeface="Calibri" pitchFamily="34" charset="0"/>
                <a:ea typeface="Calibri" pitchFamily="34" charset="-122"/>
                <a:cs typeface="Calibri" pitchFamily="34" charset="-120"/>
              </a:rPr>
              <a:t>⚠ Struggle clusters</a:t>
            </a:r>
            <a:endParaRPr lang="en-US" sz="1200" dirty="0"/>
          </a:p>
        </p:txBody>
      </p:sp>
      <p:sp>
        <p:nvSpPr>
          <p:cNvPr id="10" name="Text 7"/>
          <p:cNvSpPr/>
          <p:nvPr/>
        </p:nvSpPr>
        <p:spPr>
          <a:xfrm>
            <a:off x="8503920" y="4251960"/>
            <a:ext cx="3108960" cy="169164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Contract plant labor  54%
Permits  60%
Research and Development  74%
Operating Lease  89%
</a:t>
            </a:r>
            <a:r>
              <a:rPr lang="en-US" sz="1000" i="1" dirty="0">
                <a:solidFill>
                  <a:srgbClr val="5A6472"/>
                </a:solidFill>
                <a:latin typeface="Calibri" pitchFamily="34" charset="0"/>
                <a:ea typeface="Calibri" pitchFamily="34" charset="-122"/>
                <a:cs typeface="Calibri" pitchFamily="34" charset="-120"/>
              </a:rPr>
              <a:t>→ Share EXTC/MIC codes with other clusters. Prime candidates for LLM disambiguation or richer embeddings.</a:t>
            </a:r>
            <a:endParaRPr lang="en-US" sz="1100" dirty="0"/>
          </a:p>
        </p:txBody>
      </p:sp>
      <p:sp>
        <p:nvSpPr>
          <p:cNvPr id="11" name="Text 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2" name="Text 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Where the Predictions Go Wrong</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confusion pairs the LLM is best positioned to fix</a:t>
            </a:r>
            <a:endParaRPr lang="en-US" sz="1400" dirty="0"/>
          </a:p>
        </p:txBody>
      </p:sp>
      <p:graphicFrame>
        <p:nvGraphicFramePr>
          <p:cNvPr id="4" name="Chart 0"/>
          <p:cNvGraphicFramePr/>
          <p:nvPr/>
        </p:nvGraphicFramePr>
        <p:xfrm>
          <a:off x="457200" y="1417320"/>
          <a:ext cx="75895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321040" y="1463040"/>
            <a:ext cx="3474720" cy="2286000"/>
          </a:xfrm>
          <a:prstGeom prst="roundRect">
            <a:avLst>
              <a:gd name="adj" fmla="val 3200"/>
            </a:avLst>
          </a:prstGeom>
          <a:solidFill>
            <a:srgbClr val="1E2761"/>
          </a:solidFill>
          <a:ln w="12700">
            <a:solidFill>
              <a:srgbClr val="1E2761"/>
            </a:solidFill>
            <a:prstDash val="solid"/>
          </a:ln>
        </p:spPr>
        <p:txBody>
          <a:bodyPr/>
          <a:lstStyle/>
          <a:p>
            <a:endParaRPr lang="en-US"/>
          </a:p>
        </p:txBody>
      </p:sp>
      <p:sp>
        <p:nvSpPr>
          <p:cNvPr id="6" name="Text 3"/>
          <p:cNvSpPr/>
          <p:nvPr/>
        </p:nvSpPr>
        <p:spPr>
          <a:xfrm>
            <a:off x="8458200" y="1600200"/>
            <a:ext cx="3200400" cy="320040"/>
          </a:xfrm>
          <a:prstGeom prst="rect">
            <a:avLst/>
          </a:prstGeom>
          <a:noFill/>
          <a:ln/>
        </p:spPr>
        <p:txBody>
          <a:bodyPr wrap="square" lIns="0" tIns="0" rIns="0" bIns="0" rtlCol="0" anchor="ctr"/>
          <a:lstStyle/>
          <a:p>
            <a:pPr marL="0" indent="0">
              <a:buNone/>
            </a:pPr>
            <a:r>
              <a:rPr lang="en-US" sz="1100" b="1" kern="0" spc="400" dirty="0">
                <a:solidFill>
                  <a:srgbClr val="CADCFC"/>
                </a:solidFill>
                <a:latin typeface="Calibri" pitchFamily="34" charset="0"/>
                <a:ea typeface="Calibri" pitchFamily="34" charset="-122"/>
                <a:cs typeface="Calibri" pitchFamily="34" charset="-120"/>
              </a:rPr>
              <a:t>The pattern</a:t>
            </a:r>
            <a:endParaRPr lang="en-US" sz="1100" dirty="0"/>
          </a:p>
        </p:txBody>
      </p:sp>
      <p:sp>
        <p:nvSpPr>
          <p:cNvPr id="7" name="Text 4"/>
          <p:cNvSpPr/>
          <p:nvPr/>
        </p:nvSpPr>
        <p:spPr>
          <a:xfrm>
            <a:off x="8458200" y="1874520"/>
            <a:ext cx="3200400" cy="50292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Contract plant labor is a sink</a:t>
            </a:r>
            <a:endParaRPr lang="en-US" sz="1700" dirty="0"/>
          </a:p>
        </p:txBody>
      </p:sp>
      <p:sp>
        <p:nvSpPr>
          <p:cNvPr id="8" name="Text 5"/>
          <p:cNvSpPr/>
          <p:nvPr/>
        </p:nvSpPr>
        <p:spPr>
          <a:xfrm>
            <a:off x="8458200" y="2423160"/>
            <a:ext cx="3200400" cy="1280160"/>
          </a:xfrm>
          <a:prstGeom prst="rect">
            <a:avLst/>
          </a:prstGeom>
          <a:noFill/>
          <a:ln/>
        </p:spPr>
        <p:txBody>
          <a:bodyPr wrap="square" lIns="0" tIns="0" rIns="0" bIns="0" rtlCol="0" anchor="t"/>
          <a:lstStyle/>
          <a:p>
            <a:pPr marL="0" indent="0">
              <a:spcAft>
                <a:spcPts val="200"/>
              </a:spcAft>
              <a:buNone/>
            </a:pPr>
            <a:r>
              <a:rPr lang="en-US" sz="1100" dirty="0">
                <a:solidFill>
                  <a:srgbClr val="CADCFC"/>
                </a:solidFill>
                <a:latin typeface="Calibri" pitchFamily="34" charset="0"/>
                <a:ea typeface="Calibri" pitchFamily="34" charset="-122"/>
                <a:cs typeface="Calibri" pitchFamily="34" charset="-120"/>
              </a:rPr>
              <a:t>4 of the top 8 misroutings all flow into Contract plant labor. It shares MIC=COEOTHER with 6+ other clusters — structured features alone can't tell them apart.
</a:t>
            </a:r>
            <a:r>
              <a:rPr lang="en-US" sz="1100" b="1" i="1" dirty="0">
                <a:solidFill>
                  <a:srgbClr val="FFFFFF"/>
                </a:solidFill>
                <a:latin typeface="Calibri" pitchFamily="34" charset="0"/>
                <a:ea typeface="Calibri" pitchFamily="34" charset="-122"/>
                <a:cs typeface="Calibri" pitchFamily="34" charset="-120"/>
              </a:rPr>
              <a:t>Result: overconfident false positives to a single category.</a:t>
            </a:r>
            <a:endParaRPr lang="en-US" sz="1100" dirty="0"/>
          </a:p>
        </p:txBody>
      </p:sp>
      <p:sp>
        <p:nvSpPr>
          <p:cNvPr id="9" name="Shape 6"/>
          <p:cNvSpPr/>
          <p:nvPr/>
        </p:nvSpPr>
        <p:spPr>
          <a:xfrm>
            <a:off x="8321040" y="3886200"/>
            <a:ext cx="3474720" cy="2103120"/>
          </a:xfrm>
          <a:prstGeom prst="roundRect">
            <a:avLst>
              <a:gd name="adj" fmla="val 3478"/>
            </a:avLst>
          </a:prstGeom>
          <a:solidFill>
            <a:srgbClr val="E8F5EF"/>
          </a:solidFill>
          <a:ln w="12700">
            <a:solidFill>
              <a:srgbClr val="2A9D8F"/>
            </a:solidFill>
            <a:prstDash val="solid"/>
          </a:ln>
        </p:spPr>
        <p:txBody>
          <a:bodyPr/>
          <a:lstStyle/>
          <a:p>
            <a:endParaRPr lang="en-US"/>
          </a:p>
        </p:txBody>
      </p:sp>
      <p:sp>
        <p:nvSpPr>
          <p:cNvPr id="10" name="Text 7"/>
          <p:cNvSpPr/>
          <p:nvPr/>
        </p:nvSpPr>
        <p:spPr>
          <a:xfrm>
            <a:off x="8458200" y="4023360"/>
            <a:ext cx="3200400" cy="320040"/>
          </a:xfrm>
          <a:prstGeom prst="rect">
            <a:avLst/>
          </a:prstGeom>
          <a:noFill/>
          <a:ln/>
        </p:spPr>
        <p:txBody>
          <a:bodyPr wrap="square" lIns="0" tIns="0" rIns="0" bIns="0" rtlCol="0" anchor="ctr"/>
          <a:lstStyle/>
          <a:p>
            <a:pPr marL="0" indent="0">
              <a:buNone/>
            </a:pPr>
            <a:r>
              <a:rPr lang="en-US" sz="1100" b="1" kern="0" spc="400" dirty="0">
                <a:solidFill>
                  <a:srgbClr val="2A9D8F"/>
                </a:solidFill>
                <a:latin typeface="Calibri" pitchFamily="34" charset="0"/>
                <a:ea typeface="Calibri" pitchFamily="34" charset="-122"/>
                <a:cs typeface="Calibri" pitchFamily="34" charset="-120"/>
              </a:rPr>
              <a:t>Why LLM helps here</a:t>
            </a:r>
            <a:endParaRPr lang="en-US" sz="1100" dirty="0"/>
          </a:p>
        </p:txBody>
      </p:sp>
      <p:sp>
        <p:nvSpPr>
          <p:cNvPr id="11" name="Text 8"/>
          <p:cNvSpPr/>
          <p:nvPr/>
        </p:nvSpPr>
        <p:spPr>
          <a:xfrm>
            <a:off x="8458200" y="4297680"/>
            <a:ext cx="3200400" cy="457200"/>
          </a:xfrm>
          <a:prstGeom prst="rect">
            <a:avLst/>
          </a:prstGeom>
          <a:noFill/>
          <a:ln/>
        </p:spPr>
        <p:txBody>
          <a:bodyPr wrap="square" lIns="0" tIns="0" rIns="0" bIns="0" rtlCol="0" anchor="ctr"/>
          <a:lstStyle/>
          <a:p>
            <a:pPr marL="0" indent="0">
              <a:buNone/>
            </a:pPr>
            <a:r>
              <a:rPr lang="en-US" sz="1700" b="1" dirty="0">
                <a:solidFill>
                  <a:srgbClr val="1A1A2E"/>
                </a:solidFill>
                <a:latin typeface="Cambria" pitchFamily="34" charset="0"/>
                <a:ea typeface="Cambria" pitchFamily="34" charset="-122"/>
                <a:cs typeface="Cambria" pitchFamily="34" charset="-120"/>
              </a:rPr>
              <a:t>Descriptions differ</a:t>
            </a:r>
            <a:endParaRPr lang="en-US" sz="1700" dirty="0"/>
          </a:p>
        </p:txBody>
      </p:sp>
      <p:sp>
        <p:nvSpPr>
          <p:cNvPr id="12" name="Text 9"/>
          <p:cNvSpPr/>
          <p:nvPr/>
        </p:nvSpPr>
        <p:spPr>
          <a:xfrm>
            <a:off x="8458200" y="4754880"/>
            <a:ext cx="3200400" cy="1188720"/>
          </a:xfrm>
          <a:prstGeom prst="rect">
            <a:avLst/>
          </a:prstGeom>
          <a:noFill/>
          <a:ln/>
        </p:spPr>
        <p:txBody>
          <a:bodyPr wrap="square" lIns="0" tIns="0" rIns="0" bIns="0" rtlCol="0" anchor="t"/>
          <a:lstStyle/>
          <a:p>
            <a:pPr marL="0" indent="0">
              <a:spcAft>
                <a:spcPts val="200"/>
              </a:spcAft>
              <a:buNone/>
            </a:pPr>
            <a:r>
              <a:rPr lang="en-US" sz="1100" dirty="0">
                <a:solidFill>
                  <a:srgbClr val="1A1A2E"/>
                </a:solidFill>
                <a:latin typeface="Calibri" pitchFamily="34" charset="0"/>
                <a:ea typeface="Calibri" pitchFamily="34" charset="-122"/>
                <a:cs typeface="Calibri" pitchFamily="34" charset="-120"/>
              </a:rPr>
              <a:t>"Weekly lawn maintenance" vs "MASTEC crew hours" look the same in EXTC/MIC but read differently. The LLM+RAG retrieves the right labeled precedent.
</a:t>
            </a:r>
            <a:r>
              <a:rPr lang="en-US" sz="1100" i="1" dirty="0">
                <a:solidFill>
                  <a:srgbClr val="5A6472"/>
                </a:solidFill>
                <a:latin typeface="Calibri" pitchFamily="34" charset="0"/>
                <a:ea typeface="Calibri" pitchFamily="34" charset="-122"/>
                <a:cs typeface="Calibri" pitchFamily="34" charset="-120"/>
              </a:rPr>
              <a:t>This is exactly the +62 pp lift showing up at the pair level.</a:t>
            </a:r>
            <a:endParaRPr lang="en-US" sz="1100" dirty="0"/>
          </a:p>
        </p:txBody>
      </p:sp>
      <p:sp>
        <p:nvSpPr>
          <p:cNvPr id="13" name="Text 10"/>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4" name="Text 11"/>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Rules vs ML on the Same Records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The retire-rule question, answered with data</a:t>
            </a:r>
            <a:endParaRPr lang="en-US" sz="1400" dirty="0"/>
          </a:p>
        </p:txBody>
      </p:sp>
      <p:sp>
        <p:nvSpPr>
          <p:cNvPr id="4" name="Shape 2"/>
          <p:cNvSpPr/>
          <p:nvPr/>
        </p:nvSpPr>
        <p:spPr>
          <a:xfrm>
            <a:off x="457200" y="1554480"/>
            <a:ext cx="11247120" cy="1371600"/>
          </a:xfrm>
          <a:prstGeom prst="roundRect">
            <a:avLst>
              <a:gd name="adj" fmla="val 5333"/>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640080" y="1737360"/>
            <a:ext cx="1088136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Rule accuracy  89.77%    ·    ML accuracy on same rows  89.81%    ·    Agreement rate  99.92%</a:t>
            </a:r>
            <a:endParaRPr lang="en-US" sz="2200" dirty="0"/>
          </a:p>
        </p:txBody>
      </p:sp>
      <p:sp>
        <p:nvSpPr>
          <p:cNvPr id="6" name="Text 4"/>
          <p:cNvSpPr/>
          <p:nvPr/>
        </p:nvSpPr>
        <p:spPr>
          <a:xfrm>
            <a:off x="640080" y="2331720"/>
            <a:ext cx="10881360" cy="457200"/>
          </a:xfrm>
          <a:prstGeom prst="rect">
            <a:avLst/>
          </a:prstGeom>
          <a:noFill/>
          <a:ln/>
        </p:spPr>
        <p:txBody>
          <a:bodyPr wrap="square" lIns="0" tIns="0" rIns="0" bIns="0" rtlCol="0" anchor="ctr"/>
          <a:lstStyle/>
          <a:p>
            <a:pPr marL="0" indent="0" algn="ctr">
              <a:buNone/>
            </a:pPr>
            <a:r>
              <a:rPr lang="en-US" sz="1400" i="1" dirty="0">
                <a:solidFill>
                  <a:srgbClr val="CADCFC"/>
                </a:solidFill>
                <a:latin typeface="Calibri" pitchFamily="34" charset="0"/>
                <a:ea typeface="Calibri" pitchFamily="34" charset="-122"/>
                <a:cs typeface="Calibri" pitchFamily="34" charset="-120"/>
              </a:rPr>
              <a:t>On the ~180K rule-matched rows across 24 months, the ML model reproduces the rule engine's output almost perfectly.</a:t>
            </a:r>
            <a:endParaRPr lang="en-US" sz="1400" dirty="0"/>
          </a:p>
        </p:txBody>
      </p:sp>
      <p:sp>
        <p:nvSpPr>
          <p:cNvPr id="7" name="Shape 5"/>
          <p:cNvSpPr/>
          <p:nvPr/>
        </p:nvSpPr>
        <p:spPr>
          <a:xfrm>
            <a:off x="457200" y="3108960"/>
            <a:ext cx="5623560" cy="2880360"/>
          </a:xfrm>
          <a:prstGeom prst="roundRect">
            <a:avLst>
              <a:gd name="adj" fmla="val 2540"/>
            </a:avLst>
          </a:prstGeom>
          <a:solidFill>
            <a:srgbClr val="FFFFFF"/>
          </a:solidFill>
          <a:ln w="6350">
            <a:solidFill>
              <a:srgbClr val="D6DDE8"/>
            </a:solidFill>
            <a:prstDash val="solid"/>
          </a:ln>
        </p:spPr>
        <p:txBody>
          <a:bodyPr/>
          <a:lstStyle/>
          <a:p>
            <a:endParaRPr lang="en-US"/>
          </a:p>
        </p:txBody>
      </p:sp>
      <p:sp>
        <p:nvSpPr>
          <p:cNvPr id="8" name="Text 6"/>
          <p:cNvSpPr/>
          <p:nvPr/>
        </p:nvSpPr>
        <p:spPr>
          <a:xfrm>
            <a:off x="640080" y="3246120"/>
            <a:ext cx="5257800" cy="32004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Rule × ML  outcome breakdown</a:t>
            </a:r>
            <a:endParaRPr lang="en-US" sz="1300" dirty="0"/>
          </a:p>
        </p:txBody>
      </p:sp>
      <p:sp>
        <p:nvSpPr>
          <p:cNvPr id="9" name="Text 7"/>
          <p:cNvSpPr/>
          <p:nvPr/>
        </p:nvSpPr>
        <p:spPr>
          <a:xfrm>
            <a:off x="731520" y="374904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Both correct</a:t>
            </a:r>
            <a:endParaRPr lang="en-US" sz="1300" dirty="0"/>
          </a:p>
        </p:txBody>
      </p:sp>
      <p:sp>
        <p:nvSpPr>
          <p:cNvPr id="10" name="Text 8"/>
          <p:cNvSpPr/>
          <p:nvPr/>
        </p:nvSpPr>
        <p:spPr>
          <a:xfrm>
            <a:off x="4709160" y="3749040"/>
            <a:ext cx="1097280" cy="411480"/>
          </a:xfrm>
          <a:prstGeom prst="rect">
            <a:avLst/>
          </a:prstGeom>
          <a:noFill/>
          <a:ln/>
        </p:spPr>
        <p:txBody>
          <a:bodyPr wrap="square" lIns="0" tIns="0" rIns="0" bIns="0" rtlCol="0" anchor="ctr"/>
          <a:lstStyle/>
          <a:p>
            <a:pPr marL="0" indent="0" algn="r">
              <a:buNone/>
            </a:pPr>
            <a:r>
              <a:rPr lang="en-US" sz="1800" b="1" dirty="0">
                <a:solidFill>
                  <a:srgbClr val="2A9D8F"/>
                </a:solidFill>
                <a:latin typeface="Cambria" pitchFamily="34" charset="0"/>
                <a:ea typeface="Cambria" pitchFamily="34" charset="-122"/>
                <a:cs typeface="Cambria" pitchFamily="34" charset="-120"/>
              </a:rPr>
              <a:t>~5</a:t>
            </a:r>
            <a:r>
              <a:rPr lang="en-US" b="1" dirty="0">
                <a:solidFill>
                  <a:srgbClr val="2A9D8F"/>
                </a:solidFill>
                <a:latin typeface="Cambria" pitchFamily="34" charset="0"/>
                <a:ea typeface="Cambria" pitchFamily="34" charset="-122"/>
                <a:cs typeface="Cambria" pitchFamily="34" charset="-120"/>
              </a:rPr>
              <a:t>9</a:t>
            </a:r>
            <a:r>
              <a:rPr lang="en-US" sz="1800" b="1" dirty="0">
                <a:solidFill>
                  <a:srgbClr val="2A9D8F"/>
                </a:solidFill>
                <a:latin typeface="Cambria" pitchFamily="34" charset="0"/>
                <a:ea typeface="Cambria" pitchFamily="34" charset="-122"/>
                <a:cs typeface="Cambria" pitchFamily="34" charset="-120"/>
              </a:rPr>
              <a:t>2K</a:t>
            </a:r>
            <a:endParaRPr lang="en-US" sz="1800" dirty="0"/>
          </a:p>
        </p:txBody>
      </p:sp>
      <p:sp>
        <p:nvSpPr>
          <p:cNvPr id="11" name="Text 9"/>
          <p:cNvSpPr/>
          <p:nvPr/>
        </p:nvSpPr>
        <p:spPr>
          <a:xfrm>
            <a:off x="731520" y="425196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Both wrong</a:t>
            </a:r>
            <a:endParaRPr lang="en-US" sz="1300" dirty="0"/>
          </a:p>
        </p:txBody>
      </p:sp>
      <p:sp>
        <p:nvSpPr>
          <p:cNvPr id="12" name="Text 10"/>
          <p:cNvSpPr/>
          <p:nvPr/>
        </p:nvSpPr>
        <p:spPr>
          <a:xfrm>
            <a:off x="4709160" y="4251960"/>
            <a:ext cx="1097280" cy="411480"/>
          </a:xfrm>
          <a:prstGeom prst="rect">
            <a:avLst/>
          </a:prstGeom>
          <a:noFill/>
          <a:ln/>
        </p:spPr>
        <p:txBody>
          <a:bodyPr wrap="square" lIns="0" tIns="0" rIns="0" bIns="0" rtlCol="0" anchor="ctr"/>
          <a:lstStyle/>
          <a:p>
            <a:pPr marL="0" indent="0" algn="r">
              <a:buNone/>
            </a:pPr>
            <a:r>
              <a:rPr lang="en-US" sz="1800" b="1" dirty="0">
                <a:solidFill>
                  <a:srgbClr val="C0433F"/>
                </a:solidFill>
                <a:latin typeface="Cambria" pitchFamily="34" charset="0"/>
                <a:ea typeface="Cambria" pitchFamily="34" charset="-122"/>
                <a:cs typeface="Cambria" pitchFamily="34" charset="-120"/>
              </a:rPr>
              <a:t>~1K</a:t>
            </a:r>
            <a:endParaRPr lang="en-US" sz="1800" dirty="0"/>
          </a:p>
        </p:txBody>
      </p:sp>
      <p:sp>
        <p:nvSpPr>
          <p:cNvPr id="13" name="Text 11"/>
          <p:cNvSpPr/>
          <p:nvPr/>
        </p:nvSpPr>
        <p:spPr>
          <a:xfrm>
            <a:off x="731520" y="475488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Rule correct, ML wrong</a:t>
            </a:r>
            <a:endParaRPr lang="en-US" sz="1300" dirty="0"/>
          </a:p>
        </p:txBody>
      </p:sp>
      <p:sp>
        <p:nvSpPr>
          <p:cNvPr id="14" name="Text 12"/>
          <p:cNvSpPr/>
          <p:nvPr/>
        </p:nvSpPr>
        <p:spPr>
          <a:xfrm>
            <a:off x="4709160" y="4754880"/>
            <a:ext cx="1097280" cy="411480"/>
          </a:xfrm>
          <a:prstGeom prst="rect">
            <a:avLst/>
          </a:prstGeom>
          <a:noFill/>
          <a:ln/>
        </p:spPr>
        <p:txBody>
          <a:bodyPr wrap="square" lIns="0" tIns="0" rIns="0" bIns="0" rtlCol="0" anchor="ctr"/>
          <a:lstStyle/>
          <a:p>
            <a:pPr marL="0" indent="0" algn="r">
              <a:buNone/>
            </a:pPr>
            <a:r>
              <a:rPr lang="en-US" sz="1800" b="1" dirty="0">
                <a:solidFill>
                  <a:srgbClr val="5A6472"/>
                </a:solidFill>
                <a:latin typeface="Cambria" pitchFamily="34" charset="0"/>
                <a:ea typeface="Cambria" pitchFamily="34" charset="-122"/>
                <a:cs typeface="Cambria" pitchFamily="34" charset="-120"/>
              </a:rPr>
              <a:t>~18</a:t>
            </a:r>
            <a:r>
              <a:rPr lang="en-US" b="1" dirty="0">
                <a:solidFill>
                  <a:srgbClr val="5A6472"/>
                </a:solidFill>
                <a:latin typeface="Cambria" pitchFamily="34" charset="0"/>
                <a:ea typeface="Cambria" pitchFamily="34" charset="-122"/>
                <a:cs typeface="Cambria" pitchFamily="34" charset="-120"/>
              </a:rPr>
              <a:t>K</a:t>
            </a:r>
            <a:endParaRPr lang="en-US" sz="1800" dirty="0"/>
          </a:p>
        </p:txBody>
      </p:sp>
      <p:sp>
        <p:nvSpPr>
          <p:cNvPr id="15" name="Text 13"/>
          <p:cNvSpPr/>
          <p:nvPr/>
        </p:nvSpPr>
        <p:spPr>
          <a:xfrm>
            <a:off x="731520" y="5257800"/>
            <a:ext cx="3794760" cy="411480"/>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ML correct, Rule wrong</a:t>
            </a:r>
            <a:endParaRPr lang="en-US" sz="1300" dirty="0"/>
          </a:p>
        </p:txBody>
      </p:sp>
      <p:sp>
        <p:nvSpPr>
          <p:cNvPr id="16" name="Text 14"/>
          <p:cNvSpPr/>
          <p:nvPr/>
        </p:nvSpPr>
        <p:spPr>
          <a:xfrm>
            <a:off x="4709160" y="5257800"/>
            <a:ext cx="1097280" cy="411480"/>
          </a:xfrm>
          <a:prstGeom prst="rect">
            <a:avLst/>
          </a:prstGeom>
          <a:noFill/>
          <a:ln/>
        </p:spPr>
        <p:txBody>
          <a:bodyPr wrap="square" lIns="0" tIns="0" rIns="0" bIns="0" rtlCol="0" anchor="ctr"/>
          <a:lstStyle/>
          <a:p>
            <a:pPr marL="0" indent="0" algn="r">
              <a:buNone/>
            </a:pPr>
            <a:r>
              <a:rPr lang="en-US" sz="1800" b="1" dirty="0">
                <a:solidFill>
                  <a:srgbClr val="5A6472"/>
                </a:solidFill>
                <a:latin typeface="Cambria" pitchFamily="34" charset="0"/>
                <a:ea typeface="Cambria" pitchFamily="34" charset="-122"/>
                <a:cs typeface="Cambria" pitchFamily="34" charset="-120"/>
              </a:rPr>
              <a:t>~</a:t>
            </a:r>
            <a:r>
              <a:rPr lang="en-US" b="1" dirty="0">
                <a:solidFill>
                  <a:srgbClr val="5A6472"/>
                </a:solidFill>
                <a:latin typeface="Cambria" pitchFamily="34" charset="0"/>
                <a:ea typeface="Cambria" pitchFamily="34" charset="-122"/>
                <a:cs typeface="Cambria" pitchFamily="34" charset="-120"/>
              </a:rPr>
              <a:t>2k</a:t>
            </a:r>
            <a:endParaRPr lang="en-US" sz="1800" dirty="0"/>
          </a:p>
        </p:txBody>
      </p:sp>
      <p:sp>
        <p:nvSpPr>
          <p:cNvPr id="17" name="Shape 15"/>
          <p:cNvSpPr/>
          <p:nvPr/>
        </p:nvSpPr>
        <p:spPr>
          <a:xfrm>
            <a:off x="6263640" y="3108960"/>
            <a:ext cx="5623560" cy="2880360"/>
          </a:xfrm>
          <a:prstGeom prst="roundRect">
            <a:avLst>
              <a:gd name="adj" fmla="val 2540"/>
            </a:avLst>
          </a:prstGeom>
          <a:solidFill>
            <a:srgbClr val="FFFFFF"/>
          </a:solidFill>
          <a:ln w="6350">
            <a:solidFill>
              <a:srgbClr val="D6DDE8"/>
            </a:solidFill>
            <a:prstDash val="solid"/>
          </a:ln>
        </p:spPr>
        <p:txBody>
          <a:bodyPr/>
          <a:lstStyle/>
          <a:p>
            <a:endParaRPr lang="en-US"/>
          </a:p>
        </p:txBody>
      </p:sp>
      <p:sp>
        <p:nvSpPr>
          <p:cNvPr id="18" name="Text 16"/>
          <p:cNvSpPr/>
          <p:nvPr/>
        </p:nvSpPr>
        <p:spPr>
          <a:xfrm>
            <a:off x="6446520" y="3246120"/>
            <a:ext cx="5303520" cy="32004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What this means</a:t>
            </a:r>
            <a:endParaRPr lang="en-US" sz="1300" dirty="0"/>
          </a:p>
        </p:txBody>
      </p:sp>
      <p:sp>
        <p:nvSpPr>
          <p:cNvPr id="19" name="Text 17"/>
          <p:cNvSpPr/>
          <p:nvPr/>
        </p:nvSpPr>
        <p:spPr>
          <a:xfrm>
            <a:off x="6446520" y="3566160"/>
            <a:ext cx="5303520" cy="2377440"/>
          </a:xfrm>
          <a:prstGeom prst="rect">
            <a:avLst/>
          </a:prstGeom>
          <a:noFill/>
          <a:ln/>
        </p:spPr>
        <p:txBody>
          <a:bodyPr wrap="square" lIns="0" tIns="0" rIns="0" bIns="0" rtlCol="0" anchor="t"/>
          <a:lstStyle/>
          <a:p>
            <a:pPr marL="0" indent="0">
              <a:spcAft>
                <a:spcPts val="400"/>
              </a:spcAft>
              <a:buNone/>
            </a:pPr>
            <a:r>
              <a:rPr lang="en-US" sz="1200" b="1" dirty="0">
                <a:solidFill>
                  <a:srgbClr val="1A1A2E"/>
                </a:solidFill>
                <a:latin typeface="Calibri" pitchFamily="34" charset="0"/>
                <a:ea typeface="Calibri" pitchFamily="34" charset="-122"/>
                <a:cs typeface="Calibri" pitchFamily="34" charset="-120"/>
              </a:rPr>
              <a:t>The ML model has learned everything the rules encode.
</a:t>
            </a:r>
            <a:r>
              <a:rPr lang="en-US" sz="1200" dirty="0">
                <a:solidFill>
                  <a:srgbClr val="1A1A2E"/>
                </a:solidFill>
                <a:latin typeface="Calibri" pitchFamily="34" charset="0"/>
                <a:ea typeface="Calibri" pitchFamily="34" charset="-122"/>
                <a:cs typeface="Calibri" pitchFamily="34" charset="-120"/>
              </a:rPr>
              <a:t>Rules stay because they're auditable, deterministic, and give analysts an explainable trace. But on any cluster where rules encode a clean pattern, the ML would produce the same answer.
Retire-rule candidate flag: </a:t>
            </a:r>
            <a:r>
              <a:rPr lang="en-US" sz="1200" b="1" dirty="0">
                <a:solidFill>
                  <a:srgbClr val="2A9D8F"/>
                </a:solidFill>
                <a:latin typeface="Calibri" pitchFamily="34" charset="0"/>
                <a:ea typeface="Calibri" pitchFamily="34" charset="-122"/>
                <a:cs typeface="Calibri" pitchFamily="34" charset="-120"/>
              </a:rPr>
              <a:t>YES  </a:t>
            </a:r>
            <a:r>
              <a:rPr lang="en-US" sz="1200" dirty="0">
                <a:solidFill>
                  <a:srgbClr val="1A1A2E"/>
                </a:solidFill>
                <a:latin typeface="Calibri" pitchFamily="34" charset="0"/>
                <a:ea typeface="Calibri" pitchFamily="34" charset="-122"/>
                <a:cs typeface="Calibri" pitchFamily="34" charset="-120"/>
              </a:rPr>
              <a:t>(ML ≥ rule accuracy).
</a:t>
            </a:r>
            <a:r>
              <a:rPr lang="en-US" sz="1100" i="1" dirty="0">
                <a:solidFill>
                  <a:srgbClr val="5A6472"/>
                </a:solidFill>
                <a:latin typeface="Calibri" pitchFamily="34" charset="0"/>
                <a:ea typeface="Calibri" pitchFamily="34" charset="-122"/>
                <a:cs typeface="Calibri" pitchFamily="34" charset="-120"/>
              </a:rPr>
              <a:t>In prod, the ~18K rows where both are wrong are the ones where LLM adds the value — that's exactly the +62 pp lift from the previous slide.</a:t>
            </a:r>
            <a:endParaRPr lang="en-US" sz="1200" dirty="0"/>
          </a:p>
        </p:txBody>
      </p:sp>
      <p:sp>
        <p:nvSpPr>
          <p:cNvPr id="20" name="Text 18"/>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21" name="Text 19"/>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What Drives the Predictions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Text (TF-IDF) does most of the work — structured features are backup</a:t>
            </a:r>
            <a:endParaRPr lang="en-US" sz="1400" dirty="0"/>
          </a:p>
        </p:txBody>
      </p:sp>
      <p:graphicFrame>
        <p:nvGraphicFramePr>
          <p:cNvPr id="4" name="Chart 0"/>
          <p:cNvGraphicFramePr/>
          <p:nvPr/>
        </p:nvGraphicFramePr>
        <p:xfrm>
          <a:off x="457200" y="1417320"/>
          <a:ext cx="68580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7680960" y="150876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7680960" y="4572000"/>
            <a:ext cx="4114800" cy="1417320"/>
          </a:xfrm>
          <a:prstGeom prst="roundRect">
            <a:avLst>
              <a:gd name="adj" fmla="val 5161"/>
            </a:avLst>
          </a:prstGeom>
          <a:solidFill>
            <a:srgbClr val="FFFFFF"/>
          </a:solidFill>
          <a:ln w="6350">
            <a:solidFill>
              <a:srgbClr val="D6DDE8"/>
            </a:solidFill>
            <a:prstDash val="solid"/>
          </a:ln>
        </p:spPr>
        <p:txBody>
          <a:bodyPr/>
          <a:lstStyle/>
          <a:p>
            <a:endParaRPr lang="en-US"/>
          </a:p>
        </p:txBody>
      </p:sp>
      <p:sp>
        <p:nvSpPr>
          <p:cNvPr id="7" name="Text 3"/>
          <p:cNvSpPr/>
          <p:nvPr/>
        </p:nvSpPr>
        <p:spPr>
          <a:xfrm>
            <a:off x="7818120" y="4663440"/>
            <a:ext cx="384048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Why this matters</a:t>
            </a:r>
            <a:endParaRPr lang="en-US" sz="1100" dirty="0"/>
          </a:p>
        </p:txBody>
      </p:sp>
      <p:sp>
        <p:nvSpPr>
          <p:cNvPr id="8" name="Text 4"/>
          <p:cNvSpPr/>
          <p:nvPr/>
        </p:nvSpPr>
        <p:spPr>
          <a:xfrm>
            <a:off x="7818120" y="4937760"/>
            <a:ext cx="3840480" cy="1005840"/>
          </a:xfrm>
          <a:prstGeom prst="rect">
            <a:avLst/>
          </a:prstGeom>
          <a:noFill/>
          <a:ln/>
        </p:spPr>
        <p:txBody>
          <a:bodyPr wrap="square" lIns="0" tIns="0" rIns="0" bIns="0" rtlCol="0" anchor="ctr"/>
          <a:lstStyle/>
          <a:p>
            <a:pPr marL="0" indent="0">
              <a:buNone/>
            </a:pPr>
            <a:r>
              <a:rPr lang="en-US" sz="1000" i="1" dirty="0">
                <a:solidFill>
                  <a:srgbClr val="1A1A2E"/>
                </a:solidFill>
                <a:latin typeface="Calibri" pitchFamily="34" charset="0"/>
                <a:ea typeface="Calibri" pitchFamily="34" charset="-122"/>
                <a:cs typeface="Calibri" pitchFamily="34" charset="-120"/>
              </a:rPr>
              <a:t>Descriptions are the signal.  A better text encoder (GTE-Large from your existing RAG stack) should lift accuracy more than more categorical features would.</a:t>
            </a:r>
            <a:endParaRPr lang="en-US" sz="1000" dirty="0"/>
          </a:p>
        </p:txBody>
      </p:sp>
      <p:sp>
        <p:nvSpPr>
          <p:cNvPr id="9" name="Text 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0" name="Text 6"/>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LLM Prompt Anatomy</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What goes to the LLM per invoice, and how big each piece is</a:t>
            </a:r>
            <a:endParaRPr lang="en-US" sz="1400" dirty="0"/>
          </a:p>
        </p:txBody>
      </p:sp>
      <p:sp>
        <p:nvSpPr>
          <p:cNvPr id="4" name="Shape 2"/>
          <p:cNvSpPr/>
          <p:nvPr/>
        </p:nvSpPr>
        <p:spPr>
          <a:xfrm>
            <a:off x="457200" y="1463040"/>
            <a:ext cx="5623560" cy="4480560"/>
          </a:xfrm>
          <a:prstGeom prst="roundRect">
            <a:avLst>
              <a:gd name="adj" fmla="val 1633"/>
            </a:avLst>
          </a:prstGeom>
          <a:solidFill>
            <a:srgbClr val="FFFFFF"/>
          </a:solidFill>
          <a:ln w="6350">
            <a:solidFill>
              <a:srgbClr val="D6DDE8"/>
            </a:solidFill>
            <a:prstDash val="solid"/>
          </a:ln>
        </p:spPr>
        <p:txBody>
          <a:bodyPr/>
          <a:lstStyle/>
          <a:p>
            <a:endParaRPr lang="en-US"/>
          </a:p>
        </p:txBody>
      </p:sp>
      <p:sp>
        <p:nvSpPr>
          <p:cNvPr id="5" name="Text 3"/>
          <p:cNvSpPr/>
          <p:nvPr/>
        </p:nvSpPr>
        <p:spPr>
          <a:xfrm>
            <a:off x="640080" y="1645920"/>
            <a:ext cx="5303520" cy="365760"/>
          </a:xfrm>
          <a:prstGeom prst="rect">
            <a:avLst/>
          </a:prstGeom>
          <a:noFill/>
          <a:ln/>
        </p:spPr>
        <p:txBody>
          <a:bodyPr wrap="square" lIns="0" tIns="0" rIns="0" bIns="0" rtlCol="0" anchor="ctr"/>
          <a:lstStyle/>
          <a:p>
            <a:pPr marL="0" indent="0">
              <a:buNone/>
            </a:pPr>
            <a:r>
              <a:rPr lang="en-US" sz="1500" b="1" dirty="0">
                <a:solidFill>
                  <a:srgbClr val="1A1A2E"/>
                </a:solidFill>
                <a:latin typeface="Cambria" pitchFamily="34" charset="0"/>
                <a:ea typeface="Cambria" pitchFamily="34" charset="-122"/>
                <a:cs typeface="Cambria" pitchFamily="34" charset="-120"/>
              </a:rPr>
              <a:t>Per-invoice token budget</a:t>
            </a:r>
            <a:endParaRPr lang="en-US" sz="1500" dirty="0"/>
          </a:p>
        </p:txBody>
      </p:sp>
      <p:sp>
        <p:nvSpPr>
          <p:cNvPr id="6" name="Text 4"/>
          <p:cNvSpPr/>
          <p:nvPr/>
        </p:nvSpPr>
        <p:spPr>
          <a:xfrm>
            <a:off x="731520" y="219456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System prompt</a:t>
            </a:r>
            <a:endParaRPr lang="en-US" sz="1200" dirty="0"/>
          </a:p>
        </p:txBody>
      </p:sp>
      <p:sp>
        <p:nvSpPr>
          <p:cNvPr id="7" name="Text 5"/>
          <p:cNvSpPr/>
          <p:nvPr/>
        </p:nvSpPr>
        <p:spPr>
          <a:xfrm>
            <a:off x="731520" y="246888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task spec + JSON output schema</a:t>
            </a:r>
            <a:endParaRPr lang="en-US" sz="900" dirty="0"/>
          </a:p>
        </p:txBody>
      </p:sp>
      <p:sp>
        <p:nvSpPr>
          <p:cNvPr id="8" name="Shape 6"/>
          <p:cNvSpPr/>
          <p:nvPr/>
        </p:nvSpPr>
        <p:spPr>
          <a:xfrm>
            <a:off x="2377440" y="2304288"/>
            <a:ext cx="1440180" cy="365760"/>
          </a:xfrm>
          <a:prstGeom prst="roundRect">
            <a:avLst>
              <a:gd name="adj" fmla="val 12500"/>
            </a:avLst>
          </a:prstGeom>
          <a:solidFill>
            <a:srgbClr val="3D5A80"/>
          </a:solidFill>
          <a:ln w="12700">
            <a:solidFill>
              <a:srgbClr val="3D5A80"/>
            </a:solidFill>
            <a:prstDash val="solid"/>
          </a:ln>
        </p:spPr>
        <p:txBody>
          <a:bodyPr/>
          <a:lstStyle/>
          <a:p>
            <a:endParaRPr lang="en-US"/>
          </a:p>
        </p:txBody>
      </p:sp>
      <p:sp>
        <p:nvSpPr>
          <p:cNvPr id="9" name="Text 7"/>
          <p:cNvSpPr/>
          <p:nvPr/>
        </p:nvSpPr>
        <p:spPr>
          <a:xfrm>
            <a:off x="5029200" y="230428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210 tokens</a:t>
            </a:r>
            <a:endParaRPr lang="en-US" sz="1100" dirty="0"/>
          </a:p>
        </p:txBody>
      </p:sp>
      <p:sp>
        <p:nvSpPr>
          <p:cNvPr id="10" name="Text 8"/>
          <p:cNvSpPr/>
          <p:nvPr/>
        </p:nvSpPr>
        <p:spPr>
          <a:xfrm>
            <a:off x="731520" y="297180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RAG context</a:t>
            </a:r>
            <a:endParaRPr lang="en-US" sz="1200" dirty="0"/>
          </a:p>
        </p:txBody>
      </p:sp>
      <p:sp>
        <p:nvSpPr>
          <p:cNvPr id="11" name="Text 9"/>
          <p:cNvSpPr/>
          <p:nvPr/>
        </p:nvSpPr>
        <p:spPr>
          <a:xfrm>
            <a:off x="731520" y="324612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5 retrieved labeled invoices</a:t>
            </a:r>
            <a:endParaRPr lang="en-US" sz="900" dirty="0"/>
          </a:p>
        </p:txBody>
      </p:sp>
      <p:sp>
        <p:nvSpPr>
          <p:cNvPr id="12" name="Shape 10"/>
          <p:cNvSpPr/>
          <p:nvPr/>
        </p:nvSpPr>
        <p:spPr>
          <a:xfrm>
            <a:off x="2377440" y="3081528"/>
            <a:ext cx="3086100" cy="365760"/>
          </a:xfrm>
          <a:prstGeom prst="roundRect">
            <a:avLst>
              <a:gd name="adj" fmla="val 12500"/>
            </a:avLst>
          </a:prstGeom>
          <a:solidFill>
            <a:srgbClr val="1E2761"/>
          </a:solidFill>
          <a:ln w="12700">
            <a:solidFill>
              <a:srgbClr val="1E2761"/>
            </a:solidFill>
            <a:prstDash val="solid"/>
          </a:ln>
        </p:spPr>
        <p:txBody>
          <a:bodyPr/>
          <a:lstStyle/>
          <a:p>
            <a:endParaRPr lang="en-US"/>
          </a:p>
        </p:txBody>
      </p:sp>
      <p:sp>
        <p:nvSpPr>
          <p:cNvPr id="13" name="Text 11"/>
          <p:cNvSpPr/>
          <p:nvPr/>
        </p:nvSpPr>
        <p:spPr>
          <a:xfrm>
            <a:off x="5029200" y="308152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450 tokens</a:t>
            </a:r>
            <a:endParaRPr lang="en-US" sz="1100" dirty="0"/>
          </a:p>
        </p:txBody>
      </p:sp>
      <p:sp>
        <p:nvSpPr>
          <p:cNvPr id="14" name="Text 12"/>
          <p:cNvSpPr/>
          <p:nvPr/>
        </p:nvSpPr>
        <p:spPr>
          <a:xfrm>
            <a:off x="731520" y="374904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Query invoice</a:t>
            </a:r>
            <a:endParaRPr lang="en-US" sz="1200" dirty="0"/>
          </a:p>
        </p:txBody>
      </p:sp>
      <p:sp>
        <p:nvSpPr>
          <p:cNvPr id="15" name="Text 13"/>
          <p:cNvSpPr/>
          <p:nvPr/>
        </p:nvSpPr>
        <p:spPr>
          <a:xfrm>
            <a:off x="731520" y="402336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description + vendor + EXTC + MIC</a:t>
            </a:r>
            <a:endParaRPr lang="en-US" sz="900" dirty="0"/>
          </a:p>
        </p:txBody>
      </p:sp>
      <p:sp>
        <p:nvSpPr>
          <p:cNvPr id="16" name="Shape 14"/>
          <p:cNvSpPr/>
          <p:nvPr/>
        </p:nvSpPr>
        <p:spPr>
          <a:xfrm>
            <a:off x="2377440" y="3858768"/>
            <a:ext cx="617220" cy="365760"/>
          </a:xfrm>
          <a:prstGeom prst="roundRect">
            <a:avLst>
              <a:gd name="adj" fmla="val 12500"/>
            </a:avLst>
          </a:prstGeom>
          <a:solidFill>
            <a:srgbClr val="6C89B8"/>
          </a:solidFill>
          <a:ln w="12700">
            <a:solidFill>
              <a:srgbClr val="6C89B8"/>
            </a:solidFill>
            <a:prstDash val="solid"/>
          </a:ln>
        </p:spPr>
        <p:txBody>
          <a:bodyPr/>
          <a:lstStyle/>
          <a:p>
            <a:endParaRPr lang="en-US"/>
          </a:p>
        </p:txBody>
      </p:sp>
      <p:sp>
        <p:nvSpPr>
          <p:cNvPr id="17" name="Text 15"/>
          <p:cNvSpPr/>
          <p:nvPr/>
        </p:nvSpPr>
        <p:spPr>
          <a:xfrm>
            <a:off x="5029200" y="385876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90 tokens</a:t>
            </a:r>
            <a:endParaRPr lang="en-US" sz="1100" dirty="0"/>
          </a:p>
        </p:txBody>
      </p:sp>
      <p:sp>
        <p:nvSpPr>
          <p:cNvPr id="18" name="Text 16"/>
          <p:cNvSpPr/>
          <p:nvPr/>
        </p:nvSpPr>
        <p:spPr>
          <a:xfrm>
            <a:off x="731520" y="4526280"/>
            <a:ext cx="1600200" cy="274320"/>
          </a:xfrm>
          <a:prstGeom prst="rect">
            <a:avLst/>
          </a:prstGeom>
          <a:noFill/>
          <a:ln/>
        </p:spPr>
        <p:txBody>
          <a:bodyPr wrap="square" lIns="0" tIns="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Output (JSON)</a:t>
            </a:r>
            <a:endParaRPr lang="en-US" sz="1200" dirty="0"/>
          </a:p>
        </p:txBody>
      </p:sp>
      <p:sp>
        <p:nvSpPr>
          <p:cNvPr id="19" name="Text 17"/>
          <p:cNvSpPr/>
          <p:nvPr/>
        </p:nvSpPr>
        <p:spPr>
          <a:xfrm>
            <a:off x="731520" y="4800600"/>
            <a:ext cx="1600200" cy="320040"/>
          </a:xfrm>
          <a:prstGeom prst="rect">
            <a:avLst/>
          </a:prstGeom>
          <a:noFill/>
          <a:ln/>
        </p:spPr>
        <p:txBody>
          <a:bodyPr wrap="square" lIns="0" tIns="0" rIns="0" bIns="0" rtlCol="0" anchor="ctr"/>
          <a:lstStyle/>
          <a:p>
            <a:pPr marL="0" indent="0">
              <a:buNone/>
            </a:pPr>
            <a:r>
              <a:rPr lang="en-US" sz="900" i="1" dirty="0">
                <a:solidFill>
                  <a:srgbClr val="5A6472"/>
                </a:solidFill>
                <a:latin typeface="Calibri" pitchFamily="34" charset="0"/>
                <a:ea typeface="Calibri" pitchFamily="34" charset="-122"/>
                <a:cs typeface="Calibri" pitchFamily="34" charset="-120"/>
              </a:rPr>
              <a:t>category + confidence + reasoning</a:t>
            </a:r>
            <a:endParaRPr lang="en-US" sz="900" dirty="0"/>
          </a:p>
        </p:txBody>
      </p:sp>
      <p:sp>
        <p:nvSpPr>
          <p:cNvPr id="20" name="Shape 18"/>
          <p:cNvSpPr/>
          <p:nvPr/>
        </p:nvSpPr>
        <p:spPr>
          <a:xfrm>
            <a:off x="2377440" y="4636008"/>
            <a:ext cx="480060" cy="365760"/>
          </a:xfrm>
          <a:prstGeom prst="roundRect">
            <a:avLst>
              <a:gd name="adj" fmla="val 12500"/>
            </a:avLst>
          </a:prstGeom>
          <a:solidFill>
            <a:srgbClr val="E9A63A"/>
          </a:solidFill>
          <a:ln w="12700">
            <a:solidFill>
              <a:srgbClr val="E9A63A"/>
            </a:solidFill>
            <a:prstDash val="solid"/>
          </a:ln>
        </p:spPr>
        <p:txBody>
          <a:bodyPr/>
          <a:lstStyle/>
          <a:p>
            <a:endParaRPr lang="en-US"/>
          </a:p>
        </p:txBody>
      </p:sp>
      <p:sp>
        <p:nvSpPr>
          <p:cNvPr id="21" name="Text 19"/>
          <p:cNvSpPr/>
          <p:nvPr/>
        </p:nvSpPr>
        <p:spPr>
          <a:xfrm>
            <a:off x="5029200" y="4636008"/>
            <a:ext cx="822960" cy="365760"/>
          </a:xfrm>
          <a:prstGeom prst="rect">
            <a:avLst/>
          </a:prstGeom>
          <a:noFill/>
          <a:ln/>
        </p:spPr>
        <p:txBody>
          <a:bodyPr wrap="square" lIns="0" tIns="0" rIns="0" bIns="0" rtlCol="0" anchor="ctr"/>
          <a:lstStyle/>
          <a:p>
            <a:pPr marL="0" indent="0" algn="r">
              <a:buNone/>
            </a:pPr>
            <a:r>
              <a:rPr lang="en-US" sz="1100" b="1" dirty="0">
                <a:solidFill>
                  <a:srgbClr val="1A1A2E"/>
                </a:solidFill>
                <a:latin typeface="Calibri" pitchFamily="34" charset="0"/>
                <a:ea typeface="Calibri" pitchFamily="34" charset="-122"/>
                <a:cs typeface="Calibri" pitchFamily="34" charset="-120"/>
              </a:rPr>
              <a:t>70 tokens</a:t>
            </a:r>
            <a:endParaRPr lang="en-US" sz="1100" dirty="0"/>
          </a:p>
        </p:txBody>
      </p:sp>
      <p:sp>
        <p:nvSpPr>
          <p:cNvPr id="22" name="Shape 20"/>
          <p:cNvSpPr/>
          <p:nvPr/>
        </p:nvSpPr>
        <p:spPr>
          <a:xfrm>
            <a:off x="731520" y="5394960"/>
            <a:ext cx="5074920" cy="0"/>
          </a:xfrm>
          <a:prstGeom prst="line">
            <a:avLst/>
          </a:prstGeom>
          <a:noFill/>
          <a:ln w="12700">
            <a:solidFill>
              <a:srgbClr val="D6DDE8"/>
            </a:solidFill>
            <a:prstDash val="solid"/>
          </a:ln>
        </p:spPr>
        <p:txBody>
          <a:bodyPr/>
          <a:lstStyle/>
          <a:p>
            <a:endParaRPr lang="en-US"/>
          </a:p>
        </p:txBody>
      </p:sp>
      <p:sp>
        <p:nvSpPr>
          <p:cNvPr id="23" name="Text 21"/>
          <p:cNvSpPr/>
          <p:nvPr/>
        </p:nvSpPr>
        <p:spPr>
          <a:xfrm>
            <a:off x="731520" y="5532120"/>
            <a:ext cx="2743200" cy="365760"/>
          </a:xfrm>
          <a:prstGeom prst="rect">
            <a:avLst/>
          </a:prstGeom>
          <a:noFill/>
          <a:ln/>
        </p:spPr>
        <p:txBody>
          <a:bodyPr wrap="square" lIns="0" tIns="0" rIns="0" bIns="0" rtlCol="0" anchor="ctr"/>
          <a:lstStyle/>
          <a:p>
            <a:pPr marL="0" indent="0">
              <a:buNone/>
            </a:pPr>
            <a:r>
              <a:rPr lang="en-US" sz="1300" b="1" dirty="0">
                <a:solidFill>
                  <a:srgbClr val="1A1A2E"/>
                </a:solidFill>
                <a:latin typeface="Cambria" pitchFamily="34" charset="0"/>
                <a:ea typeface="Cambria" pitchFamily="34" charset="-122"/>
                <a:cs typeface="Cambria" pitchFamily="34" charset="-120"/>
              </a:rPr>
              <a:t>Total per call</a:t>
            </a:r>
            <a:endParaRPr lang="en-US" sz="1300" dirty="0"/>
          </a:p>
        </p:txBody>
      </p:sp>
      <p:sp>
        <p:nvSpPr>
          <p:cNvPr id="24" name="Text 22"/>
          <p:cNvSpPr/>
          <p:nvPr/>
        </p:nvSpPr>
        <p:spPr>
          <a:xfrm>
            <a:off x="3200400" y="5532120"/>
            <a:ext cx="2606040" cy="365760"/>
          </a:xfrm>
          <a:prstGeom prst="rect">
            <a:avLst/>
          </a:prstGeom>
          <a:noFill/>
          <a:ln/>
        </p:spPr>
        <p:txBody>
          <a:bodyPr wrap="square" lIns="0" tIns="0" rIns="0" bIns="0" rtlCol="0" anchor="ctr"/>
          <a:lstStyle/>
          <a:p>
            <a:pPr marL="0" indent="0" algn="r">
              <a:buNone/>
            </a:pPr>
            <a:r>
              <a:rPr lang="en-US" sz="1500" b="1" dirty="0">
                <a:solidFill>
                  <a:srgbClr val="1E2761"/>
                </a:solidFill>
                <a:latin typeface="Cambria" pitchFamily="34" charset="0"/>
                <a:ea typeface="Cambria" pitchFamily="34" charset="-122"/>
                <a:cs typeface="Cambria" pitchFamily="34" charset="-120"/>
              </a:rPr>
              <a:t>~820 tokens</a:t>
            </a:r>
            <a:endParaRPr lang="en-US" sz="1500" dirty="0"/>
          </a:p>
        </p:txBody>
      </p:sp>
      <p:sp>
        <p:nvSpPr>
          <p:cNvPr id="25" name="Shape 23"/>
          <p:cNvSpPr/>
          <p:nvPr/>
        </p:nvSpPr>
        <p:spPr>
          <a:xfrm>
            <a:off x="6263640" y="1463040"/>
            <a:ext cx="5623560" cy="4480560"/>
          </a:xfrm>
          <a:prstGeom prst="roundRect">
            <a:avLst>
              <a:gd name="adj" fmla="val 1633"/>
            </a:avLst>
          </a:prstGeom>
          <a:solidFill>
            <a:srgbClr val="12163B"/>
          </a:solidFill>
          <a:ln w="12700">
            <a:solidFill>
              <a:srgbClr val="12163B"/>
            </a:solidFill>
            <a:prstDash val="solid"/>
          </a:ln>
        </p:spPr>
        <p:txBody>
          <a:bodyPr/>
          <a:lstStyle/>
          <a:p>
            <a:endParaRPr lang="en-US"/>
          </a:p>
        </p:txBody>
      </p:sp>
      <p:sp>
        <p:nvSpPr>
          <p:cNvPr id="26" name="Text 24"/>
          <p:cNvSpPr/>
          <p:nvPr/>
        </p:nvSpPr>
        <p:spPr>
          <a:xfrm>
            <a:off x="6446520" y="1645920"/>
            <a:ext cx="5303520" cy="365760"/>
          </a:xfrm>
          <a:prstGeom prst="rect">
            <a:avLst/>
          </a:prstGeom>
          <a:noFill/>
          <a:ln/>
        </p:spPr>
        <p:txBody>
          <a:bodyPr wrap="square" lIns="0" tIns="0" rIns="0" bIns="0" rtlCol="0" anchor="ctr"/>
          <a:lstStyle/>
          <a:p>
            <a:pPr marL="0" indent="0">
              <a:buNone/>
            </a:pPr>
            <a:r>
              <a:rPr lang="en-US" sz="1300" b="1" dirty="0">
                <a:solidFill>
                  <a:srgbClr val="CADCFC"/>
                </a:solidFill>
                <a:latin typeface="Cambria" pitchFamily="34" charset="0"/>
                <a:ea typeface="Cambria" pitchFamily="34" charset="-122"/>
                <a:cs typeface="Cambria" pitchFamily="34" charset="-120"/>
              </a:rPr>
              <a:t>Prompt template  (Claude Haiku 4.5)</a:t>
            </a:r>
            <a:endParaRPr lang="en-US" sz="1300" dirty="0"/>
          </a:p>
        </p:txBody>
      </p:sp>
      <p:sp>
        <p:nvSpPr>
          <p:cNvPr id="27" name="Text 25"/>
          <p:cNvSpPr/>
          <p:nvPr/>
        </p:nvSpPr>
        <p:spPr>
          <a:xfrm>
            <a:off x="6446520" y="2057400"/>
            <a:ext cx="5257800" cy="3840480"/>
          </a:xfrm>
          <a:prstGeom prst="rect">
            <a:avLst/>
          </a:prstGeom>
          <a:noFill/>
          <a:ln/>
        </p:spPr>
        <p:txBody>
          <a:bodyPr wrap="square" lIns="0" tIns="0" rIns="0" bIns="0" rtlCol="0" anchor="t"/>
          <a:lstStyle/>
          <a:p>
            <a:pPr marL="0" indent="0">
              <a:buNone/>
            </a:pPr>
            <a:r>
              <a:rPr lang="en-US" sz="900" b="1" kern="0" spc="300" dirty="0">
                <a:solidFill>
                  <a:srgbClr val="E9A63A"/>
                </a:solidFill>
                <a:latin typeface="Courier New" pitchFamily="34" charset="0"/>
                <a:ea typeface="Courier New" pitchFamily="34" charset="-122"/>
                <a:cs typeface="Courier New" pitchFamily="34" charset="-120"/>
              </a:rPr>
              <a:t>SYSTEM
</a:t>
            </a:r>
            <a:r>
              <a:rPr lang="en-US" sz="900" dirty="0">
                <a:solidFill>
                  <a:srgbClr val="CADCFC"/>
                </a:solidFill>
                <a:latin typeface="Courier New" pitchFamily="34" charset="0"/>
                <a:ea typeface="Courier New" pitchFamily="34" charset="-122"/>
                <a:cs typeface="Courier New" pitchFamily="34" charset="-120"/>
              </a:rPr>
              <a:t>You classify AT&amp;T AP invoices into one of
17 tax categories. Use retrieved similar
invoices as reference. Respond as JSON:
{category, confidence, reasoning}.
</a:t>
            </a:r>
            <a:r>
              <a:rPr lang="en-US" sz="900" b="1" kern="0" spc="300" dirty="0">
                <a:solidFill>
                  <a:srgbClr val="E9A63A"/>
                </a:solidFill>
                <a:latin typeface="Courier New" pitchFamily="34" charset="0"/>
                <a:ea typeface="Courier New" pitchFamily="34" charset="-122"/>
                <a:cs typeface="Courier New" pitchFamily="34" charset="-120"/>
              </a:rPr>
              <a:t>RETRIEVED EXAMPLES  (top-5 by GTE-Large)
</a:t>
            </a:r>
            <a:r>
              <a:rPr lang="en-US" sz="900" dirty="0">
                <a:solidFill>
                  <a:srgbClr val="CADCFC"/>
                </a:solidFill>
                <a:latin typeface="Courier New" pitchFamily="34" charset="0"/>
                <a:ea typeface="Courier New" pitchFamily="34" charset="-122"/>
                <a:cs typeface="Courier New" pitchFamily="34" charset="-120"/>
              </a:rPr>
              <a:t>1. desc="CISCO capital lease Q3"
   vendor=CISCO SYSTEMS CAPITAL
   extc=69C mic=CEQ → Capital Lease
2. desc="office rental Q3"
   vendor=CBRE INC
   extc=69A mic=COEOTHER → Operating Lease
...
</a:t>
            </a:r>
            <a:r>
              <a:rPr lang="en-US" sz="900" b="1" kern="0" spc="300" dirty="0">
                <a:solidFill>
                  <a:srgbClr val="E9A63A"/>
                </a:solidFill>
                <a:latin typeface="Courier New" pitchFamily="34" charset="0"/>
                <a:ea typeface="Courier New" pitchFamily="34" charset="-122"/>
                <a:cs typeface="Courier New" pitchFamily="34" charset="-120"/>
              </a:rPr>
              <a:t>QUERY INVOICE
</a:t>
            </a:r>
            <a:r>
              <a:rPr lang="en-US" sz="900" dirty="0">
                <a:solidFill>
                  <a:srgbClr val="CADCFC"/>
                </a:solidFill>
                <a:latin typeface="Courier New" pitchFamily="34" charset="0"/>
                <a:ea typeface="Courier New" pitchFamily="34" charset="-122"/>
                <a:cs typeface="Courier New" pitchFamily="34" charset="-120"/>
              </a:rPr>
              <a:t>desc="transceiver shipment Q4"</a:t>
            </a: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vendor=CISCO SYSTEMS INC</a:t>
            </a: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extc=45A mic=NEQ003 amount=12,450 USD</a:t>
            </a:r>
            <a:endParaRPr lang="en-US" sz="900" dirty="0"/>
          </a:p>
          <a:p>
            <a:pPr marL="0" indent="0">
              <a:buNone/>
            </a:pPr>
            <a:endParaRPr lang="en-US" sz="900" dirty="0"/>
          </a:p>
          <a:p>
            <a:pPr marL="0" indent="0">
              <a:buNone/>
            </a:pPr>
            <a:r>
              <a:rPr lang="en-US" sz="900" dirty="0">
                <a:solidFill>
                  <a:srgbClr val="CADCFC"/>
                </a:solidFill>
                <a:latin typeface="Courier New" pitchFamily="34" charset="0"/>
                <a:ea typeface="Courier New" pitchFamily="34" charset="-122"/>
                <a:cs typeface="Courier New" pitchFamily="34" charset="-120"/>
              </a:rPr>
              <a:t>Classify.</a:t>
            </a:r>
            <a:endParaRPr lang="en-US" sz="900" dirty="0"/>
          </a:p>
        </p:txBody>
      </p:sp>
      <p:sp>
        <p:nvSpPr>
          <p:cNvPr id="28" name="Text 26"/>
          <p:cNvSpPr/>
          <p:nvPr/>
        </p:nvSpPr>
        <p:spPr>
          <a:xfrm>
            <a:off x="457200" y="6080760"/>
            <a:ext cx="11247120" cy="27432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Real numbers depend on retrieval size and prompt design. These are typical for a 5-example RAG configuration with a compact system prompt.</a:t>
            </a:r>
            <a:endParaRPr lang="en-US" sz="1100" dirty="0"/>
          </a:p>
        </p:txBody>
      </p:sp>
      <p:sp>
        <p:nvSpPr>
          <p:cNvPr id="29" name="Text 27"/>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30" name="Text 28"/>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4864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Production Readiness</a:t>
            </a:r>
            <a:endParaRPr lang="en-US" sz="2800" dirty="0"/>
          </a:p>
        </p:txBody>
      </p:sp>
      <p:sp>
        <p:nvSpPr>
          <p:cNvPr id="3" name="Text 1"/>
          <p:cNvSpPr/>
          <p:nvPr/>
        </p:nvSpPr>
        <p:spPr>
          <a:xfrm>
            <a:off x="457200" y="868680"/>
            <a:ext cx="11247120" cy="320040"/>
          </a:xfrm>
          <a:prstGeom prst="rect">
            <a:avLst/>
          </a:prstGeom>
          <a:noFill/>
          <a:ln/>
        </p:spPr>
        <p:txBody>
          <a:bodyPr wrap="square" lIns="0" tIns="0" rIns="0" bIns="0" rtlCol="0" anchor="ctr"/>
          <a:lstStyle/>
          <a:p>
            <a:pPr marL="0" indent="0">
              <a:buNone/>
            </a:pPr>
            <a:r>
              <a:rPr lang="en-US" sz="1400" i="1" dirty="0">
                <a:solidFill>
                  <a:srgbClr val="5A6472"/>
                </a:solidFill>
                <a:latin typeface="Calibri" pitchFamily="34" charset="0"/>
                <a:ea typeface="Calibri" pitchFamily="34" charset="-122"/>
                <a:cs typeface="Calibri" pitchFamily="34" charset="-120"/>
              </a:rPr>
              <a:t>Fast enough for daily runs, well-suited to scheduling</a:t>
            </a:r>
            <a:endParaRPr lang="en-US" sz="1400" dirty="0"/>
          </a:p>
        </p:txBody>
      </p:sp>
      <p:graphicFrame>
        <p:nvGraphicFramePr>
          <p:cNvPr id="4" name="Chart 0"/>
          <p:cNvGraphicFramePr/>
          <p:nvPr/>
        </p:nvGraphicFramePr>
        <p:xfrm>
          <a:off x="457200" y="1417320"/>
          <a:ext cx="68580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80960" y="146304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6" name="Text 3"/>
          <p:cNvSpPr/>
          <p:nvPr/>
        </p:nvSpPr>
        <p:spPr>
          <a:xfrm>
            <a:off x="7818120" y="1783080"/>
            <a:ext cx="3840480" cy="595274"/>
          </a:xfrm>
          <a:prstGeom prst="rect">
            <a:avLst/>
          </a:prstGeom>
          <a:noFill/>
          <a:ln/>
        </p:spPr>
        <p:txBody>
          <a:bodyPr wrap="square" lIns="0" tIns="0" rIns="0" bIns="0" rtlCol="0" anchor="ctr"/>
          <a:lstStyle/>
          <a:p>
            <a:pPr marL="0" indent="0" algn="ctr">
              <a:buNone/>
            </a:pPr>
            <a:r>
              <a:rPr lang="en-US" sz="4800" b="1" dirty="0">
                <a:solidFill>
                  <a:srgbClr val="1E2761"/>
                </a:solidFill>
                <a:latin typeface="Cambria" pitchFamily="34" charset="0"/>
                <a:ea typeface="Cambria" pitchFamily="34" charset="-122"/>
                <a:cs typeface="Cambria" pitchFamily="34" charset="-120"/>
              </a:rPr>
              <a:t>~10 min</a:t>
            </a:r>
            <a:endParaRPr lang="en-US" sz="4800" dirty="0"/>
          </a:p>
        </p:txBody>
      </p:sp>
      <p:sp>
        <p:nvSpPr>
          <p:cNvPr id="7" name="Text 4"/>
          <p:cNvSpPr/>
          <p:nvPr/>
        </p:nvSpPr>
        <p:spPr>
          <a:xfrm>
            <a:off x="7818120" y="224256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Full-window rescore</a:t>
            </a:r>
            <a:endParaRPr lang="en-US" sz="1300" dirty="0"/>
          </a:p>
        </p:txBody>
      </p:sp>
      <p:sp>
        <p:nvSpPr>
          <p:cNvPr id="8" name="Text 5"/>
          <p:cNvSpPr/>
          <p:nvPr/>
        </p:nvSpPr>
        <p:spPr>
          <a:xfrm>
            <a:off x="7818120" y="252603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240K invoices end-to-end</a:t>
            </a:r>
            <a:endParaRPr lang="en-US" sz="1000" dirty="0"/>
          </a:p>
        </p:txBody>
      </p:sp>
      <p:sp>
        <p:nvSpPr>
          <p:cNvPr id="9" name="Shape 6"/>
          <p:cNvSpPr/>
          <p:nvPr/>
        </p:nvSpPr>
        <p:spPr>
          <a:xfrm>
            <a:off x="7680960" y="301752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0" name="Text 7"/>
          <p:cNvSpPr/>
          <p:nvPr/>
        </p:nvSpPr>
        <p:spPr>
          <a:xfrm>
            <a:off x="7818120" y="3337560"/>
            <a:ext cx="3840480" cy="595274"/>
          </a:xfrm>
          <a:prstGeom prst="rect">
            <a:avLst/>
          </a:prstGeom>
          <a:noFill/>
          <a:ln/>
        </p:spPr>
        <p:txBody>
          <a:bodyPr wrap="square" lIns="0" tIns="0" rIns="0" bIns="0" rtlCol="0" anchor="ctr"/>
          <a:lstStyle/>
          <a:p>
            <a:pPr marL="0" indent="0" algn="ctr">
              <a:buNone/>
            </a:pPr>
            <a:r>
              <a:rPr lang="en-US" sz="4800" b="1" dirty="0">
                <a:solidFill>
                  <a:srgbClr val="3D5A80"/>
                </a:solidFill>
                <a:latin typeface="Cambria" pitchFamily="34" charset="0"/>
                <a:ea typeface="Cambria" pitchFamily="34" charset="-122"/>
                <a:cs typeface="Cambria" pitchFamily="34" charset="-120"/>
              </a:rPr>
              <a:t>~400/sec</a:t>
            </a:r>
            <a:endParaRPr lang="en-US" sz="4800" dirty="0"/>
          </a:p>
        </p:txBody>
      </p:sp>
      <p:sp>
        <p:nvSpPr>
          <p:cNvPr id="11" name="Text 8"/>
          <p:cNvSpPr/>
          <p:nvPr/>
        </p:nvSpPr>
        <p:spPr>
          <a:xfrm>
            <a:off x="7818120" y="379704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Throughput</a:t>
            </a:r>
            <a:endParaRPr lang="en-US" sz="1300" dirty="0"/>
          </a:p>
        </p:txBody>
      </p:sp>
      <p:sp>
        <p:nvSpPr>
          <p:cNvPr id="12" name="Text 9"/>
          <p:cNvSpPr/>
          <p:nvPr/>
        </p:nvSpPr>
        <p:spPr>
          <a:xfrm>
            <a:off x="7818120" y="408051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records processed per second</a:t>
            </a:r>
            <a:endParaRPr lang="en-US" sz="1000" dirty="0"/>
          </a:p>
        </p:txBody>
      </p:sp>
      <p:sp>
        <p:nvSpPr>
          <p:cNvPr id="13" name="Shape 10"/>
          <p:cNvSpPr/>
          <p:nvPr/>
        </p:nvSpPr>
        <p:spPr>
          <a:xfrm>
            <a:off x="7680960" y="4572000"/>
            <a:ext cx="4114800" cy="1417320"/>
          </a:xfrm>
          <a:prstGeom prst="roundRect">
            <a:avLst>
              <a:gd name="adj" fmla="val 5161"/>
            </a:avLst>
          </a:prstGeom>
          <a:solidFill>
            <a:srgbClr val="FFFFFF"/>
          </a:solidFill>
          <a:ln w="6350">
            <a:solidFill>
              <a:srgbClr val="D6DDE8"/>
            </a:solidFill>
            <a:prstDash val="solid"/>
          </a:ln>
          <a:effectLst>
            <a:outerShdw blurRad="152400" dist="38100" dir="5400000" algn="bl" rotWithShape="0">
              <a:srgbClr val="888888">
                <a:alpha val="15000"/>
              </a:srgbClr>
            </a:outerShdw>
          </a:effectLst>
        </p:spPr>
        <p:txBody>
          <a:bodyPr/>
          <a:lstStyle/>
          <a:p>
            <a:endParaRPr lang="en-US"/>
          </a:p>
        </p:txBody>
      </p:sp>
      <p:sp>
        <p:nvSpPr>
          <p:cNvPr id="14" name="Text 11"/>
          <p:cNvSpPr/>
          <p:nvPr/>
        </p:nvSpPr>
        <p:spPr>
          <a:xfrm>
            <a:off x="7818120" y="4892040"/>
            <a:ext cx="3840480" cy="595274"/>
          </a:xfrm>
          <a:prstGeom prst="rect">
            <a:avLst/>
          </a:prstGeom>
          <a:noFill/>
          <a:ln/>
        </p:spPr>
        <p:txBody>
          <a:bodyPr wrap="square" lIns="0" tIns="0" rIns="0" bIns="0" rtlCol="0" anchor="ctr"/>
          <a:lstStyle/>
          <a:p>
            <a:pPr marL="0" indent="0" algn="ctr">
              <a:buNone/>
            </a:pPr>
            <a:r>
              <a:rPr lang="en-US" sz="4800" b="1" dirty="0">
                <a:solidFill>
                  <a:srgbClr val="2A9D8F"/>
                </a:solidFill>
                <a:latin typeface="Cambria" pitchFamily="34" charset="0"/>
                <a:ea typeface="Cambria" pitchFamily="34" charset="-122"/>
                <a:cs typeface="Cambria" pitchFamily="34" charset="-120"/>
              </a:rPr>
              <a:t>&lt; 45 min</a:t>
            </a:r>
            <a:endParaRPr lang="en-US" sz="4800" dirty="0"/>
          </a:p>
        </p:txBody>
      </p:sp>
      <p:sp>
        <p:nvSpPr>
          <p:cNvPr id="15" name="Text 12"/>
          <p:cNvSpPr/>
          <p:nvPr/>
        </p:nvSpPr>
        <p:spPr>
          <a:xfrm>
            <a:off x="7818120" y="5351526"/>
            <a:ext cx="3840480" cy="320040"/>
          </a:xfrm>
          <a:prstGeom prst="rect">
            <a:avLst/>
          </a:prstGeom>
          <a:noFill/>
          <a:ln/>
        </p:spPr>
        <p:txBody>
          <a:bodyPr wrap="square" lIns="0" tIns="0" rIns="0" bIns="0"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For 1M</a:t>
            </a:r>
            <a:endParaRPr lang="en-US" sz="1300" dirty="0"/>
          </a:p>
        </p:txBody>
      </p:sp>
      <p:sp>
        <p:nvSpPr>
          <p:cNvPr id="16" name="Text 13"/>
          <p:cNvSpPr/>
          <p:nvPr/>
        </p:nvSpPr>
        <p:spPr>
          <a:xfrm>
            <a:off x="7818120" y="5634990"/>
            <a:ext cx="3840480" cy="320040"/>
          </a:xfrm>
          <a:prstGeom prst="rect">
            <a:avLst/>
          </a:prstGeom>
          <a:noFill/>
          <a:ln/>
        </p:spPr>
        <p:txBody>
          <a:bodyPr wrap="square" lIns="0" tIns="0" rIns="0" bIns="0" rtlCol="0" anchor="ctr"/>
          <a:lstStyle/>
          <a:p>
            <a:pPr marL="0" indent="0" algn="ctr">
              <a:buNone/>
            </a:pPr>
            <a:r>
              <a:rPr lang="en-US" sz="1000" i="1" dirty="0">
                <a:solidFill>
                  <a:srgbClr val="5A6472"/>
                </a:solidFill>
                <a:latin typeface="Calibri" pitchFamily="34" charset="0"/>
                <a:ea typeface="Calibri" pitchFamily="34" charset="-122"/>
                <a:cs typeface="Calibri" pitchFamily="34" charset="-120"/>
              </a:rPr>
              <a:t>extrapolated on same hardware</a:t>
            </a:r>
            <a:endParaRPr lang="en-US" sz="1000" dirty="0"/>
          </a:p>
        </p:txBody>
      </p:sp>
      <p:sp>
        <p:nvSpPr>
          <p:cNvPr id="17" name="Text 14"/>
          <p:cNvSpPr/>
          <p:nvPr/>
        </p:nvSpPr>
        <p:spPr>
          <a:xfrm>
            <a:off x="457200" y="6035040"/>
            <a:ext cx="11247120" cy="320040"/>
          </a:xfrm>
          <a:prstGeom prst="rect">
            <a:avLst/>
          </a:prstGeom>
          <a:noFill/>
          <a:ln/>
        </p:spPr>
        <p:txBody>
          <a:bodyPr wrap="square" lIns="0" tIns="0" rIns="0" bIns="0" rtlCol="0" anchor="ctr"/>
          <a:lstStyle/>
          <a:p>
            <a:pPr marL="0" indent="0" algn="ctr">
              <a:buNone/>
            </a:pPr>
            <a:r>
              <a:rPr lang="en-US" sz="1100" i="1" dirty="0">
                <a:solidFill>
                  <a:srgbClr val="5A6472"/>
                </a:solidFill>
                <a:latin typeface="Calibri" pitchFamily="34" charset="0"/>
                <a:ea typeface="Calibri" pitchFamily="34" charset="-122"/>
                <a:cs typeface="Calibri" pitchFamily="34" charset="-120"/>
              </a:rPr>
              <a:t>Training dominates runtime and only reruns monthly. Daily inference is bottlenecked by LLM latency, not compute — batch the API calls asynchronously to stay under SLA.</a:t>
            </a:r>
            <a:endParaRPr lang="en-US" sz="1100" dirty="0"/>
          </a:p>
        </p:txBody>
      </p:sp>
      <p:sp>
        <p:nvSpPr>
          <p:cNvPr id="18" name="Text 15"/>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5A6472"/>
                </a:solidFill>
                <a:latin typeface="Calibri" pitchFamily="34" charset="0"/>
                <a:ea typeface="Calibri" pitchFamily="34" charset="-122"/>
                <a:cs typeface="Calibri" pitchFamily="34" charset="-120"/>
              </a:rPr>
              <a:t>ATIMS · AP Tax Classification · Pipeline Evaluation</a:t>
            </a:r>
            <a:endParaRPr lang="en-US" sz="900" dirty="0"/>
          </a:p>
        </p:txBody>
      </p:sp>
      <p:sp>
        <p:nvSpPr>
          <p:cNvPr id="19" name="Text 16"/>
          <p:cNvSpPr/>
          <p:nvPr/>
        </p:nvSpPr>
        <p:spPr>
          <a:xfrm>
            <a:off x="11338560" y="6537960"/>
            <a:ext cx="457200" cy="228600"/>
          </a:xfrm>
          <a:prstGeom prst="rect">
            <a:avLst/>
          </a:prstGeom>
          <a:noFill/>
          <a:ln/>
        </p:spPr>
        <p:txBody>
          <a:bodyPr wrap="square" lIns="0" tIns="0" rIns="0" bIns="0" rtlCol="0" anchor="ctr"/>
          <a:lstStyle/>
          <a:p>
            <a:pPr marL="0" indent="0" algn="r">
              <a:buNone/>
            </a:pPr>
            <a:r>
              <a:rPr lang="en-US" sz="900" dirty="0">
                <a:solidFill>
                  <a:srgbClr val="5A6472"/>
                </a:solidFill>
                <a:latin typeface="Calibri" pitchFamily="34" charset="0"/>
                <a:ea typeface="Calibri" pitchFamily="34" charset="-122"/>
                <a:cs typeface="Calibri"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2892</Words>
  <Application>Microsoft Office PowerPoint</Application>
  <PresentationFormat>Widescreen</PresentationFormat>
  <Paragraphs>245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AT and 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ATIMS AP Tax Pipeline Evaluation</dc:title>
  <dc:subject>PptxGenJS Presentation</dc:subject>
  <dc:creator>Shashank Vadyala</dc:creator>
  <cp:lastModifiedBy>REDDY VADYALA, SHASHANK</cp:lastModifiedBy>
  <cp:revision>2</cp:revision>
  <dcterms:created xsi:type="dcterms:W3CDTF">2026-07-27T17:20:33Z</dcterms:created>
  <dcterms:modified xsi:type="dcterms:W3CDTF">2026-07-27T17:33:05Z</dcterms:modified>
</cp:coreProperties>
</file>